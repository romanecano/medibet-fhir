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RÉMI — Bonjour à tous. Nous sommes l'équipe Patient du projet MediBet. Je m'appelle Rémi Delarue, je suis Scrum Master. Neirouz Attia est Product Owner, Romane Cano est développeuse. Nous allons vous présenter notre application, la façon dont nous l'avons construite, et surtout la manière dont elle échange des données avec l'application de l'équipe Médecin, à travers FHIR.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RÉMI — Le sujet demandait quatre choses : une équipe agile, un rôle entre Patient et Médecin, une application autour de FHIR, et une démonstration avec l'équipe binôme. Nous suivrons exactement le plan de restitution demandé.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RÉMI — Neirouz est PO : elle porte la valeur produit, rédige et priorise le backlog, valide ce qui est livré. Je suis Scrum Master : cérémonies, board à jour, blocages, burndown. Romane est développeuse : les deux applications, les appels FHIR, le déploiement, la documentation. Côté outils : deux boards Trello avec Corrello, le Drive, GitHub. Claude a servi de copilote ; les décisions produit sont restées les nôtres.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RÉMI — Scrum sur un sprint unique de trois jours. Un Sprint Planning lundi, six Daily de moins de quinze minutes, une session de Planning Poker, et ce matin la Review et la rétrospective. Précision : au Planning Poker, l'estimation est un vote de l'équipe de dev ; le PO clarifie le besoin, il ne tranche pas les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NEIROUZ — Le Product Backlog contient tout ce que MediBet pourrait devenir : je l'ai rédigé et priorisé par la valeur pour le patient. Le Sprint Backlog, lui, ne contient que ce que l'équipe s'engage à livrer cette semaine. Au Sprint Planning nous avions dix-huit cartes ; deux ont été retirées en cours de sprint parce qu'elles faisaient doublon, il en reste seize actives pour cinquante-deux points. Sur ces seize cartes, sept seulement sont de vraies user stories, pour vingt-six points : annoncer cinquante-deux points de valeur produit serait faux. Le reste, ce sont une story technique, deux spikes d'analyse et six tâches d'organisation — nécessaires, mais elles ne se voient pas par le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RÉMI — Voici les seize cartes engagées, colonne par colonne, telles qu'elles sont ce matin : zéro à faire, deux en cours, quatorze terminées. La colonne « à faire » est vide parce que tout ce qui restait a été tiré ; les deux cartes en cours sont US-P4, la lecture FHIR du diagnostic, dont la checklist Definition of Done est à dix sur dix — il ne lui manque que le test croisé que vous allez voir en démonstration — et SPIKE-P16, la validation du cycle Patient via Postman. Le board a été tenu au fil de l'eau, à chaque Daily : il n'a pas été reconstitué la veille.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NEIROUZ — Deux notions différentes, souvent confondues. Les critères d'acceptation sont propres à une story et c'est moi qui les rédige : Given une Observation publiée par le médecin, When MediBet interroge le serveur, Then le diagnostic s'affiche et le pari est résolu. Ils répondent à la question « qu'est-ce que cette story doit faire ? ». La Definition of Done, elle, est la même pour toutes les cartes et c'est l'équipe entière qui s'y engage : sept critères, dont aucun appel FHIR en erreur pendant le scénario, relecture de code, et test croisé Patient-Médecin dès qu'une story touche à l'interopérabilité. Ces sept critères sont dupliqués en checklist sur chaque carte : c'est ce qui me permet, en tant que PO, de valider ou de refuser une carte sans discuter.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RÉMI — Voici notre burndown, en points restants, relevé à chaque Daily. Le pointillé doré est la trajectoire idéale, de cinquante-deux à zéro ; la ligne pleine est le réel. Nous avons pris huit points de retard dès le premier après-midi, consacré au cadrage, et nous les avons gardés jusqu'au bout : la courbe est parallèle à l'idéale, ce qui veut dire que le rythme était bon, mais que nous nous étions engagés sur un peu trop. Ce matin il reste huit points, exactement les deux cartes en cours. Elles ne disparaissent pas : elles repartent au Product Backlog. Notre vélocité est donc de quarante-quatre points sur cinquante-deux engagés, soit quatre-vingt-cinq pour cent de prédictabilité. Une précision importante : Corrello compte des cartes, pas des points — sa vélocité affiche quatorze. Les deux chiffres sont justes, ils ne mesurent simplement pas la même chose. Je passe la parole à Neirouz.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NEIROUZ — Le patient décrit ses symptômes ; l'application croise avec soixante-trois pathologies et propose les cinq diagnostics les plus probables avec une cote. Le médecin, sur une application séparée, pose le vrai diagnostic dans une ressource FHIR. MediBet le relit et résout le pari. Deux garde-fous : l'application ne diagnostique pas, et les CoinPot n'ont aucune valeur réelle.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NEIROUZ — Le Patient déclenche trois des quatre cas d'usage. Le Proche n'entre que par UC2, sans identité FHIR : c'est un invité, pas un dossier médical. Le Médecin est dessiné à l'extérieur de la frontière : il agit depuis sa propre application. UC3 est le seul cas d'usage qui traverse cette frontière.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NEIROUZ — UC1 : consulter son dossier et miser, avec création d'une vraie ressource Patient. UC2 : un proche rejoint le pari avec un code, sans ressource FHIR. UC3, notre cas vitrine : le pari se résout par une vraie lecture FHIR, deux applications, deux postes. UC4 : le patient demande son rendez-vous de suivi.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NEIROUZ — À gauche ce qui nous appartient : les symptômes, la mise, le proche. Au centre ce qui ne nous appartient pas : le diagnostic officiel, l'acte du médecin sur son application — nous ne savons pas quand il arrive. À droite le retour : nous interrogeons le serveur pour découvrir si une Observation existe. Romane va vous montrer comment c'est implémenté.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ROMANE — Deux dépôts, deux déploiements, deux postes, aucun canal direct : si le serveur FHIR tombe, plus rien ne circule. C'est notre principale correction du sprint : au départ les deux rôles vivaient dans le même fichier, l'application marchait mais ne démontrait rien. Le test de bout en bout est passé.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ROMANE — Étape 1 : nous créons une ressource Patient avec un POST puis la relisons avec un GET à chaque mise ; l'application Médecin lit le Practitioner. Étape 2 : le médecin publie une Observation, et nous la relisons avec un GET filtré par patient — c'est cette lecture qui résout le pari. Étape 3 : nous créons un Appointment. L'état du jeu, lui, passe par la ressource générique Basic.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ROMANE — status vaut final : le constat est définitif, c'est ce qui autorise à trancher un pari dessus. subject.reference est l'attribut pivot : c'est par lui que nous retrouvons le diagnostic. code porte le diagnostic codé, avec le system qui dit dans quelle nomenclature le lire — le nôtre est maison, assumé. effectiveDateTime date le constat. performer référence le Practitioner : la traçabilité de l'acte.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ROMANE — À gauche notre application, à droite celle du binôme, et les deux consoles FHIR ouvertes. Je décris mes symptômes : création d'un vrai Patient. Je mise. Le dossier apparaît chez le médecin, arrivé par le serveur. Il pose le diagnostic : POST Observation. Je relis : GET Observation filtré, le pari se résout. Et je récupère mon rendez-vous : POST Appointment. La boucle est bouclée uniquement à travers le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RÉMI — Je referme sur la rétrospective, que j'anime en tant que Scrum Master. Ce qui a bien marché : les appels FHIR ont fonctionné dès les premiers essais, et le copilote nous a fait gagner du temps. Ce qui a été difficile : plusieurs bugs ne sont apparus qu'en test croisé avec l'équipe Médecin, c'est-à-dire tard ; et séparer les deux applications en cours de sprint nous a coûté une demi-journée. Ce que nous ferions autrement : séparer les deux applications dès le premier jour, et écrire les critères d'acceptation au Sprint Planning plutôt qu'après coup. Et si nous avions un sprint de plus, trois améliorations dans cet ordre : coder les diagnostics en SNOMED CT ou en CIM-10, pour être compris par un autre système que le nôtre ; authentifier les échanges avec SMART on FHIR ; et remplacer notre interrogation du serveur toutes les sept secondes par une Subscription FHIR.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 Merci de votre attention. Le code, l'application et le dossier technique FHIR sont accessibles aux adresses affichées. Nous sommes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1500" y="1866900"/>
            <a:ext cx="11049000" cy="1143000"/>
          </a:xfrm>
          <a:prstGeom prst="rect">
            <a:avLst/>
          </a:prstGeom>
          <a:noFill/>
          <a:ln/>
          <a:effectLst>
            <a:outerShdw sx="100000" sy="100000" kx="0" ky="0" algn="bl" rotWithShape="0" blurRad="101600" dist="66675" dir="2700000">
              <a:srgbClr val="A02C1E">
                <a:alpha val="100000"/>
              </a:srgbClr>
            </a:outerShdw>
          </a:effectLst>
        </p:spPr>
        <p:txBody>
          <a:bodyPr wrap="square" lIns="0" tIns="0" rIns="0" bIns="0" rtlCol="0" anchor="ctr"/>
          <a:lstStyle/>
          <a:p>
            <a:pPr algn="ctr" indent="0" marL="0">
              <a:buNone/>
            </a:pPr>
            <a:r>
              <a:rPr lang="en-US" sz="8400" dirty="0">
                <a:solidFill>
                  <a:srgbClr val="F3E4B0"/>
                </a:solidFill>
                <a:latin typeface="Impact" pitchFamily="34" charset="0"/>
                <a:ea typeface="Impact" pitchFamily="34" charset="-122"/>
                <a:cs typeface="Impact" pitchFamily="34" charset="-120"/>
              </a:rPr>
              <a:t>MEDIBET</a:t>
            </a:r>
            <a:endParaRPr lang="en-US" sz="8400" dirty="0"/>
          </a:p>
        </p:txBody>
      </p:sp>
      <p:sp>
        <p:nvSpPr>
          <p:cNvPr id="3" name="Text 1"/>
          <p:cNvSpPr txBox="1"/>
          <p:nvPr/>
        </p:nvSpPr>
        <p:spPr>
          <a:xfrm>
            <a:off x="571500" y="3067050"/>
            <a:ext cx="11049000" cy="457200"/>
          </a:xfrm>
          <a:prstGeom prst="rect">
            <a:avLst/>
          </a:prstGeom>
          <a:noFill/>
          <a:ln/>
        </p:spPr>
        <p:txBody>
          <a:bodyPr wrap="square" lIns="0" tIns="0" rIns="0" bIns="0" rtlCol="0" anchor="ctr"/>
          <a:lstStyle/>
          <a:p>
            <a:pPr algn="ctr" indent="0" marL="0">
              <a:buNone/>
            </a:pPr>
            <a:r>
              <a:rPr lang="en-US" sz="2600" spc="200" kern="0" dirty="0">
                <a:solidFill>
                  <a:srgbClr val="D9A521"/>
                </a:solidFill>
                <a:latin typeface="Impact" pitchFamily="34" charset="0"/>
                <a:ea typeface="Impact" pitchFamily="34" charset="-122"/>
                <a:cs typeface="Impact" pitchFamily="34" charset="-120"/>
              </a:rPr>
              <a:t>ÉQUIPE PATIENT</a:t>
            </a:r>
            <a:endParaRPr lang="en-US" sz="2600" dirty="0"/>
          </a:p>
        </p:txBody>
      </p:sp>
      <p:sp>
        <p:nvSpPr>
          <p:cNvPr id="4" name="Shape 2"/>
          <p:cNvSpPr/>
          <p:nvPr/>
        </p:nvSpPr>
        <p:spPr>
          <a:xfrm>
            <a:off x="5334000" y="3771900"/>
            <a:ext cx="1524000" cy="0"/>
          </a:xfrm>
          <a:prstGeom prst="line">
            <a:avLst/>
          </a:prstGeom>
          <a:noFill/>
          <a:ln w="9525">
            <a:solidFill>
              <a:srgbClr val="F3E4B0">
                <a:alpha val="50000"/>
              </a:srgbClr>
            </a:solidFill>
            <a:prstDash val="solid"/>
          </a:ln>
        </p:spPr>
      </p:sp>
      <p:sp>
        <p:nvSpPr>
          <p:cNvPr id="5" name="Text 3"/>
          <p:cNvSpPr txBox="1"/>
          <p:nvPr/>
        </p:nvSpPr>
        <p:spPr>
          <a:xfrm>
            <a:off x="571500" y="4000500"/>
            <a:ext cx="11049000" cy="228600"/>
          </a:xfrm>
          <a:prstGeom prst="rect">
            <a:avLst/>
          </a:prstGeom>
          <a:noFill/>
          <a:ln/>
        </p:spPr>
        <p:txBody>
          <a:bodyPr wrap="square" lIns="0" tIns="0" rIns="0" bIns="0" rtlCol="0" anchor="ctr"/>
          <a:lstStyle/>
          <a:p>
            <a:pPr algn="ctr" indent="0" marL="0">
              <a:buNone/>
            </a:pPr>
            <a:r>
              <a:rPr lang="en-US" sz="950" dirty="0">
                <a:solidFill>
                  <a:srgbClr val="CFDFD2"/>
                </a:solidFill>
                <a:latin typeface="Consolas" pitchFamily="34" charset="0"/>
                <a:ea typeface="Consolas" pitchFamily="34" charset="-122"/>
                <a:cs typeface="Consolas" pitchFamily="34" charset="-120"/>
              </a:rPr>
              <a:t>NEIROUZ ATTIA · PRODUCT OWNER          RÉMI DELARUE · SCRUM MASTER          ROMANE CANO · DÉVELOPPEUSE</a:t>
            </a:r>
            <a:endParaRPr lang="en-US" sz="950" dirty="0"/>
          </a:p>
        </p:txBody>
      </p:sp>
      <p:sp>
        <p:nvSpPr>
          <p:cNvPr id="6" name="Text 4"/>
          <p:cNvSpPr txBox="1"/>
          <p:nvPr/>
        </p:nvSpPr>
        <p:spPr>
          <a:xfrm>
            <a:off x="571500" y="4381500"/>
            <a:ext cx="11049000" cy="228600"/>
          </a:xfrm>
          <a:prstGeom prst="rect">
            <a:avLst/>
          </a:prstGeom>
          <a:noFill/>
          <a:ln/>
        </p:spPr>
        <p:txBody>
          <a:bodyPr wrap="square" lIns="0" tIns="0" rIns="0" bIns="0" rtlCol="0" anchor="ctr"/>
          <a:lstStyle/>
          <a:p>
            <a:pPr algn="ctr" indent="0" marL="0">
              <a:buNone/>
            </a:pPr>
            <a:r>
              <a:rPr lang="en-US" sz="1050" dirty="0">
                <a:solidFill>
                  <a:srgbClr val="8FAE95"/>
                </a:solidFill>
                <a:latin typeface="Arial" pitchFamily="34" charset="0"/>
                <a:ea typeface="Arial" pitchFamily="34" charset="-122"/>
                <a:cs typeface="Arial" pitchFamily="34" charset="-120"/>
              </a:rPr>
              <a:t>Maîtrise des technologies de l'interopérabilité — session 2026</a:t>
            </a:r>
            <a:endParaRPr lang="en-US" sz="1050" dirty="0"/>
          </a:p>
        </p:txBody>
      </p:sp>
      <p:sp>
        <p:nvSpPr>
          <p:cNvPr id="7" name="Text 5"/>
          <p:cNvSpPr txBox="1"/>
          <p:nvPr/>
        </p:nvSpPr>
        <p:spPr>
          <a:xfrm>
            <a:off x="209550" y="6610350"/>
            <a:ext cx="6667500" cy="190500"/>
          </a:xfrm>
          <a:prstGeom prst="rect">
            <a:avLst/>
          </a:prstGeom>
          <a:noFill/>
          <a:ln/>
        </p:spPr>
        <p:txBody>
          <a:bodyPr wrap="square" lIns="0" tIns="0" rIns="0" bIns="0" rtlCol="0" anchor="ctr"/>
          <a:lstStyle/>
          <a:p>
            <a:pP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8" name="Text 6"/>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≈20 s · 0:20</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09550" y="6610350"/>
            <a:ext cx="3429000" cy="190500"/>
          </a:xfrm>
          <a:prstGeom prst="rect">
            <a:avLst/>
          </a:prstGeom>
          <a:noFill/>
          <a:ln/>
        </p:spPr>
        <p:txBody>
          <a:bodyPr wrap="square" lIns="0" tIns="0" rIns="0" bIns="0" rtlCol="0" anchor="ctr"/>
          <a:lstStyle/>
          <a:p>
            <a:pPr indent="0" marL="0">
              <a:buNone/>
            </a:pPr>
            <a:r>
              <a:rPr lang="en-US" sz="750" spc="140" kern="0" dirty="0">
                <a:solidFill>
                  <a:srgbClr val="D9A521"/>
                </a:solidFill>
                <a:latin typeface="Consolas" pitchFamily="34" charset="0"/>
                <a:ea typeface="Consolas" pitchFamily="34" charset="-122"/>
                <a:cs typeface="Consolas" pitchFamily="34" charset="-120"/>
              </a:rPr>
              <a:t>RÉMI · SCRUM MASTER</a:t>
            </a:r>
            <a:endParaRPr lang="en-US" sz="750" dirty="0"/>
          </a:p>
        </p:txBody>
      </p:sp>
      <p:sp>
        <p:nvSpPr>
          <p:cNvPr id="3" name="Text 1"/>
          <p:cNvSpPr txBox="1"/>
          <p:nvPr/>
        </p:nvSpPr>
        <p:spPr>
          <a:xfrm>
            <a:off x="4000500" y="6610350"/>
            <a:ext cx="4191000" cy="190500"/>
          </a:xfrm>
          <a:prstGeom prst="rect">
            <a:avLst/>
          </a:prstGeom>
          <a:noFill/>
          <a:ln/>
        </p:spPr>
        <p:txBody>
          <a:bodyPr wrap="square" lIns="0" tIns="0" rIns="0" bIns="0" rtlCol="0" anchor="ctr"/>
          <a:lstStyle/>
          <a:p>
            <a:pPr algn="ct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4" name="Text 2"/>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≈30 s · 0:50</a:t>
            </a:r>
            <a:endParaRPr lang="en-US" sz="750" dirty="0"/>
          </a:p>
        </p:txBody>
      </p:sp>
      <p:sp>
        <p:nvSpPr>
          <p:cNvPr id="5" name="Text 3"/>
          <p:cNvSpPr txBox="1"/>
          <p:nvPr/>
        </p:nvSpPr>
        <p:spPr>
          <a:xfrm>
            <a:off x="571500" y="323850"/>
            <a:ext cx="11049000" cy="190500"/>
          </a:xfrm>
          <a:prstGeom prst="rect">
            <a:avLst/>
          </a:prstGeom>
          <a:noFill/>
          <a:ln/>
        </p:spPr>
        <p:txBody>
          <a:bodyPr wrap="square" lIns="0" tIns="0" rIns="0" bIns="0" rtlCol="0" anchor="ctr"/>
          <a:lstStyle/>
          <a:p>
            <a:pPr algn="ctr" indent="0" marL="0">
              <a:buNone/>
            </a:pPr>
            <a:r>
              <a:rPr lang="en-US" sz="850" b="1" spc="400" kern="0" dirty="0">
                <a:solidFill>
                  <a:srgbClr val="D9A521"/>
                </a:solidFill>
                <a:latin typeface="Consolas" pitchFamily="34" charset="0"/>
                <a:ea typeface="Consolas" pitchFamily="34" charset="-122"/>
                <a:cs typeface="Consolas" pitchFamily="34" charset="-120"/>
              </a:rPr>
              <a:t>00 · CADRAGE</a:t>
            </a:r>
            <a:endParaRPr lang="en-US" sz="850" dirty="0"/>
          </a:p>
        </p:txBody>
      </p:sp>
      <p:sp>
        <p:nvSpPr>
          <p:cNvPr id="6" name="Text 4"/>
          <p:cNvSpPr txBox="1"/>
          <p:nvPr/>
        </p:nvSpPr>
        <p:spPr>
          <a:xfrm>
            <a:off x="571500" y="514350"/>
            <a:ext cx="11049000" cy="609600"/>
          </a:xfrm>
          <a:prstGeom prst="rect">
            <a:avLst/>
          </a:prstGeom>
          <a:noFill/>
          <a:ln/>
          <a:effectLst>
            <a:outerShdw sx="100000" sy="100000" kx="0" ky="0" algn="bl" rotWithShape="0" blurRad="101600" dist="38100" dir="2700000">
              <a:srgbClr val="A02C1E">
                <a:alpha val="100000"/>
              </a:srgbClr>
            </a:outerShdw>
          </a:effectLst>
        </p:spPr>
        <p:txBody>
          <a:bodyPr wrap="square" lIns="0" tIns="0" rIns="0" bIns="0" rtlCol="0" anchor="ctr"/>
          <a:lstStyle/>
          <a:p>
            <a:pPr algn="ctr" indent="0" marL="0">
              <a:buNone/>
            </a:pPr>
            <a:r>
              <a:rPr lang="en-US" sz="3400" dirty="0">
                <a:solidFill>
                  <a:srgbClr val="F3E4B0"/>
                </a:solidFill>
                <a:latin typeface="Impact" pitchFamily="34" charset="0"/>
                <a:ea typeface="Impact" pitchFamily="34" charset="-122"/>
                <a:cs typeface="Impact" pitchFamily="34" charset="-120"/>
              </a:rPr>
              <a:t>LE TP ET NOTRE PLAN</a:t>
            </a:r>
            <a:endParaRPr lang="en-US" sz="3400" dirty="0"/>
          </a:p>
        </p:txBody>
      </p:sp>
      <p:sp>
        <p:nvSpPr>
          <p:cNvPr id="7" name="Text 5"/>
          <p:cNvSpPr txBox="1"/>
          <p:nvPr/>
        </p:nvSpPr>
        <p:spPr>
          <a:xfrm>
            <a:off x="2000250" y="1143000"/>
            <a:ext cx="8191500" cy="438150"/>
          </a:xfrm>
          <a:prstGeom prst="rect">
            <a:avLst/>
          </a:prstGeom>
          <a:noFill/>
          <a:ln/>
        </p:spPr>
        <p:txBody>
          <a:bodyPr wrap="square" lIns="0" tIns="0" rIns="0" bIns="0" rtlCol="0" anchor="t"/>
          <a:lstStyle/>
          <a:p>
            <a:pPr algn="ctr" indent="0" marL="0">
              <a:buNone/>
            </a:pPr>
            <a:r>
              <a:rPr lang="en-US" sz="1350" dirty="0">
                <a:solidFill>
                  <a:srgbClr val="E6DCBE"/>
                </a:solidFill>
                <a:latin typeface="Arial" pitchFamily="34" charset="0"/>
                <a:ea typeface="Arial" pitchFamily="34" charset="-122"/>
                <a:cs typeface="Arial" pitchFamily="34" charset="-120"/>
              </a:rPr>
              <a:t>Ce qui était demandé, et l'ordre dans lequel nous allons y répondre.</a:t>
            </a:r>
            <a:endParaRPr lang="en-US" sz="1350" dirty="0"/>
          </a:p>
        </p:txBody>
      </p:sp>
      <p:sp>
        <p:nvSpPr>
          <p:cNvPr id="9" name="Shape 6"/>
          <p:cNvSpPr/>
          <p:nvPr/>
        </p:nvSpPr>
        <p:spPr>
          <a:xfrm>
            <a:off x="571500" y="1905000"/>
            <a:ext cx="5372100" cy="2857500"/>
          </a:xfrm>
          <a:prstGeom prst="rect">
            <a:avLst/>
          </a:prstGeom>
          <a:solidFill>
            <a:srgbClr val="0B2C22"/>
          </a:solidFill>
          <a:ln w="9525">
            <a:solidFill>
              <a:srgbClr val="D9A521">
                <a:alpha val="40000"/>
              </a:srgbClr>
            </a:solidFill>
            <a:prstDash val="solid"/>
          </a:ln>
        </p:spPr>
      </p:sp>
      <p:sp>
        <p:nvSpPr>
          <p:cNvPr id="10" name="Text 7"/>
          <p:cNvSpPr txBox="1"/>
          <p:nvPr/>
        </p:nvSpPr>
        <p:spPr>
          <a:xfrm>
            <a:off x="762000" y="2038350"/>
            <a:ext cx="4991100" cy="171450"/>
          </a:xfrm>
          <a:prstGeom prst="rect">
            <a:avLst/>
          </a:prstGeom>
          <a:noFill/>
          <a:ln/>
        </p:spPr>
        <p:txBody>
          <a:bodyPr wrap="square" lIns="0" tIns="0" rIns="0" bIns="0" rtlCol="0" anchor="ctr"/>
          <a:lstStyle/>
          <a:p>
            <a:pPr indent="0" marL="0">
              <a:buNone/>
            </a:pPr>
            <a:r>
              <a:rPr lang="en-US" sz="850" b="1" spc="160" kern="0" dirty="0">
                <a:solidFill>
                  <a:srgbClr val="D9A521"/>
                </a:solidFill>
                <a:latin typeface="Consolas" pitchFamily="34" charset="0"/>
                <a:ea typeface="Consolas" pitchFamily="34" charset="-122"/>
                <a:cs typeface="Consolas" pitchFamily="34" charset="-120"/>
              </a:rPr>
              <a:t>LA CONSIGNE</a:t>
            </a:r>
            <a:endParaRPr lang="en-US" sz="850" dirty="0"/>
          </a:p>
        </p:txBody>
      </p:sp>
      <p:sp>
        <p:nvSpPr>
          <p:cNvPr id="11" name="Text 8"/>
          <p:cNvSpPr txBox="1"/>
          <p:nvPr/>
        </p:nvSpPr>
        <p:spPr>
          <a:xfrm>
            <a:off x="762000" y="2286000"/>
            <a:ext cx="4991100" cy="234315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100" dirty="0">
                <a:solidFill>
                  <a:srgbClr val="CFDFD2"/>
                </a:solidFill>
                <a:latin typeface="Arial" pitchFamily="34" charset="0"/>
                <a:ea typeface="Arial" pitchFamily="34" charset="-122"/>
                <a:cs typeface="Arial" pitchFamily="34" charset="-120"/>
              </a:rPr>
              <a:t>Créer une application interopérable en équipe agile de 2 à 3 personnes.</a:t>
            </a:r>
            <a:endParaRPr lang="en-US" sz="1100" dirty="0"/>
          </a:p>
          <a:p>
            <a:pPr marL="342900" indent="-342900">
              <a:lnSpc>
                <a:spcPct val="115000"/>
              </a:lnSpc>
              <a:spcAft>
                <a:spcPts val="600"/>
              </a:spcAft>
              <a:buSzPct val="100000"/>
              <a:buChar char="•"/>
            </a:pPr>
            <a:r>
              <a:rPr lang="en-US" sz="1100" dirty="0">
                <a:solidFill>
                  <a:srgbClr val="CFDFD2"/>
                </a:solidFill>
                <a:latin typeface="Arial" pitchFamily="34" charset="0"/>
                <a:ea typeface="Arial" pitchFamily="34" charset="-122"/>
                <a:cs typeface="Arial" pitchFamily="34" charset="-120"/>
              </a:rPr>
              <a:t>Choisir un rôle : Patient ou Médecin. Nous sommes l'équipe Patient.</a:t>
            </a:r>
            <a:endParaRPr lang="en-US" sz="1100" dirty="0"/>
          </a:p>
          <a:p>
            <a:pPr marL="342900" indent="-342900">
              <a:lnSpc>
                <a:spcPct val="115000"/>
              </a:lnSpc>
              <a:spcAft>
                <a:spcPts val="600"/>
              </a:spcAft>
              <a:buSzPct val="100000"/>
              <a:buChar char="•"/>
            </a:pPr>
            <a:r>
              <a:rPr lang="en-US" sz="1100" dirty="0">
                <a:solidFill>
                  <a:srgbClr val="CFDFD2"/>
                </a:solidFill>
                <a:latin typeface="Arial" pitchFamily="34" charset="0"/>
                <a:ea typeface="Arial" pitchFamily="34" charset="-122"/>
                <a:cs typeface="Arial" pitchFamily="34" charset="-120"/>
              </a:rPr>
              <a:t>Construire l'application autour de la plateforme FHIR fournie.</a:t>
            </a:r>
            <a:endParaRPr lang="en-US" sz="1100" dirty="0"/>
          </a:p>
          <a:p>
            <a:pPr marL="342900" indent="-342900">
              <a:lnSpc>
                <a:spcPct val="115000"/>
              </a:lnSpc>
              <a:spcAft>
                <a:spcPts val="600"/>
              </a:spcAft>
              <a:buSzPct val="100000"/>
              <a:buChar char="•"/>
            </a:pPr>
            <a:r>
              <a:rPr lang="en-US" sz="1100" dirty="0">
                <a:solidFill>
                  <a:srgbClr val="CFDFD2"/>
                </a:solidFill>
                <a:latin typeface="Arial" pitchFamily="34" charset="0"/>
                <a:ea typeface="Arial" pitchFamily="34" charset="-122"/>
                <a:cs typeface="Arial" pitchFamily="34" charset="-120"/>
              </a:rPr>
              <a:t>Restituer : organisation, démarche, analyse métier, FHIR, démonstration.</a:t>
            </a:r>
            <a:endParaRPr lang="en-US" sz="1100" dirty="0"/>
          </a:p>
        </p:txBody>
      </p:sp>
      <p:sp>
        <p:nvSpPr>
          <p:cNvPr id="12" name="Shape 9"/>
          <p:cNvSpPr/>
          <p:nvPr/>
        </p:nvSpPr>
        <p:spPr>
          <a:xfrm>
            <a:off x="6248400" y="1905000"/>
            <a:ext cx="5372100" cy="2857500"/>
          </a:xfrm>
          <a:prstGeom prst="rect">
            <a:avLst/>
          </a:prstGeom>
          <a:solidFill>
            <a:srgbClr val="0B2C22"/>
          </a:solidFill>
          <a:ln w="9525">
            <a:solidFill>
              <a:srgbClr val="D9A521">
                <a:alpha val="40000"/>
              </a:srgbClr>
            </a:solidFill>
            <a:prstDash val="solid"/>
          </a:ln>
        </p:spPr>
      </p:sp>
      <p:sp>
        <p:nvSpPr>
          <p:cNvPr id="13" name="Text 10"/>
          <p:cNvSpPr txBox="1"/>
          <p:nvPr/>
        </p:nvSpPr>
        <p:spPr>
          <a:xfrm>
            <a:off x="6438900" y="2038350"/>
            <a:ext cx="4991100" cy="171450"/>
          </a:xfrm>
          <a:prstGeom prst="rect">
            <a:avLst/>
          </a:prstGeom>
          <a:noFill/>
          <a:ln/>
        </p:spPr>
        <p:txBody>
          <a:bodyPr wrap="square" lIns="0" tIns="0" rIns="0" bIns="0" rtlCol="0" anchor="ctr"/>
          <a:lstStyle/>
          <a:p>
            <a:pPr indent="0" marL="0">
              <a:buNone/>
            </a:pPr>
            <a:r>
              <a:rPr lang="en-US" sz="850" b="1" spc="160" kern="0" dirty="0">
                <a:solidFill>
                  <a:srgbClr val="D9A521"/>
                </a:solidFill>
                <a:latin typeface="Consolas" pitchFamily="34" charset="0"/>
                <a:ea typeface="Consolas" pitchFamily="34" charset="-122"/>
                <a:cs typeface="Consolas" pitchFamily="34" charset="-120"/>
              </a:rPr>
              <a:t>NOTRE PLAN</a:t>
            </a:r>
            <a:endParaRPr lang="en-US" sz="850" dirty="0"/>
          </a:p>
        </p:txBody>
      </p:sp>
      <p:sp>
        <p:nvSpPr>
          <p:cNvPr id="14" name="Text 11"/>
          <p:cNvSpPr txBox="1"/>
          <p:nvPr/>
        </p:nvSpPr>
        <p:spPr>
          <a:xfrm>
            <a:off x="6438900" y="2343150"/>
            <a:ext cx="419100" cy="247650"/>
          </a:xfrm>
          <a:prstGeom prst="rect">
            <a:avLst/>
          </a:prstGeom>
          <a:noFill/>
          <a:ln/>
        </p:spPr>
        <p:txBody>
          <a:bodyPr wrap="square" lIns="0" tIns="0" rIns="0" bIns="0" rtlCol="0" anchor="ctr"/>
          <a:lstStyle/>
          <a:p>
            <a:pPr indent="0" marL="0">
              <a:buNone/>
            </a:pPr>
            <a:r>
              <a:rPr lang="en-US" sz="1500" dirty="0">
                <a:solidFill>
                  <a:srgbClr val="A02C1E"/>
                </a:solidFill>
                <a:latin typeface="Impact" pitchFamily="34" charset="0"/>
                <a:ea typeface="Impact" pitchFamily="34" charset="-122"/>
                <a:cs typeface="Impact" pitchFamily="34" charset="-120"/>
              </a:rPr>
              <a:t>01</a:t>
            </a:r>
            <a:endParaRPr lang="en-US" sz="1500" dirty="0"/>
          </a:p>
        </p:txBody>
      </p:sp>
      <p:sp>
        <p:nvSpPr>
          <p:cNvPr id="15" name="Text 12"/>
          <p:cNvSpPr txBox="1"/>
          <p:nvPr/>
        </p:nvSpPr>
        <p:spPr>
          <a:xfrm>
            <a:off x="6877050" y="2343150"/>
            <a:ext cx="4552950" cy="247650"/>
          </a:xfrm>
          <a:prstGeom prst="rect">
            <a:avLst/>
          </a:prstGeom>
          <a:noFill/>
          <a:ln/>
        </p:spPr>
        <p:txBody>
          <a:bodyPr wrap="square" lIns="0" tIns="0" rIns="0" bIns="0" rtlCol="0" anchor="ctr"/>
          <a:lstStyle/>
          <a:p>
            <a:pPr indent="0" marL="0">
              <a:buNone/>
            </a:pPr>
            <a:r>
              <a:rPr lang="en-US" sz="1150" dirty="0">
                <a:solidFill>
                  <a:srgbClr val="CFDFD2"/>
                </a:solidFill>
                <a:latin typeface="Arial" pitchFamily="34" charset="0"/>
                <a:ea typeface="Arial" pitchFamily="34" charset="-122"/>
                <a:cs typeface="Arial" pitchFamily="34" charset="-120"/>
              </a:rPr>
              <a:t>Organisation de l'équipe</a:t>
            </a:r>
            <a:endParaRPr lang="en-US" sz="1150" dirty="0"/>
          </a:p>
        </p:txBody>
      </p:sp>
      <p:sp>
        <p:nvSpPr>
          <p:cNvPr id="16" name="Text 13"/>
          <p:cNvSpPr txBox="1"/>
          <p:nvPr/>
        </p:nvSpPr>
        <p:spPr>
          <a:xfrm>
            <a:off x="6438900" y="2781300"/>
            <a:ext cx="419100" cy="247650"/>
          </a:xfrm>
          <a:prstGeom prst="rect">
            <a:avLst/>
          </a:prstGeom>
          <a:noFill/>
          <a:ln/>
        </p:spPr>
        <p:txBody>
          <a:bodyPr wrap="square" lIns="0" tIns="0" rIns="0" bIns="0" rtlCol="0" anchor="ctr"/>
          <a:lstStyle/>
          <a:p>
            <a:pPr indent="0" marL="0">
              <a:buNone/>
            </a:pPr>
            <a:r>
              <a:rPr lang="en-US" sz="1500" dirty="0">
                <a:solidFill>
                  <a:srgbClr val="A02C1E"/>
                </a:solidFill>
                <a:latin typeface="Impact" pitchFamily="34" charset="0"/>
                <a:ea typeface="Impact" pitchFamily="34" charset="-122"/>
                <a:cs typeface="Impact" pitchFamily="34" charset="-120"/>
              </a:rPr>
              <a:t>02</a:t>
            </a:r>
            <a:endParaRPr lang="en-US" sz="1500" dirty="0"/>
          </a:p>
        </p:txBody>
      </p:sp>
      <p:sp>
        <p:nvSpPr>
          <p:cNvPr id="17" name="Text 14"/>
          <p:cNvSpPr txBox="1"/>
          <p:nvPr/>
        </p:nvSpPr>
        <p:spPr>
          <a:xfrm>
            <a:off x="6877050" y="2781300"/>
            <a:ext cx="4552950" cy="247650"/>
          </a:xfrm>
          <a:prstGeom prst="rect">
            <a:avLst/>
          </a:prstGeom>
          <a:noFill/>
          <a:ln/>
        </p:spPr>
        <p:txBody>
          <a:bodyPr wrap="square" lIns="0" tIns="0" rIns="0" bIns="0" rtlCol="0" anchor="ctr"/>
          <a:lstStyle/>
          <a:p>
            <a:pPr indent="0" marL="0">
              <a:buNone/>
            </a:pPr>
            <a:r>
              <a:rPr lang="en-US" sz="1150" dirty="0">
                <a:solidFill>
                  <a:srgbClr val="CFDFD2"/>
                </a:solidFill>
                <a:latin typeface="Arial" pitchFamily="34" charset="0"/>
                <a:ea typeface="Arial" pitchFamily="34" charset="-122"/>
                <a:cs typeface="Arial" pitchFamily="34" charset="-120"/>
              </a:rPr>
              <a:t>Démarche projet — Scrum</a:t>
            </a:r>
            <a:endParaRPr lang="en-US" sz="1150" dirty="0"/>
          </a:p>
        </p:txBody>
      </p:sp>
      <p:sp>
        <p:nvSpPr>
          <p:cNvPr id="18" name="Text 15"/>
          <p:cNvSpPr txBox="1"/>
          <p:nvPr/>
        </p:nvSpPr>
        <p:spPr>
          <a:xfrm>
            <a:off x="6438900" y="3219450"/>
            <a:ext cx="419100" cy="247650"/>
          </a:xfrm>
          <a:prstGeom prst="rect">
            <a:avLst/>
          </a:prstGeom>
          <a:noFill/>
          <a:ln/>
        </p:spPr>
        <p:txBody>
          <a:bodyPr wrap="square" lIns="0" tIns="0" rIns="0" bIns="0" rtlCol="0" anchor="ctr"/>
          <a:lstStyle/>
          <a:p>
            <a:pPr indent="0" marL="0">
              <a:buNone/>
            </a:pPr>
            <a:r>
              <a:rPr lang="en-US" sz="1500" dirty="0">
                <a:solidFill>
                  <a:srgbClr val="A02C1E"/>
                </a:solidFill>
                <a:latin typeface="Impact" pitchFamily="34" charset="0"/>
                <a:ea typeface="Impact" pitchFamily="34" charset="-122"/>
                <a:cs typeface="Impact" pitchFamily="34" charset="-120"/>
              </a:rPr>
              <a:t>03</a:t>
            </a:r>
            <a:endParaRPr lang="en-US" sz="1500" dirty="0"/>
          </a:p>
        </p:txBody>
      </p:sp>
      <p:sp>
        <p:nvSpPr>
          <p:cNvPr id="19" name="Text 16"/>
          <p:cNvSpPr txBox="1"/>
          <p:nvPr/>
        </p:nvSpPr>
        <p:spPr>
          <a:xfrm>
            <a:off x="6877050" y="3219450"/>
            <a:ext cx="4552950" cy="247650"/>
          </a:xfrm>
          <a:prstGeom prst="rect">
            <a:avLst/>
          </a:prstGeom>
          <a:noFill/>
          <a:ln/>
        </p:spPr>
        <p:txBody>
          <a:bodyPr wrap="square" lIns="0" tIns="0" rIns="0" bIns="0" rtlCol="0" anchor="ctr"/>
          <a:lstStyle/>
          <a:p>
            <a:pPr indent="0" marL="0">
              <a:buNone/>
            </a:pPr>
            <a:r>
              <a:rPr lang="en-US" sz="1150" dirty="0">
                <a:solidFill>
                  <a:srgbClr val="CFDFD2"/>
                </a:solidFill>
                <a:latin typeface="Arial" pitchFamily="34" charset="0"/>
                <a:ea typeface="Arial" pitchFamily="34" charset="-122"/>
                <a:cs typeface="Arial" pitchFamily="34" charset="-120"/>
              </a:rPr>
              <a:t>Analyse métier</a:t>
            </a:r>
            <a:endParaRPr lang="en-US" sz="1150" dirty="0"/>
          </a:p>
        </p:txBody>
      </p:sp>
      <p:sp>
        <p:nvSpPr>
          <p:cNvPr id="20" name="Text 17"/>
          <p:cNvSpPr txBox="1"/>
          <p:nvPr/>
        </p:nvSpPr>
        <p:spPr>
          <a:xfrm>
            <a:off x="6438900" y="3657600"/>
            <a:ext cx="419100" cy="247650"/>
          </a:xfrm>
          <a:prstGeom prst="rect">
            <a:avLst/>
          </a:prstGeom>
          <a:noFill/>
          <a:ln/>
        </p:spPr>
        <p:txBody>
          <a:bodyPr wrap="square" lIns="0" tIns="0" rIns="0" bIns="0" rtlCol="0" anchor="ctr"/>
          <a:lstStyle/>
          <a:p>
            <a:pPr indent="0" marL="0">
              <a:buNone/>
            </a:pPr>
            <a:r>
              <a:rPr lang="en-US" sz="1500" dirty="0">
                <a:solidFill>
                  <a:srgbClr val="A02C1E"/>
                </a:solidFill>
                <a:latin typeface="Impact" pitchFamily="34" charset="0"/>
                <a:ea typeface="Impact" pitchFamily="34" charset="-122"/>
                <a:cs typeface="Impact" pitchFamily="34" charset="-120"/>
              </a:rPr>
              <a:t>04</a:t>
            </a:r>
            <a:endParaRPr lang="en-US" sz="1500" dirty="0"/>
          </a:p>
        </p:txBody>
      </p:sp>
      <p:sp>
        <p:nvSpPr>
          <p:cNvPr id="21" name="Text 18"/>
          <p:cNvSpPr txBox="1"/>
          <p:nvPr/>
        </p:nvSpPr>
        <p:spPr>
          <a:xfrm>
            <a:off x="6877050" y="3657600"/>
            <a:ext cx="4552950" cy="247650"/>
          </a:xfrm>
          <a:prstGeom prst="rect">
            <a:avLst/>
          </a:prstGeom>
          <a:noFill/>
          <a:ln/>
        </p:spPr>
        <p:txBody>
          <a:bodyPr wrap="square" lIns="0" tIns="0" rIns="0" bIns="0" rtlCol="0" anchor="ctr"/>
          <a:lstStyle/>
          <a:p>
            <a:pPr indent="0" marL="0">
              <a:buNone/>
            </a:pPr>
            <a:r>
              <a:rPr lang="en-US" sz="1150" dirty="0">
                <a:solidFill>
                  <a:srgbClr val="CFDFD2"/>
                </a:solidFill>
                <a:latin typeface="Arial" pitchFamily="34" charset="0"/>
                <a:ea typeface="Arial" pitchFamily="34" charset="-122"/>
                <a:cs typeface="Arial" pitchFamily="34" charset="-120"/>
              </a:rPr>
              <a:t>Utilisation de FHIR</a:t>
            </a:r>
            <a:endParaRPr lang="en-US" sz="1150" dirty="0"/>
          </a:p>
        </p:txBody>
      </p:sp>
      <p:sp>
        <p:nvSpPr>
          <p:cNvPr id="22" name="Text 19"/>
          <p:cNvSpPr txBox="1"/>
          <p:nvPr/>
        </p:nvSpPr>
        <p:spPr>
          <a:xfrm>
            <a:off x="6438900" y="4095750"/>
            <a:ext cx="419100" cy="247650"/>
          </a:xfrm>
          <a:prstGeom prst="rect">
            <a:avLst/>
          </a:prstGeom>
          <a:noFill/>
          <a:ln/>
        </p:spPr>
        <p:txBody>
          <a:bodyPr wrap="square" lIns="0" tIns="0" rIns="0" bIns="0" rtlCol="0" anchor="ctr"/>
          <a:lstStyle/>
          <a:p>
            <a:pPr indent="0" marL="0">
              <a:buNone/>
            </a:pPr>
            <a:r>
              <a:rPr lang="en-US" sz="1500" dirty="0">
                <a:solidFill>
                  <a:srgbClr val="A02C1E"/>
                </a:solidFill>
                <a:latin typeface="Impact" pitchFamily="34" charset="0"/>
                <a:ea typeface="Impact" pitchFamily="34" charset="-122"/>
                <a:cs typeface="Impact" pitchFamily="34" charset="-120"/>
              </a:rPr>
              <a:t>05</a:t>
            </a:r>
            <a:endParaRPr lang="en-US" sz="1500" dirty="0"/>
          </a:p>
        </p:txBody>
      </p:sp>
      <p:sp>
        <p:nvSpPr>
          <p:cNvPr id="23" name="Text 20"/>
          <p:cNvSpPr txBox="1"/>
          <p:nvPr/>
        </p:nvSpPr>
        <p:spPr>
          <a:xfrm>
            <a:off x="6877050" y="4095750"/>
            <a:ext cx="4552950" cy="247650"/>
          </a:xfrm>
          <a:prstGeom prst="rect">
            <a:avLst/>
          </a:prstGeom>
          <a:noFill/>
          <a:ln/>
        </p:spPr>
        <p:txBody>
          <a:bodyPr wrap="square" lIns="0" tIns="0" rIns="0" bIns="0" rtlCol="0" anchor="ctr"/>
          <a:lstStyle/>
          <a:p>
            <a:pPr indent="0" marL="0">
              <a:buNone/>
            </a:pPr>
            <a:r>
              <a:rPr lang="en-US" sz="1150" dirty="0">
                <a:solidFill>
                  <a:srgbClr val="CFDFD2"/>
                </a:solidFill>
                <a:latin typeface="Arial" pitchFamily="34" charset="0"/>
                <a:ea typeface="Arial" pitchFamily="34" charset="-122"/>
                <a:cs typeface="Arial" pitchFamily="34" charset="-120"/>
              </a:rPr>
              <a:t>Démonstration avec l'équipe Médecin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09550" y="6610350"/>
            <a:ext cx="3429000" cy="190500"/>
          </a:xfrm>
          <a:prstGeom prst="rect">
            <a:avLst/>
          </a:prstGeom>
          <a:noFill/>
          <a:ln/>
        </p:spPr>
        <p:txBody>
          <a:bodyPr wrap="square" lIns="0" tIns="0" rIns="0" bIns="0" rtlCol="0" anchor="ctr"/>
          <a:lstStyle/>
          <a:p>
            <a:pPr indent="0" marL="0">
              <a:buNone/>
            </a:pPr>
            <a:r>
              <a:rPr lang="en-US" sz="750" spc="140" kern="0" dirty="0">
                <a:solidFill>
                  <a:srgbClr val="D9A521"/>
                </a:solidFill>
                <a:latin typeface="Consolas" pitchFamily="34" charset="0"/>
                <a:ea typeface="Consolas" pitchFamily="34" charset="-122"/>
                <a:cs typeface="Consolas" pitchFamily="34" charset="-120"/>
              </a:rPr>
              <a:t>RÉMI · SCRUM MASTER</a:t>
            </a:r>
            <a:endParaRPr lang="en-US" sz="750" dirty="0"/>
          </a:p>
        </p:txBody>
      </p:sp>
      <p:sp>
        <p:nvSpPr>
          <p:cNvPr id="3" name="Text 1"/>
          <p:cNvSpPr txBox="1"/>
          <p:nvPr/>
        </p:nvSpPr>
        <p:spPr>
          <a:xfrm>
            <a:off x="4000500" y="6610350"/>
            <a:ext cx="4191000" cy="190500"/>
          </a:xfrm>
          <a:prstGeom prst="rect">
            <a:avLst/>
          </a:prstGeom>
          <a:noFill/>
          <a:ln/>
        </p:spPr>
        <p:txBody>
          <a:bodyPr wrap="square" lIns="0" tIns="0" rIns="0" bIns="0" rtlCol="0" anchor="ctr"/>
          <a:lstStyle/>
          <a:p>
            <a:pPr algn="ct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4" name="Text 2"/>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≈50 s · 1:40</a:t>
            </a:r>
            <a:endParaRPr lang="en-US" sz="750" dirty="0"/>
          </a:p>
        </p:txBody>
      </p:sp>
      <p:sp>
        <p:nvSpPr>
          <p:cNvPr id="5" name="Text 3"/>
          <p:cNvSpPr txBox="1"/>
          <p:nvPr/>
        </p:nvSpPr>
        <p:spPr>
          <a:xfrm>
            <a:off x="571500" y="323850"/>
            <a:ext cx="11049000" cy="190500"/>
          </a:xfrm>
          <a:prstGeom prst="rect">
            <a:avLst/>
          </a:prstGeom>
          <a:noFill/>
          <a:ln/>
        </p:spPr>
        <p:txBody>
          <a:bodyPr wrap="square" lIns="0" tIns="0" rIns="0" bIns="0" rtlCol="0" anchor="ctr"/>
          <a:lstStyle/>
          <a:p>
            <a:pPr algn="ctr" indent="0" marL="0">
              <a:buNone/>
            </a:pPr>
            <a:r>
              <a:rPr lang="en-US" sz="850" b="1" spc="400" kern="0" dirty="0">
                <a:solidFill>
                  <a:srgbClr val="D9A521"/>
                </a:solidFill>
                <a:latin typeface="Consolas" pitchFamily="34" charset="0"/>
                <a:ea typeface="Consolas" pitchFamily="34" charset="-122"/>
                <a:cs typeface="Consolas" pitchFamily="34" charset="-120"/>
              </a:rPr>
              <a:t>01 · ORGANISATION DE L'ÉQUIPE</a:t>
            </a:r>
            <a:endParaRPr lang="en-US" sz="850" dirty="0"/>
          </a:p>
        </p:txBody>
      </p:sp>
      <p:sp>
        <p:nvSpPr>
          <p:cNvPr id="6" name="Text 4"/>
          <p:cNvSpPr txBox="1"/>
          <p:nvPr/>
        </p:nvSpPr>
        <p:spPr>
          <a:xfrm>
            <a:off x="571500" y="514350"/>
            <a:ext cx="11049000" cy="609600"/>
          </a:xfrm>
          <a:prstGeom prst="rect">
            <a:avLst/>
          </a:prstGeom>
          <a:noFill/>
          <a:ln/>
          <a:effectLst>
            <a:outerShdw sx="100000" sy="100000" kx="0" ky="0" algn="bl" rotWithShape="0" blurRad="101600" dist="38100" dir="2700000">
              <a:srgbClr val="A02C1E">
                <a:alpha val="100000"/>
              </a:srgbClr>
            </a:outerShdw>
          </a:effectLst>
        </p:spPr>
        <p:txBody>
          <a:bodyPr wrap="square" lIns="0" tIns="0" rIns="0" bIns="0" rtlCol="0" anchor="ctr"/>
          <a:lstStyle/>
          <a:p>
            <a:pPr algn="ctr" indent="0" marL="0">
              <a:buNone/>
            </a:pPr>
            <a:r>
              <a:rPr lang="en-US" sz="3400" dirty="0">
                <a:solidFill>
                  <a:srgbClr val="F3E4B0"/>
                </a:solidFill>
                <a:latin typeface="Impact" pitchFamily="34" charset="0"/>
                <a:ea typeface="Impact" pitchFamily="34" charset="-122"/>
                <a:cs typeface="Impact" pitchFamily="34" charset="-120"/>
              </a:rPr>
              <a:t>TROIS RÔLES, TROIS RESPONSABILITÉS</a:t>
            </a:r>
            <a:endParaRPr lang="en-US" sz="3400" dirty="0"/>
          </a:p>
        </p:txBody>
      </p:sp>
      <p:sp>
        <p:nvSpPr>
          <p:cNvPr id="7" name="Text 5"/>
          <p:cNvSpPr txBox="1"/>
          <p:nvPr/>
        </p:nvSpPr>
        <p:spPr>
          <a:xfrm>
            <a:off x="2000250" y="1143000"/>
            <a:ext cx="8191500" cy="438150"/>
          </a:xfrm>
          <a:prstGeom prst="rect">
            <a:avLst/>
          </a:prstGeom>
          <a:noFill/>
          <a:ln/>
        </p:spPr>
        <p:txBody>
          <a:bodyPr wrap="square" lIns="0" tIns="0" rIns="0" bIns="0" rtlCol="0" anchor="t"/>
          <a:lstStyle/>
          <a:p>
            <a:pPr algn="ctr" indent="0" marL="0">
              <a:buNone/>
            </a:pPr>
            <a:r>
              <a:rPr lang="en-US" sz="1350" dirty="0">
                <a:solidFill>
                  <a:srgbClr val="E6DCBE"/>
                </a:solidFill>
                <a:latin typeface="Arial" pitchFamily="34" charset="0"/>
                <a:ea typeface="Arial" pitchFamily="34" charset="-122"/>
                <a:cs typeface="Arial" pitchFamily="34" charset="-120"/>
              </a:rPr>
              <a:t>Une équipe de trois personnes, un rôle Scrum chacun, tenus du début à la fin du sprint.</a:t>
            </a:r>
            <a:endParaRPr lang="en-US" sz="1350" dirty="0"/>
          </a:p>
        </p:txBody>
      </p:sp>
      <p:sp>
        <p:nvSpPr>
          <p:cNvPr id="9" name="Shape 6"/>
          <p:cNvSpPr/>
          <p:nvPr/>
        </p:nvSpPr>
        <p:spPr>
          <a:xfrm>
            <a:off x="571500" y="1809750"/>
            <a:ext cx="3530600" cy="1600200"/>
          </a:xfrm>
          <a:prstGeom prst="rect">
            <a:avLst/>
          </a:prstGeom>
          <a:solidFill>
            <a:srgbClr val="F4E3AB"/>
          </a:solidFill>
          <a:ln/>
          <a:effectLst>
            <a:outerShdw sx="100000" sy="100000" kx="0" ky="0" algn="bl" rotWithShape="0" blurRad="101600" dist="66675" dir="2700000">
              <a:srgbClr val="A02C1E">
                <a:alpha val="100000"/>
              </a:srgbClr>
            </a:outerShdw>
          </a:effectLst>
        </p:spPr>
      </p:sp>
      <p:sp>
        <p:nvSpPr>
          <p:cNvPr id="10" name="Text 7"/>
          <p:cNvSpPr txBox="1"/>
          <p:nvPr/>
        </p:nvSpPr>
        <p:spPr>
          <a:xfrm>
            <a:off x="762000" y="1943100"/>
            <a:ext cx="3149600" cy="323850"/>
          </a:xfrm>
          <a:prstGeom prst="rect">
            <a:avLst/>
          </a:prstGeom>
          <a:noFill/>
          <a:ln/>
        </p:spPr>
        <p:txBody>
          <a:bodyPr wrap="square" lIns="0" tIns="0" rIns="0" bIns="0" rtlCol="0" anchor="ctr"/>
          <a:lstStyle/>
          <a:p>
            <a:pPr indent="0" marL="0">
              <a:buNone/>
            </a:pPr>
            <a:r>
              <a:rPr lang="en-US" sz="2100" dirty="0">
                <a:solidFill>
                  <a:srgbClr val="C08B1E"/>
                </a:solidFill>
                <a:latin typeface="Impact" pitchFamily="34" charset="0"/>
                <a:ea typeface="Impact" pitchFamily="34" charset="-122"/>
                <a:cs typeface="Impact" pitchFamily="34" charset="-120"/>
              </a:rPr>
              <a:t>PO</a:t>
            </a:r>
            <a:endParaRPr lang="en-US" sz="2100" dirty="0"/>
          </a:p>
        </p:txBody>
      </p:sp>
      <p:sp>
        <p:nvSpPr>
          <p:cNvPr id="11" name="Text 8"/>
          <p:cNvSpPr txBox="1"/>
          <p:nvPr/>
        </p:nvSpPr>
        <p:spPr>
          <a:xfrm>
            <a:off x="762000" y="2286000"/>
            <a:ext cx="3149600" cy="190500"/>
          </a:xfrm>
          <a:prstGeom prst="rect">
            <a:avLst/>
          </a:prstGeom>
          <a:noFill/>
          <a:ln/>
        </p:spPr>
        <p:txBody>
          <a:bodyPr wrap="square" lIns="0" tIns="0" rIns="0" bIns="0" rtlCol="0" anchor="ctr"/>
          <a:lstStyle/>
          <a:p>
            <a:pPr indent="0" marL="0">
              <a:buNone/>
            </a:pPr>
            <a:r>
              <a:rPr lang="en-US" sz="900" b="1" spc="100" kern="0" dirty="0">
                <a:solidFill>
                  <a:srgbClr val="A02C1E"/>
                </a:solidFill>
                <a:latin typeface="Consolas" pitchFamily="34" charset="0"/>
                <a:ea typeface="Consolas" pitchFamily="34" charset="-122"/>
                <a:cs typeface="Consolas" pitchFamily="34" charset="-120"/>
              </a:rPr>
              <a:t>NEIROUZ ATTIA</a:t>
            </a:r>
            <a:endParaRPr lang="en-US" sz="900" dirty="0"/>
          </a:p>
        </p:txBody>
      </p:sp>
      <p:sp>
        <p:nvSpPr>
          <p:cNvPr id="12" name="Text 9"/>
          <p:cNvSpPr txBox="1"/>
          <p:nvPr/>
        </p:nvSpPr>
        <p:spPr>
          <a:xfrm>
            <a:off x="762000" y="2514600"/>
            <a:ext cx="3149600" cy="762000"/>
          </a:xfrm>
          <a:prstGeom prst="rect">
            <a:avLst/>
          </a:prstGeom>
          <a:noFill/>
          <a:ln/>
        </p:spPr>
        <p:txBody>
          <a:bodyPr wrap="square" lIns="0" tIns="0" rIns="0" bIns="0" rtlCol="0" anchor="t"/>
          <a:lstStyle/>
          <a:p>
            <a:pPr indent="0" marL="0">
              <a:lnSpc>
                <a:spcPct val="120000"/>
              </a:lnSpc>
              <a:buNone/>
            </a:pPr>
            <a:r>
              <a:rPr lang="en-US" sz="1050" dirty="0">
                <a:solidFill>
                  <a:srgbClr val="2A2016"/>
                </a:solidFill>
                <a:latin typeface="Arial" pitchFamily="34" charset="0"/>
                <a:ea typeface="Arial" pitchFamily="34" charset="-122"/>
                <a:cs typeface="Arial" pitchFamily="34" charset="-120"/>
              </a:rPr>
              <a:t>Porte la valeur produit : rédige et priorise le backlog, définit les critères d'acceptation, valide ce qui est livré.</a:t>
            </a:r>
            <a:endParaRPr lang="en-US" sz="1050" dirty="0"/>
          </a:p>
        </p:txBody>
      </p:sp>
      <p:sp>
        <p:nvSpPr>
          <p:cNvPr id="13" name="Shape 10"/>
          <p:cNvSpPr/>
          <p:nvPr/>
        </p:nvSpPr>
        <p:spPr>
          <a:xfrm>
            <a:off x="4330700" y="1809750"/>
            <a:ext cx="3530600" cy="1600200"/>
          </a:xfrm>
          <a:prstGeom prst="rect">
            <a:avLst/>
          </a:prstGeom>
          <a:solidFill>
            <a:srgbClr val="F4E3AB"/>
          </a:solidFill>
          <a:ln/>
          <a:effectLst>
            <a:outerShdw sx="100000" sy="100000" kx="0" ky="0" algn="bl" rotWithShape="0" blurRad="101600" dist="66675" dir="2700000">
              <a:srgbClr val="A02C1E">
                <a:alpha val="100000"/>
              </a:srgbClr>
            </a:outerShdw>
          </a:effectLst>
        </p:spPr>
      </p:sp>
      <p:sp>
        <p:nvSpPr>
          <p:cNvPr id="14" name="Text 11"/>
          <p:cNvSpPr txBox="1"/>
          <p:nvPr/>
        </p:nvSpPr>
        <p:spPr>
          <a:xfrm>
            <a:off x="4521200" y="1943100"/>
            <a:ext cx="3149600" cy="323850"/>
          </a:xfrm>
          <a:prstGeom prst="rect">
            <a:avLst/>
          </a:prstGeom>
          <a:noFill/>
          <a:ln/>
        </p:spPr>
        <p:txBody>
          <a:bodyPr wrap="square" lIns="0" tIns="0" rIns="0" bIns="0" rtlCol="0" anchor="ctr"/>
          <a:lstStyle/>
          <a:p>
            <a:pPr indent="0" marL="0">
              <a:buNone/>
            </a:pPr>
            <a:r>
              <a:rPr lang="en-US" sz="2100" dirty="0">
                <a:solidFill>
                  <a:srgbClr val="C08B1E"/>
                </a:solidFill>
                <a:latin typeface="Impact" pitchFamily="34" charset="0"/>
                <a:ea typeface="Impact" pitchFamily="34" charset="-122"/>
                <a:cs typeface="Impact" pitchFamily="34" charset="-120"/>
              </a:rPr>
              <a:t>SM</a:t>
            </a:r>
            <a:endParaRPr lang="en-US" sz="2100" dirty="0"/>
          </a:p>
        </p:txBody>
      </p:sp>
      <p:sp>
        <p:nvSpPr>
          <p:cNvPr id="15" name="Text 12"/>
          <p:cNvSpPr txBox="1"/>
          <p:nvPr/>
        </p:nvSpPr>
        <p:spPr>
          <a:xfrm>
            <a:off x="4521200" y="2286000"/>
            <a:ext cx="3149600" cy="190500"/>
          </a:xfrm>
          <a:prstGeom prst="rect">
            <a:avLst/>
          </a:prstGeom>
          <a:noFill/>
          <a:ln/>
        </p:spPr>
        <p:txBody>
          <a:bodyPr wrap="square" lIns="0" tIns="0" rIns="0" bIns="0" rtlCol="0" anchor="ctr"/>
          <a:lstStyle/>
          <a:p>
            <a:pPr indent="0" marL="0">
              <a:buNone/>
            </a:pPr>
            <a:r>
              <a:rPr lang="en-US" sz="900" b="1" spc="100" kern="0" dirty="0">
                <a:solidFill>
                  <a:srgbClr val="A02C1E"/>
                </a:solidFill>
                <a:latin typeface="Consolas" pitchFamily="34" charset="0"/>
                <a:ea typeface="Consolas" pitchFamily="34" charset="-122"/>
                <a:cs typeface="Consolas" pitchFamily="34" charset="-120"/>
              </a:rPr>
              <a:t>RÉMI DELARUE</a:t>
            </a:r>
            <a:endParaRPr lang="en-US" sz="900" dirty="0"/>
          </a:p>
        </p:txBody>
      </p:sp>
      <p:sp>
        <p:nvSpPr>
          <p:cNvPr id="16" name="Text 13"/>
          <p:cNvSpPr txBox="1"/>
          <p:nvPr/>
        </p:nvSpPr>
        <p:spPr>
          <a:xfrm>
            <a:off x="4521200" y="2514600"/>
            <a:ext cx="3149600" cy="762000"/>
          </a:xfrm>
          <a:prstGeom prst="rect">
            <a:avLst/>
          </a:prstGeom>
          <a:noFill/>
          <a:ln/>
        </p:spPr>
        <p:txBody>
          <a:bodyPr wrap="square" lIns="0" tIns="0" rIns="0" bIns="0" rtlCol="0" anchor="t"/>
          <a:lstStyle/>
          <a:p>
            <a:pPr indent="0" marL="0">
              <a:lnSpc>
                <a:spcPct val="120000"/>
              </a:lnSpc>
              <a:buNone/>
            </a:pPr>
            <a:r>
              <a:rPr lang="en-US" sz="1050" dirty="0">
                <a:solidFill>
                  <a:srgbClr val="2A2016"/>
                </a:solidFill>
                <a:latin typeface="Arial" pitchFamily="34" charset="0"/>
                <a:ea typeface="Arial" pitchFamily="34" charset="-122"/>
                <a:cs typeface="Arial" pitchFamily="34" charset="-120"/>
              </a:rPr>
              <a:t>Garant du cadre : anime les cérémonies, tient le board à jour, lève les blocages, suit le burndown.</a:t>
            </a:r>
            <a:endParaRPr lang="en-US" sz="1050" dirty="0"/>
          </a:p>
        </p:txBody>
      </p:sp>
      <p:sp>
        <p:nvSpPr>
          <p:cNvPr id="17" name="Shape 14"/>
          <p:cNvSpPr/>
          <p:nvPr/>
        </p:nvSpPr>
        <p:spPr>
          <a:xfrm>
            <a:off x="8089900" y="1809750"/>
            <a:ext cx="3530600" cy="1600200"/>
          </a:xfrm>
          <a:prstGeom prst="rect">
            <a:avLst/>
          </a:prstGeom>
          <a:solidFill>
            <a:srgbClr val="F4E3AB"/>
          </a:solidFill>
          <a:ln/>
          <a:effectLst>
            <a:outerShdw sx="100000" sy="100000" kx="0" ky="0" algn="bl" rotWithShape="0" blurRad="101600" dist="66675" dir="2700000">
              <a:srgbClr val="A02C1E">
                <a:alpha val="100000"/>
              </a:srgbClr>
            </a:outerShdw>
          </a:effectLst>
        </p:spPr>
      </p:sp>
      <p:sp>
        <p:nvSpPr>
          <p:cNvPr id="18" name="Text 15"/>
          <p:cNvSpPr txBox="1"/>
          <p:nvPr/>
        </p:nvSpPr>
        <p:spPr>
          <a:xfrm>
            <a:off x="8280400" y="1943100"/>
            <a:ext cx="3149600" cy="323850"/>
          </a:xfrm>
          <a:prstGeom prst="rect">
            <a:avLst/>
          </a:prstGeom>
          <a:noFill/>
          <a:ln/>
        </p:spPr>
        <p:txBody>
          <a:bodyPr wrap="square" lIns="0" tIns="0" rIns="0" bIns="0" rtlCol="0" anchor="ctr"/>
          <a:lstStyle/>
          <a:p>
            <a:pPr indent="0" marL="0">
              <a:buNone/>
            </a:pPr>
            <a:r>
              <a:rPr lang="en-US" sz="2100" dirty="0">
                <a:solidFill>
                  <a:srgbClr val="C08B1E"/>
                </a:solidFill>
                <a:latin typeface="Impact" pitchFamily="34" charset="0"/>
                <a:ea typeface="Impact" pitchFamily="34" charset="-122"/>
                <a:cs typeface="Impact" pitchFamily="34" charset="-120"/>
              </a:rPr>
              <a:t>DEV</a:t>
            </a:r>
            <a:endParaRPr lang="en-US" sz="2100" dirty="0"/>
          </a:p>
        </p:txBody>
      </p:sp>
      <p:sp>
        <p:nvSpPr>
          <p:cNvPr id="19" name="Text 16"/>
          <p:cNvSpPr txBox="1"/>
          <p:nvPr/>
        </p:nvSpPr>
        <p:spPr>
          <a:xfrm>
            <a:off x="8280400" y="2286000"/>
            <a:ext cx="3149600" cy="190500"/>
          </a:xfrm>
          <a:prstGeom prst="rect">
            <a:avLst/>
          </a:prstGeom>
          <a:noFill/>
          <a:ln/>
        </p:spPr>
        <p:txBody>
          <a:bodyPr wrap="square" lIns="0" tIns="0" rIns="0" bIns="0" rtlCol="0" anchor="ctr"/>
          <a:lstStyle/>
          <a:p>
            <a:pPr indent="0" marL="0">
              <a:buNone/>
            </a:pPr>
            <a:r>
              <a:rPr lang="en-US" sz="900" b="1" spc="100" kern="0" dirty="0">
                <a:solidFill>
                  <a:srgbClr val="A02C1E"/>
                </a:solidFill>
                <a:latin typeface="Consolas" pitchFamily="34" charset="0"/>
                <a:ea typeface="Consolas" pitchFamily="34" charset="-122"/>
                <a:cs typeface="Consolas" pitchFamily="34" charset="-120"/>
              </a:rPr>
              <a:t>ROMANE CANO</a:t>
            </a:r>
            <a:endParaRPr lang="en-US" sz="900" dirty="0"/>
          </a:p>
        </p:txBody>
      </p:sp>
      <p:sp>
        <p:nvSpPr>
          <p:cNvPr id="20" name="Text 17"/>
          <p:cNvSpPr txBox="1"/>
          <p:nvPr/>
        </p:nvSpPr>
        <p:spPr>
          <a:xfrm>
            <a:off x="8280400" y="2514600"/>
            <a:ext cx="3149600" cy="762000"/>
          </a:xfrm>
          <a:prstGeom prst="rect">
            <a:avLst/>
          </a:prstGeom>
          <a:noFill/>
          <a:ln/>
        </p:spPr>
        <p:txBody>
          <a:bodyPr wrap="square" lIns="0" tIns="0" rIns="0" bIns="0" rtlCol="0" anchor="t"/>
          <a:lstStyle/>
          <a:p>
            <a:pPr indent="0" marL="0">
              <a:lnSpc>
                <a:spcPct val="120000"/>
              </a:lnSpc>
              <a:buNone/>
            </a:pPr>
            <a:r>
              <a:rPr lang="en-US" sz="1050" dirty="0">
                <a:solidFill>
                  <a:srgbClr val="2A2016"/>
                </a:solidFill>
                <a:latin typeface="Arial" pitchFamily="34" charset="0"/>
                <a:ea typeface="Arial" pitchFamily="34" charset="-122"/>
                <a:cs typeface="Arial" pitchFamily="34" charset="-120"/>
              </a:rPr>
              <a:t>Réalise : développe les deux applications, teste les appels FHIR, déploie et documente.</a:t>
            </a:r>
            <a:endParaRPr lang="en-US" sz="1050" dirty="0"/>
          </a:p>
        </p:txBody>
      </p:sp>
      <p:sp>
        <p:nvSpPr>
          <p:cNvPr id="21" name="Shape 18"/>
          <p:cNvSpPr/>
          <p:nvPr/>
        </p:nvSpPr>
        <p:spPr>
          <a:xfrm>
            <a:off x="571500" y="3810000"/>
            <a:ext cx="2669381" cy="590550"/>
          </a:xfrm>
          <a:prstGeom prst="rect">
            <a:avLst/>
          </a:prstGeom>
          <a:solidFill>
            <a:srgbClr val="F4E3AB"/>
          </a:solidFill>
          <a:ln/>
          <a:effectLst>
            <a:outerShdw sx="100000" sy="100000" kx="0" ky="0" algn="bl" rotWithShape="0" blurRad="101600" dist="47625" dir="2700000">
              <a:srgbClr val="A02C1E">
                <a:alpha val="100000"/>
              </a:srgbClr>
            </a:outerShdw>
          </a:effectLst>
        </p:spPr>
      </p:sp>
      <p:sp>
        <p:nvSpPr>
          <p:cNvPr id="22" name="Text 19"/>
          <p:cNvSpPr txBox="1"/>
          <p:nvPr/>
        </p:nvSpPr>
        <p:spPr>
          <a:xfrm>
            <a:off x="704850" y="3810000"/>
            <a:ext cx="1121140" cy="590550"/>
          </a:xfrm>
          <a:prstGeom prst="rect">
            <a:avLst/>
          </a:prstGeom>
          <a:noFill/>
          <a:ln/>
        </p:spPr>
        <p:txBody>
          <a:bodyPr wrap="square" lIns="0" tIns="0" rIns="0" bIns="0" rtlCol="0" anchor="ctr"/>
          <a:lstStyle/>
          <a:p>
            <a:pPr indent="0" marL="0">
              <a:buNone/>
            </a:pPr>
            <a:r>
              <a:rPr lang="en-US" sz="1900" dirty="0">
                <a:solidFill>
                  <a:srgbClr val="A02C1E"/>
                </a:solidFill>
                <a:latin typeface="Impact" pitchFamily="34" charset="0"/>
                <a:ea typeface="Impact" pitchFamily="34" charset="-122"/>
                <a:cs typeface="Impact" pitchFamily="34" charset="-120"/>
              </a:rPr>
              <a:t>Trello</a:t>
            </a:r>
            <a:endParaRPr lang="en-US" sz="1900" dirty="0"/>
          </a:p>
        </p:txBody>
      </p:sp>
      <p:sp>
        <p:nvSpPr>
          <p:cNvPr id="23" name="Text 20"/>
          <p:cNvSpPr txBox="1"/>
          <p:nvPr/>
        </p:nvSpPr>
        <p:spPr>
          <a:xfrm>
            <a:off x="1692640" y="3810000"/>
            <a:ext cx="1414891" cy="590550"/>
          </a:xfrm>
          <a:prstGeom prst="rect">
            <a:avLst/>
          </a:prstGeom>
          <a:noFill/>
          <a:ln/>
        </p:spPr>
        <p:txBody>
          <a:bodyPr wrap="square" lIns="0" tIns="0" rIns="0" bIns="0" rtlCol="0" anchor="ctr"/>
          <a:lstStyle/>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2 boards :</a:t>
            </a:r>
            <a:endParaRPr lang="en-US" sz="750" dirty="0"/>
          </a:p>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produit et sprint</a:t>
            </a:r>
            <a:endParaRPr lang="en-US" sz="750" dirty="0"/>
          </a:p>
        </p:txBody>
      </p:sp>
      <p:sp>
        <p:nvSpPr>
          <p:cNvPr id="24" name="Shape 21"/>
          <p:cNvSpPr/>
          <p:nvPr/>
        </p:nvSpPr>
        <p:spPr>
          <a:xfrm>
            <a:off x="3364706" y="3810000"/>
            <a:ext cx="2669381" cy="590550"/>
          </a:xfrm>
          <a:prstGeom prst="rect">
            <a:avLst/>
          </a:prstGeom>
          <a:solidFill>
            <a:srgbClr val="F4E3AB"/>
          </a:solidFill>
          <a:ln/>
          <a:effectLst>
            <a:outerShdw sx="100000" sy="100000" kx="0" ky="0" algn="bl" rotWithShape="0" blurRad="101600" dist="47625" dir="2700000">
              <a:srgbClr val="A02C1E">
                <a:alpha val="100000"/>
              </a:srgbClr>
            </a:outerShdw>
          </a:effectLst>
        </p:spPr>
      </p:sp>
      <p:sp>
        <p:nvSpPr>
          <p:cNvPr id="25" name="Text 22"/>
          <p:cNvSpPr txBox="1"/>
          <p:nvPr/>
        </p:nvSpPr>
        <p:spPr>
          <a:xfrm>
            <a:off x="3498056" y="3810000"/>
            <a:ext cx="1121140" cy="590550"/>
          </a:xfrm>
          <a:prstGeom prst="rect">
            <a:avLst/>
          </a:prstGeom>
          <a:noFill/>
          <a:ln/>
        </p:spPr>
        <p:txBody>
          <a:bodyPr wrap="square" lIns="0" tIns="0" rIns="0" bIns="0" rtlCol="0" anchor="ctr"/>
          <a:lstStyle/>
          <a:p>
            <a:pPr indent="0" marL="0">
              <a:buNone/>
            </a:pPr>
            <a:r>
              <a:rPr lang="en-US" sz="1900" dirty="0">
                <a:solidFill>
                  <a:srgbClr val="A02C1E"/>
                </a:solidFill>
                <a:latin typeface="Impact" pitchFamily="34" charset="0"/>
                <a:ea typeface="Impact" pitchFamily="34" charset="-122"/>
                <a:cs typeface="Impact" pitchFamily="34" charset="-120"/>
              </a:rPr>
              <a:t>Corrello</a:t>
            </a:r>
            <a:endParaRPr lang="en-US" sz="1900" dirty="0"/>
          </a:p>
        </p:txBody>
      </p:sp>
      <p:sp>
        <p:nvSpPr>
          <p:cNvPr id="26" name="Text 23"/>
          <p:cNvSpPr txBox="1"/>
          <p:nvPr/>
        </p:nvSpPr>
        <p:spPr>
          <a:xfrm>
            <a:off x="4485846" y="3810000"/>
            <a:ext cx="1414891" cy="590550"/>
          </a:xfrm>
          <a:prstGeom prst="rect">
            <a:avLst/>
          </a:prstGeom>
          <a:noFill/>
          <a:ln/>
        </p:spPr>
        <p:txBody>
          <a:bodyPr wrap="square" lIns="0" tIns="0" rIns="0" bIns="0" rtlCol="0" anchor="ctr"/>
          <a:lstStyle/>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Burndown</a:t>
            </a:r>
            <a:endParaRPr lang="en-US" sz="750" dirty="0"/>
          </a:p>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et vélocité</a:t>
            </a:r>
            <a:endParaRPr lang="en-US" sz="750" dirty="0"/>
          </a:p>
        </p:txBody>
      </p:sp>
      <p:sp>
        <p:nvSpPr>
          <p:cNvPr id="27" name="Shape 24"/>
          <p:cNvSpPr/>
          <p:nvPr/>
        </p:nvSpPr>
        <p:spPr>
          <a:xfrm>
            <a:off x="6157913" y="3810000"/>
            <a:ext cx="2669381" cy="590550"/>
          </a:xfrm>
          <a:prstGeom prst="rect">
            <a:avLst/>
          </a:prstGeom>
          <a:solidFill>
            <a:srgbClr val="F4E3AB"/>
          </a:solidFill>
          <a:ln/>
          <a:effectLst>
            <a:outerShdw sx="100000" sy="100000" kx="0" ky="0" algn="bl" rotWithShape="0" blurRad="101600" dist="47625" dir="2700000">
              <a:srgbClr val="A02C1E">
                <a:alpha val="100000"/>
              </a:srgbClr>
            </a:outerShdw>
          </a:effectLst>
        </p:spPr>
      </p:sp>
      <p:sp>
        <p:nvSpPr>
          <p:cNvPr id="28" name="Text 25"/>
          <p:cNvSpPr txBox="1"/>
          <p:nvPr/>
        </p:nvSpPr>
        <p:spPr>
          <a:xfrm>
            <a:off x="6291263" y="3810000"/>
            <a:ext cx="1121140" cy="590550"/>
          </a:xfrm>
          <a:prstGeom prst="rect">
            <a:avLst/>
          </a:prstGeom>
          <a:noFill/>
          <a:ln/>
        </p:spPr>
        <p:txBody>
          <a:bodyPr wrap="square" lIns="0" tIns="0" rIns="0" bIns="0" rtlCol="0" anchor="ctr"/>
          <a:lstStyle/>
          <a:p>
            <a:pPr indent="0" marL="0">
              <a:buNone/>
            </a:pPr>
            <a:r>
              <a:rPr lang="en-US" sz="1900" dirty="0">
                <a:solidFill>
                  <a:srgbClr val="A02C1E"/>
                </a:solidFill>
                <a:latin typeface="Impact" pitchFamily="34" charset="0"/>
                <a:ea typeface="Impact" pitchFamily="34" charset="-122"/>
                <a:cs typeface="Impact" pitchFamily="34" charset="-120"/>
              </a:rPr>
              <a:t>Drive</a:t>
            </a:r>
            <a:endParaRPr lang="en-US" sz="1900" dirty="0"/>
          </a:p>
        </p:txBody>
      </p:sp>
      <p:sp>
        <p:nvSpPr>
          <p:cNvPr id="29" name="Text 26"/>
          <p:cNvSpPr txBox="1"/>
          <p:nvPr/>
        </p:nvSpPr>
        <p:spPr>
          <a:xfrm>
            <a:off x="7279053" y="3810000"/>
            <a:ext cx="1414891" cy="590550"/>
          </a:xfrm>
          <a:prstGeom prst="rect">
            <a:avLst/>
          </a:prstGeom>
          <a:noFill/>
          <a:ln/>
        </p:spPr>
        <p:txBody>
          <a:bodyPr wrap="square" lIns="0" tIns="0" rIns="0" bIns="0" rtlCol="0" anchor="ctr"/>
          <a:lstStyle/>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Documents</a:t>
            </a:r>
            <a:endParaRPr lang="en-US" sz="750" dirty="0"/>
          </a:p>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d'équipe</a:t>
            </a:r>
            <a:endParaRPr lang="en-US" sz="750" dirty="0"/>
          </a:p>
        </p:txBody>
      </p:sp>
      <p:sp>
        <p:nvSpPr>
          <p:cNvPr id="30" name="Shape 27"/>
          <p:cNvSpPr/>
          <p:nvPr/>
        </p:nvSpPr>
        <p:spPr>
          <a:xfrm>
            <a:off x="8951119" y="3810000"/>
            <a:ext cx="2669381" cy="590550"/>
          </a:xfrm>
          <a:prstGeom prst="rect">
            <a:avLst/>
          </a:prstGeom>
          <a:solidFill>
            <a:srgbClr val="F4E3AB"/>
          </a:solidFill>
          <a:ln/>
          <a:effectLst>
            <a:outerShdw sx="100000" sy="100000" kx="0" ky="0" algn="bl" rotWithShape="0" blurRad="101600" dist="47625" dir="2700000">
              <a:srgbClr val="A02C1E">
                <a:alpha val="100000"/>
              </a:srgbClr>
            </a:outerShdw>
          </a:effectLst>
        </p:spPr>
      </p:sp>
      <p:sp>
        <p:nvSpPr>
          <p:cNvPr id="31" name="Text 28"/>
          <p:cNvSpPr txBox="1"/>
          <p:nvPr/>
        </p:nvSpPr>
        <p:spPr>
          <a:xfrm>
            <a:off x="9084469" y="3810000"/>
            <a:ext cx="1121140" cy="590550"/>
          </a:xfrm>
          <a:prstGeom prst="rect">
            <a:avLst/>
          </a:prstGeom>
          <a:noFill/>
          <a:ln/>
        </p:spPr>
        <p:txBody>
          <a:bodyPr wrap="square" lIns="0" tIns="0" rIns="0" bIns="0" rtlCol="0" anchor="ctr"/>
          <a:lstStyle/>
          <a:p>
            <a:pPr indent="0" marL="0">
              <a:buNone/>
            </a:pPr>
            <a:r>
              <a:rPr lang="en-US" sz="1900" dirty="0">
                <a:solidFill>
                  <a:srgbClr val="A02C1E"/>
                </a:solidFill>
                <a:latin typeface="Impact" pitchFamily="34" charset="0"/>
                <a:ea typeface="Impact" pitchFamily="34" charset="-122"/>
                <a:cs typeface="Impact" pitchFamily="34" charset="-120"/>
              </a:rPr>
              <a:t>GitHub</a:t>
            </a:r>
            <a:endParaRPr lang="en-US" sz="1900" dirty="0"/>
          </a:p>
        </p:txBody>
      </p:sp>
      <p:sp>
        <p:nvSpPr>
          <p:cNvPr id="32" name="Text 29"/>
          <p:cNvSpPr txBox="1"/>
          <p:nvPr/>
        </p:nvSpPr>
        <p:spPr>
          <a:xfrm>
            <a:off x="10072259" y="3810000"/>
            <a:ext cx="1414891" cy="590550"/>
          </a:xfrm>
          <a:prstGeom prst="rect">
            <a:avLst/>
          </a:prstGeom>
          <a:noFill/>
          <a:ln/>
        </p:spPr>
        <p:txBody>
          <a:bodyPr wrap="square" lIns="0" tIns="0" rIns="0" bIns="0" rtlCol="0" anchor="ctr"/>
          <a:lstStyle/>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Code et</a:t>
            </a:r>
            <a:endParaRPr lang="en-US" sz="750" dirty="0"/>
          </a:p>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déploiement</a:t>
            </a:r>
            <a:endParaRPr lang="en-US" sz="750" dirty="0"/>
          </a:p>
        </p:txBody>
      </p:sp>
      <p:sp>
        <p:nvSpPr>
          <p:cNvPr id="33" name="Text 30"/>
          <p:cNvSpPr txBox="1"/>
          <p:nvPr/>
        </p:nvSpPr>
        <p:spPr>
          <a:xfrm>
            <a:off x="571500" y="4667250"/>
            <a:ext cx="11049000" cy="228600"/>
          </a:xfrm>
          <a:prstGeom prst="rect">
            <a:avLst/>
          </a:prstGeom>
          <a:noFill/>
          <a:ln/>
        </p:spPr>
        <p:txBody>
          <a:bodyPr wrap="square" lIns="0" tIns="0" rIns="0" bIns="0" rtlCol="0" anchor="ctr"/>
          <a:lstStyle/>
          <a:p>
            <a:pPr algn="ctr" indent="0" marL="0">
              <a:buNone/>
            </a:pPr>
            <a:r>
              <a:rPr lang="en-US" sz="1050" dirty="0">
                <a:solidFill>
                  <a:srgbClr val="8FAE95"/>
                </a:solidFill>
                <a:latin typeface="Arial" pitchFamily="34" charset="0"/>
                <a:ea typeface="Arial" pitchFamily="34" charset="-122"/>
                <a:cs typeface="Arial" pitchFamily="34" charset="-120"/>
              </a:rPr>
              <a:t>Claude a servi de copilote de développement et de rédaction. Les décisions produit sont restées celles de l'équipe.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09550" y="6610350"/>
            <a:ext cx="3429000" cy="190500"/>
          </a:xfrm>
          <a:prstGeom prst="rect">
            <a:avLst/>
          </a:prstGeom>
          <a:noFill/>
          <a:ln/>
        </p:spPr>
        <p:txBody>
          <a:bodyPr wrap="square" lIns="0" tIns="0" rIns="0" bIns="0" rtlCol="0" anchor="ctr"/>
          <a:lstStyle/>
          <a:p>
            <a:pPr indent="0" marL="0">
              <a:buNone/>
            </a:pPr>
            <a:r>
              <a:rPr lang="en-US" sz="750" spc="140" kern="0" dirty="0">
                <a:solidFill>
                  <a:srgbClr val="D9A521"/>
                </a:solidFill>
                <a:latin typeface="Consolas" pitchFamily="34" charset="0"/>
                <a:ea typeface="Consolas" pitchFamily="34" charset="-122"/>
                <a:cs typeface="Consolas" pitchFamily="34" charset="-120"/>
              </a:rPr>
              <a:t>RÉMI · SCRUM MASTER</a:t>
            </a:r>
            <a:endParaRPr lang="en-US" sz="750" dirty="0"/>
          </a:p>
        </p:txBody>
      </p:sp>
      <p:sp>
        <p:nvSpPr>
          <p:cNvPr id="3" name="Text 1"/>
          <p:cNvSpPr txBox="1"/>
          <p:nvPr/>
        </p:nvSpPr>
        <p:spPr>
          <a:xfrm>
            <a:off x="4000500" y="6610350"/>
            <a:ext cx="4191000" cy="190500"/>
          </a:xfrm>
          <a:prstGeom prst="rect">
            <a:avLst/>
          </a:prstGeom>
          <a:noFill/>
          <a:ln/>
        </p:spPr>
        <p:txBody>
          <a:bodyPr wrap="square" lIns="0" tIns="0" rIns="0" bIns="0" rtlCol="0" anchor="ctr"/>
          <a:lstStyle/>
          <a:p>
            <a:pPr algn="ct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4" name="Text 2"/>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≈45 s · 2:25</a:t>
            </a:r>
            <a:endParaRPr lang="en-US" sz="750" dirty="0"/>
          </a:p>
        </p:txBody>
      </p:sp>
      <p:sp>
        <p:nvSpPr>
          <p:cNvPr id="5" name="Text 3"/>
          <p:cNvSpPr txBox="1"/>
          <p:nvPr/>
        </p:nvSpPr>
        <p:spPr>
          <a:xfrm>
            <a:off x="571500" y="323850"/>
            <a:ext cx="11049000" cy="190500"/>
          </a:xfrm>
          <a:prstGeom prst="rect">
            <a:avLst/>
          </a:prstGeom>
          <a:noFill/>
          <a:ln/>
        </p:spPr>
        <p:txBody>
          <a:bodyPr wrap="square" lIns="0" tIns="0" rIns="0" bIns="0" rtlCol="0" anchor="ctr"/>
          <a:lstStyle/>
          <a:p>
            <a:pPr algn="ctr" indent="0" marL="0">
              <a:buNone/>
            </a:pPr>
            <a:r>
              <a:rPr lang="en-US" sz="850" b="1" spc="400" kern="0" dirty="0">
                <a:solidFill>
                  <a:srgbClr val="D9A521"/>
                </a:solidFill>
                <a:latin typeface="Consolas" pitchFamily="34" charset="0"/>
                <a:ea typeface="Consolas" pitchFamily="34" charset="-122"/>
                <a:cs typeface="Consolas" pitchFamily="34" charset="-120"/>
              </a:rPr>
              <a:t>02 · DÉMARCHE PROJET</a:t>
            </a:r>
            <a:endParaRPr lang="en-US" sz="850" dirty="0"/>
          </a:p>
        </p:txBody>
      </p:sp>
      <p:sp>
        <p:nvSpPr>
          <p:cNvPr id="6" name="Text 4"/>
          <p:cNvSpPr txBox="1"/>
          <p:nvPr/>
        </p:nvSpPr>
        <p:spPr>
          <a:xfrm>
            <a:off x="571500" y="514350"/>
            <a:ext cx="11049000" cy="609600"/>
          </a:xfrm>
          <a:prstGeom prst="rect">
            <a:avLst/>
          </a:prstGeom>
          <a:noFill/>
          <a:ln/>
          <a:effectLst>
            <a:outerShdw sx="100000" sy="100000" kx="0" ky="0" algn="bl" rotWithShape="0" blurRad="101600" dist="38100" dir="2700000">
              <a:srgbClr val="A02C1E">
                <a:alpha val="100000"/>
              </a:srgbClr>
            </a:outerShdw>
          </a:effectLst>
        </p:spPr>
        <p:txBody>
          <a:bodyPr wrap="square" lIns="0" tIns="0" rIns="0" bIns="0" rtlCol="0" anchor="ctr"/>
          <a:lstStyle/>
          <a:p>
            <a:pPr algn="ctr" indent="0" marL="0">
              <a:buNone/>
            </a:pPr>
            <a:r>
              <a:rPr lang="en-US" sz="3400" dirty="0">
                <a:solidFill>
                  <a:srgbClr val="F3E4B0"/>
                </a:solidFill>
                <a:latin typeface="Impact" pitchFamily="34" charset="0"/>
                <a:ea typeface="Impact" pitchFamily="34" charset="-122"/>
                <a:cs typeface="Impact" pitchFamily="34" charset="-120"/>
              </a:rPr>
              <a:t>SCRUM SUR UN SPRINT UNIQUE</a:t>
            </a:r>
            <a:endParaRPr lang="en-US" sz="3400" dirty="0"/>
          </a:p>
        </p:txBody>
      </p:sp>
      <p:sp>
        <p:nvSpPr>
          <p:cNvPr id="7" name="Text 5"/>
          <p:cNvSpPr txBox="1"/>
          <p:nvPr/>
        </p:nvSpPr>
        <p:spPr>
          <a:xfrm>
            <a:off x="2000250" y="1143000"/>
            <a:ext cx="8191500" cy="438150"/>
          </a:xfrm>
          <a:prstGeom prst="rect">
            <a:avLst/>
          </a:prstGeom>
          <a:noFill/>
          <a:ln/>
        </p:spPr>
        <p:txBody>
          <a:bodyPr wrap="square" lIns="0" tIns="0" rIns="0" bIns="0" rtlCol="0" anchor="t"/>
          <a:lstStyle/>
          <a:p>
            <a:pPr algn="ctr" indent="0" marL="0">
              <a:buNone/>
            </a:pPr>
            <a:r>
              <a:rPr lang="en-US" sz="1350" dirty="0">
                <a:solidFill>
                  <a:srgbClr val="E6DCBE"/>
                </a:solidFill>
                <a:latin typeface="Arial" pitchFamily="34" charset="0"/>
                <a:ea typeface="Arial" pitchFamily="34" charset="-122"/>
                <a:cs typeface="Arial" pitchFamily="34" charset="-120"/>
              </a:rPr>
              <a:t>Un sprint de trois jours, du lundi après-midi au jeudi matin.</a:t>
            </a:r>
            <a:endParaRPr lang="en-US" sz="1350" dirty="0"/>
          </a:p>
        </p:txBody>
      </p:sp>
      <p:sp>
        <p:nvSpPr>
          <p:cNvPr id="9" name="Text 6"/>
          <p:cNvSpPr txBox="1"/>
          <p:nvPr/>
        </p:nvSpPr>
        <p:spPr>
          <a:xfrm>
            <a:off x="676275" y="1809750"/>
            <a:ext cx="2186940" cy="190500"/>
          </a:xfrm>
          <a:prstGeom prst="rect">
            <a:avLst/>
          </a:prstGeom>
          <a:noFill/>
          <a:ln/>
        </p:spPr>
        <p:txBody>
          <a:bodyPr wrap="square" lIns="0" tIns="0" rIns="0" bIns="0" rtlCol="0" anchor="ctr"/>
          <a:lstStyle/>
          <a:p>
            <a:pPr indent="0" marL="0">
              <a:buNone/>
            </a:pPr>
            <a:r>
              <a:rPr lang="en-US" sz="800" b="1" spc="160" kern="0" dirty="0">
                <a:solidFill>
                  <a:srgbClr val="D9A521"/>
                </a:solidFill>
                <a:latin typeface="Consolas" pitchFamily="34" charset="0"/>
                <a:ea typeface="Consolas" pitchFamily="34" charset="-122"/>
                <a:cs typeface="Consolas" pitchFamily="34" charset="-120"/>
              </a:rPr>
              <a:t>CÉRÉMONIE</a:t>
            </a:r>
            <a:endParaRPr lang="en-US" sz="800" dirty="0"/>
          </a:p>
        </p:txBody>
      </p:sp>
      <p:sp>
        <p:nvSpPr>
          <p:cNvPr id="10" name="Text 7"/>
          <p:cNvSpPr txBox="1"/>
          <p:nvPr/>
        </p:nvSpPr>
        <p:spPr>
          <a:xfrm>
            <a:off x="2891790" y="1809750"/>
            <a:ext cx="2076450" cy="190500"/>
          </a:xfrm>
          <a:prstGeom prst="rect">
            <a:avLst/>
          </a:prstGeom>
          <a:noFill/>
          <a:ln/>
        </p:spPr>
        <p:txBody>
          <a:bodyPr wrap="square" lIns="0" tIns="0" rIns="0" bIns="0" rtlCol="0" anchor="ctr"/>
          <a:lstStyle/>
          <a:p>
            <a:pPr indent="0" marL="0">
              <a:buNone/>
            </a:pPr>
            <a:r>
              <a:rPr lang="en-US" sz="800" b="1" spc="160" kern="0" dirty="0">
                <a:solidFill>
                  <a:srgbClr val="D9A521"/>
                </a:solidFill>
                <a:latin typeface="Consolas" pitchFamily="34" charset="0"/>
                <a:ea typeface="Consolas" pitchFamily="34" charset="-122"/>
                <a:cs typeface="Consolas" pitchFamily="34" charset="-120"/>
              </a:rPr>
              <a:t>QUAND</a:t>
            </a:r>
            <a:endParaRPr lang="en-US" sz="800" dirty="0"/>
          </a:p>
        </p:txBody>
      </p:sp>
      <p:sp>
        <p:nvSpPr>
          <p:cNvPr id="11" name="Text 8"/>
          <p:cNvSpPr txBox="1"/>
          <p:nvPr/>
        </p:nvSpPr>
        <p:spPr>
          <a:xfrm>
            <a:off x="5101590" y="1809750"/>
            <a:ext cx="6385560" cy="190500"/>
          </a:xfrm>
          <a:prstGeom prst="rect">
            <a:avLst/>
          </a:prstGeom>
          <a:noFill/>
          <a:ln/>
        </p:spPr>
        <p:txBody>
          <a:bodyPr wrap="square" lIns="0" tIns="0" rIns="0" bIns="0" rtlCol="0" anchor="ctr"/>
          <a:lstStyle/>
          <a:p>
            <a:pPr indent="0" marL="0">
              <a:buNone/>
            </a:pPr>
            <a:r>
              <a:rPr lang="en-US" sz="800" b="1" spc="160" kern="0" dirty="0">
                <a:solidFill>
                  <a:srgbClr val="D9A521"/>
                </a:solidFill>
                <a:latin typeface="Consolas" pitchFamily="34" charset="0"/>
                <a:ea typeface="Consolas" pitchFamily="34" charset="-122"/>
                <a:cs typeface="Consolas" pitchFamily="34" charset="-120"/>
              </a:rPr>
              <a:t>CE QU'ON Y A FAIT</a:t>
            </a:r>
            <a:endParaRPr lang="en-US" sz="800" dirty="0"/>
          </a:p>
        </p:txBody>
      </p:sp>
      <p:sp>
        <p:nvSpPr>
          <p:cNvPr id="12" name="Shape 9"/>
          <p:cNvSpPr/>
          <p:nvPr/>
        </p:nvSpPr>
        <p:spPr>
          <a:xfrm>
            <a:off x="571500" y="2038350"/>
            <a:ext cx="11049000" cy="0"/>
          </a:xfrm>
          <a:prstGeom prst="line">
            <a:avLst/>
          </a:prstGeom>
          <a:noFill/>
          <a:ln w="9525">
            <a:solidFill>
              <a:srgbClr val="D9A521">
                <a:alpha val="55000"/>
              </a:srgbClr>
            </a:solidFill>
            <a:prstDash val="solid"/>
          </a:ln>
        </p:spPr>
      </p:sp>
      <p:sp>
        <p:nvSpPr>
          <p:cNvPr id="13" name="Text 10"/>
          <p:cNvSpPr txBox="1"/>
          <p:nvPr/>
        </p:nvSpPr>
        <p:spPr>
          <a:xfrm>
            <a:off x="676275" y="2095500"/>
            <a:ext cx="2186940" cy="476250"/>
          </a:xfrm>
          <a:prstGeom prst="rect">
            <a:avLst/>
          </a:prstGeom>
          <a:noFill/>
          <a:ln/>
        </p:spPr>
        <p:txBody>
          <a:bodyPr wrap="square" lIns="0" tIns="0" rIns="0" bIns="0" rtlCol="0" anchor="ctr"/>
          <a:lstStyle/>
          <a:p>
            <a:pPr indent="0" marL="0">
              <a:lnSpc>
                <a:spcPct val="110000"/>
              </a:lnSpc>
              <a:buNone/>
            </a:pPr>
            <a:r>
              <a:rPr lang="en-US" sz="1150" dirty="0">
                <a:solidFill>
                  <a:srgbClr val="F3E4B0"/>
                </a:solidFill>
                <a:latin typeface="Impact" pitchFamily="34" charset="0"/>
                <a:ea typeface="Impact" pitchFamily="34" charset="-122"/>
                <a:cs typeface="Impact" pitchFamily="34" charset="-120"/>
              </a:rPr>
              <a:t>Sprint Planning</a:t>
            </a:r>
            <a:endParaRPr lang="en-US" sz="1150" dirty="0"/>
          </a:p>
        </p:txBody>
      </p:sp>
      <p:sp>
        <p:nvSpPr>
          <p:cNvPr id="14" name="Text 11"/>
          <p:cNvSpPr txBox="1"/>
          <p:nvPr/>
        </p:nvSpPr>
        <p:spPr>
          <a:xfrm>
            <a:off x="2891790" y="2095500"/>
            <a:ext cx="2076450" cy="4762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Lundi PM</a:t>
            </a:r>
            <a:endParaRPr lang="en-US" sz="1050" dirty="0"/>
          </a:p>
        </p:txBody>
      </p:sp>
      <p:sp>
        <p:nvSpPr>
          <p:cNvPr id="15" name="Text 12"/>
          <p:cNvSpPr txBox="1"/>
          <p:nvPr/>
        </p:nvSpPr>
        <p:spPr>
          <a:xfrm>
            <a:off x="5101590" y="2095500"/>
            <a:ext cx="6385560" cy="4762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Cadrage du concept, découpage en user stories, priorisation par le Product Owner</a:t>
            </a:r>
            <a:endParaRPr lang="en-US" sz="1050" dirty="0"/>
          </a:p>
        </p:txBody>
      </p:sp>
      <p:sp>
        <p:nvSpPr>
          <p:cNvPr id="16" name="Shape 13"/>
          <p:cNvSpPr/>
          <p:nvPr/>
        </p:nvSpPr>
        <p:spPr>
          <a:xfrm>
            <a:off x="571500" y="2571750"/>
            <a:ext cx="11049000" cy="0"/>
          </a:xfrm>
          <a:prstGeom prst="line">
            <a:avLst/>
          </a:prstGeom>
          <a:noFill/>
          <a:ln w="6350">
            <a:solidFill>
              <a:srgbClr val="FFFFFF">
                <a:alpha val="12000"/>
              </a:srgbClr>
            </a:solidFill>
            <a:prstDash val="solid"/>
          </a:ln>
        </p:spPr>
      </p:sp>
      <p:sp>
        <p:nvSpPr>
          <p:cNvPr id="17" name="Text 14"/>
          <p:cNvSpPr txBox="1"/>
          <p:nvPr/>
        </p:nvSpPr>
        <p:spPr>
          <a:xfrm>
            <a:off x="676275" y="2590800"/>
            <a:ext cx="2186940" cy="476250"/>
          </a:xfrm>
          <a:prstGeom prst="rect">
            <a:avLst/>
          </a:prstGeom>
          <a:noFill/>
          <a:ln/>
        </p:spPr>
        <p:txBody>
          <a:bodyPr wrap="square" lIns="0" tIns="0" rIns="0" bIns="0" rtlCol="0" anchor="ctr"/>
          <a:lstStyle/>
          <a:p>
            <a:pPr indent="0" marL="0">
              <a:lnSpc>
                <a:spcPct val="110000"/>
              </a:lnSpc>
              <a:buNone/>
            </a:pPr>
            <a:r>
              <a:rPr lang="en-US" sz="1150" dirty="0">
                <a:solidFill>
                  <a:srgbClr val="F3E4B0"/>
                </a:solidFill>
                <a:latin typeface="Impact" pitchFamily="34" charset="0"/>
                <a:ea typeface="Impact" pitchFamily="34" charset="-122"/>
                <a:cs typeface="Impact" pitchFamily="34" charset="-120"/>
              </a:rPr>
              <a:t>Daily Meeting</a:t>
            </a:r>
            <a:endParaRPr lang="en-US" sz="1150" dirty="0"/>
          </a:p>
        </p:txBody>
      </p:sp>
      <p:sp>
        <p:nvSpPr>
          <p:cNvPr id="18" name="Text 15"/>
          <p:cNvSpPr txBox="1"/>
          <p:nvPr/>
        </p:nvSpPr>
        <p:spPr>
          <a:xfrm>
            <a:off x="2891790" y="2590800"/>
            <a:ext cx="2076450" cy="4762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Chaque demi-journée</a:t>
            </a:r>
            <a:endParaRPr lang="en-US" sz="1050" dirty="0"/>
          </a:p>
        </p:txBody>
      </p:sp>
      <p:sp>
        <p:nvSpPr>
          <p:cNvPr id="19" name="Text 16"/>
          <p:cNvSpPr txBox="1"/>
          <p:nvPr/>
        </p:nvSpPr>
        <p:spPr>
          <a:xfrm>
            <a:off x="5101590" y="2590800"/>
            <a:ext cx="6385560" cy="4762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Tour de table de moins de 15 minutes : fait, à faire, blocages</a:t>
            </a:r>
            <a:endParaRPr lang="en-US" sz="1050" dirty="0"/>
          </a:p>
        </p:txBody>
      </p:sp>
      <p:sp>
        <p:nvSpPr>
          <p:cNvPr id="20" name="Shape 17"/>
          <p:cNvSpPr/>
          <p:nvPr/>
        </p:nvSpPr>
        <p:spPr>
          <a:xfrm>
            <a:off x="571500" y="3067050"/>
            <a:ext cx="11049000" cy="0"/>
          </a:xfrm>
          <a:prstGeom prst="line">
            <a:avLst/>
          </a:prstGeom>
          <a:noFill/>
          <a:ln w="6350">
            <a:solidFill>
              <a:srgbClr val="FFFFFF">
                <a:alpha val="12000"/>
              </a:srgbClr>
            </a:solidFill>
            <a:prstDash val="solid"/>
          </a:ln>
        </p:spPr>
      </p:sp>
      <p:sp>
        <p:nvSpPr>
          <p:cNvPr id="21" name="Text 18"/>
          <p:cNvSpPr txBox="1"/>
          <p:nvPr/>
        </p:nvSpPr>
        <p:spPr>
          <a:xfrm>
            <a:off x="676275" y="3086100"/>
            <a:ext cx="2186940" cy="476250"/>
          </a:xfrm>
          <a:prstGeom prst="rect">
            <a:avLst/>
          </a:prstGeom>
          <a:noFill/>
          <a:ln/>
        </p:spPr>
        <p:txBody>
          <a:bodyPr wrap="square" lIns="0" tIns="0" rIns="0" bIns="0" rtlCol="0" anchor="ctr"/>
          <a:lstStyle/>
          <a:p>
            <a:pPr indent="0" marL="0">
              <a:lnSpc>
                <a:spcPct val="110000"/>
              </a:lnSpc>
              <a:buNone/>
            </a:pPr>
            <a:r>
              <a:rPr lang="en-US" sz="1150" dirty="0">
                <a:solidFill>
                  <a:srgbClr val="F3E4B0"/>
                </a:solidFill>
                <a:latin typeface="Impact" pitchFamily="34" charset="0"/>
                <a:ea typeface="Impact" pitchFamily="34" charset="-122"/>
                <a:cs typeface="Impact" pitchFamily="34" charset="-120"/>
              </a:rPr>
              <a:t>Planning Poker</a:t>
            </a:r>
            <a:endParaRPr lang="en-US" sz="1150" dirty="0"/>
          </a:p>
        </p:txBody>
      </p:sp>
      <p:sp>
        <p:nvSpPr>
          <p:cNvPr id="22" name="Text 19"/>
          <p:cNvSpPr txBox="1"/>
          <p:nvPr/>
        </p:nvSpPr>
        <p:spPr>
          <a:xfrm>
            <a:off x="2891790" y="3086100"/>
            <a:ext cx="2076450" cy="4762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Mercredi</a:t>
            </a:r>
            <a:endParaRPr lang="en-US" sz="1050" dirty="0"/>
          </a:p>
        </p:txBody>
      </p:sp>
      <p:sp>
        <p:nvSpPr>
          <p:cNvPr id="23" name="Text 20"/>
          <p:cNvSpPr txBox="1"/>
          <p:nvPr/>
        </p:nvSpPr>
        <p:spPr>
          <a:xfrm>
            <a:off x="5101590" y="3086100"/>
            <a:ext cx="6385560" cy="4762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Estimation collective en points ; le PO clarifie le besoin, l'équipe vote</a:t>
            </a:r>
            <a:endParaRPr lang="en-US" sz="1050" dirty="0"/>
          </a:p>
        </p:txBody>
      </p:sp>
      <p:sp>
        <p:nvSpPr>
          <p:cNvPr id="24" name="Shape 21"/>
          <p:cNvSpPr/>
          <p:nvPr/>
        </p:nvSpPr>
        <p:spPr>
          <a:xfrm>
            <a:off x="571500" y="3562350"/>
            <a:ext cx="11049000" cy="0"/>
          </a:xfrm>
          <a:prstGeom prst="line">
            <a:avLst/>
          </a:prstGeom>
          <a:noFill/>
          <a:ln w="6350">
            <a:solidFill>
              <a:srgbClr val="FFFFFF">
                <a:alpha val="12000"/>
              </a:srgbClr>
            </a:solidFill>
            <a:prstDash val="solid"/>
          </a:ln>
        </p:spPr>
      </p:sp>
      <p:sp>
        <p:nvSpPr>
          <p:cNvPr id="25" name="Text 22"/>
          <p:cNvSpPr txBox="1"/>
          <p:nvPr/>
        </p:nvSpPr>
        <p:spPr>
          <a:xfrm>
            <a:off x="676275" y="3581400"/>
            <a:ext cx="2186940" cy="476250"/>
          </a:xfrm>
          <a:prstGeom prst="rect">
            <a:avLst/>
          </a:prstGeom>
          <a:noFill/>
          <a:ln/>
        </p:spPr>
        <p:txBody>
          <a:bodyPr wrap="square" lIns="0" tIns="0" rIns="0" bIns="0" rtlCol="0" anchor="ctr"/>
          <a:lstStyle/>
          <a:p>
            <a:pPr indent="0" marL="0">
              <a:lnSpc>
                <a:spcPct val="110000"/>
              </a:lnSpc>
              <a:buNone/>
            </a:pPr>
            <a:r>
              <a:rPr lang="en-US" sz="1150" dirty="0">
                <a:solidFill>
                  <a:srgbClr val="F3E4B0"/>
                </a:solidFill>
                <a:latin typeface="Impact" pitchFamily="34" charset="0"/>
                <a:ea typeface="Impact" pitchFamily="34" charset="-122"/>
                <a:cs typeface="Impact" pitchFamily="34" charset="-120"/>
              </a:rPr>
              <a:t>Sprint Review</a:t>
            </a:r>
            <a:endParaRPr lang="en-US" sz="1150" dirty="0"/>
          </a:p>
        </p:txBody>
      </p:sp>
      <p:sp>
        <p:nvSpPr>
          <p:cNvPr id="26" name="Text 23"/>
          <p:cNvSpPr txBox="1"/>
          <p:nvPr/>
        </p:nvSpPr>
        <p:spPr>
          <a:xfrm>
            <a:off x="2891790" y="3581400"/>
            <a:ext cx="2076450" cy="4762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Jeudi AM</a:t>
            </a:r>
            <a:endParaRPr lang="en-US" sz="1050" dirty="0"/>
          </a:p>
        </p:txBody>
      </p:sp>
      <p:sp>
        <p:nvSpPr>
          <p:cNvPr id="27" name="Text 24"/>
          <p:cNvSpPr txBox="1"/>
          <p:nvPr/>
        </p:nvSpPr>
        <p:spPr>
          <a:xfrm>
            <a:off x="5101590" y="3581400"/>
            <a:ext cx="6385560" cy="4762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Démonstration en conditions réelles avec l'équipe Médecin, sur deux postes</a:t>
            </a:r>
            <a:endParaRPr lang="en-US" sz="1050" dirty="0"/>
          </a:p>
        </p:txBody>
      </p:sp>
      <p:sp>
        <p:nvSpPr>
          <p:cNvPr id="28" name="Shape 25"/>
          <p:cNvSpPr/>
          <p:nvPr/>
        </p:nvSpPr>
        <p:spPr>
          <a:xfrm>
            <a:off x="571500" y="4057650"/>
            <a:ext cx="11049000" cy="0"/>
          </a:xfrm>
          <a:prstGeom prst="line">
            <a:avLst/>
          </a:prstGeom>
          <a:noFill/>
          <a:ln w="6350">
            <a:solidFill>
              <a:srgbClr val="FFFFFF">
                <a:alpha val="12000"/>
              </a:srgbClr>
            </a:solidFill>
            <a:prstDash val="solid"/>
          </a:ln>
        </p:spPr>
      </p:sp>
      <p:sp>
        <p:nvSpPr>
          <p:cNvPr id="29" name="Text 26"/>
          <p:cNvSpPr txBox="1"/>
          <p:nvPr/>
        </p:nvSpPr>
        <p:spPr>
          <a:xfrm>
            <a:off x="676275" y="4076700"/>
            <a:ext cx="2186940" cy="476250"/>
          </a:xfrm>
          <a:prstGeom prst="rect">
            <a:avLst/>
          </a:prstGeom>
          <a:noFill/>
          <a:ln/>
        </p:spPr>
        <p:txBody>
          <a:bodyPr wrap="square" lIns="0" tIns="0" rIns="0" bIns="0" rtlCol="0" anchor="ctr"/>
          <a:lstStyle/>
          <a:p>
            <a:pPr indent="0" marL="0">
              <a:lnSpc>
                <a:spcPct val="110000"/>
              </a:lnSpc>
              <a:buNone/>
            </a:pPr>
            <a:r>
              <a:rPr lang="en-US" sz="1150" dirty="0">
                <a:solidFill>
                  <a:srgbClr val="F3E4B0"/>
                </a:solidFill>
                <a:latin typeface="Impact" pitchFamily="34" charset="0"/>
                <a:ea typeface="Impact" pitchFamily="34" charset="-122"/>
                <a:cs typeface="Impact" pitchFamily="34" charset="-120"/>
              </a:rPr>
              <a:t>Rétrospective</a:t>
            </a:r>
            <a:endParaRPr lang="en-US" sz="1150" dirty="0"/>
          </a:p>
        </p:txBody>
      </p:sp>
      <p:sp>
        <p:nvSpPr>
          <p:cNvPr id="30" name="Text 27"/>
          <p:cNvSpPr txBox="1"/>
          <p:nvPr/>
        </p:nvSpPr>
        <p:spPr>
          <a:xfrm>
            <a:off x="2891790" y="4076700"/>
            <a:ext cx="2076450" cy="4762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Jeudi AM</a:t>
            </a:r>
            <a:endParaRPr lang="en-US" sz="1050" dirty="0"/>
          </a:p>
        </p:txBody>
      </p:sp>
      <p:sp>
        <p:nvSpPr>
          <p:cNvPr id="31" name="Text 28"/>
          <p:cNvSpPr txBox="1"/>
          <p:nvPr/>
        </p:nvSpPr>
        <p:spPr>
          <a:xfrm>
            <a:off x="5101590" y="4076700"/>
            <a:ext cx="6385560" cy="4762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Bilan à froid animé par le Scrum Master</a:t>
            </a:r>
            <a:endParaRPr lang="en-US" sz="1050" dirty="0"/>
          </a:p>
        </p:txBody>
      </p:sp>
      <p:sp>
        <p:nvSpPr>
          <p:cNvPr id="32" name="Shape 29"/>
          <p:cNvSpPr/>
          <p:nvPr/>
        </p:nvSpPr>
        <p:spPr>
          <a:xfrm>
            <a:off x="571500" y="4552950"/>
            <a:ext cx="11049000" cy="0"/>
          </a:xfrm>
          <a:prstGeom prst="line">
            <a:avLst/>
          </a:prstGeom>
          <a:noFill/>
          <a:ln w="6350">
            <a:solidFill>
              <a:srgbClr val="FFFFFF">
                <a:alpha val="12000"/>
              </a:srgbClr>
            </a:solidFill>
            <a:prstDash val="solid"/>
          </a:ln>
        </p:spPr>
      </p:sp>
      <p:sp>
        <p:nvSpPr>
          <p:cNvPr id="33" name="Text 30"/>
          <p:cNvSpPr txBox="1"/>
          <p:nvPr/>
        </p:nvSpPr>
        <p:spPr>
          <a:xfrm>
            <a:off x="571500" y="4762500"/>
            <a:ext cx="11049000" cy="228600"/>
          </a:xfrm>
          <a:prstGeom prst="rect">
            <a:avLst/>
          </a:prstGeom>
          <a:noFill/>
          <a:ln/>
        </p:spPr>
        <p:txBody>
          <a:bodyPr wrap="square" lIns="0" tIns="0" rIns="0" bIns="0" rtlCol="0" anchor="ctr"/>
          <a:lstStyle/>
          <a:p>
            <a:pPr indent="0" marL="0">
              <a:buNone/>
            </a:pPr>
            <a:r>
              <a:rPr lang="en-US" sz="1050" dirty="0">
                <a:solidFill>
                  <a:srgbClr val="8FAE95"/>
                </a:solidFill>
                <a:latin typeface="Arial" pitchFamily="34" charset="0"/>
                <a:ea typeface="Arial" pitchFamily="34" charset="-122"/>
                <a:cs typeface="Arial" pitchFamily="34" charset="-120"/>
              </a:rPr>
              <a:t>Six Daily Meetings sur les six demi-journées du sprint. Sur trois jours, le Sprint Backlog représente presque tout le projet.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09550" y="6610350"/>
            <a:ext cx="3429000" cy="190500"/>
          </a:xfrm>
          <a:prstGeom prst="rect">
            <a:avLst/>
          </a:prstGeom>
          <a:noFill/>
          <a:ln/>
        </p:spPr>
        <p:txBody>
          <a:bodyPr wrap="square" lIns="0" tIns="0" rIns="0" bIns="0" rtlCol="0" anchor="ctr"/>
          <a:lstStyle/>
          <a:p>
            <a:pPr indent="0" marL="0">
              <a:buNone/>
            </a:pPr>
            <a:r>
              <a:rPr lang="en-US" sz="750" spc="140" kern="0" dirty="0">
                <a:solidFill>
                  <a:srgbClr val="D9A521"/>
                </a:solidFill>
                <a:latin typeface="Consolas" pitchFamily="34" charset="0"/>
                <a:ea typeface="Consolas" pitchFamily="34" charset="-122"/>
                <a:cs typeface="Consolas" pitchFamily="34" charset="-120"/>
              </a:rPr>
              <a:t>NEIROUZ · PRODUCT OWNER</a:t>
            </a:r>
            <a:endParaRPr lang="en-US" sz="750" dirty="0"/>
          </a:p>
        </p:txBody>
      </p:sp>
      <p:sp>
        <p:nvSpPr>
          <p:cNvPr id="3" name="Text 1"/>
          <p:cNvSpPr txBox="1"/>
          <p:nvPr/>
        </p:nvSpPr>
        <p:spPr>
          <a:xfrm>
            <a:off x="4000500" y="6610350"/>
            <a:ext cx="4191000" cy="190500"/>
          </a:xfrm>
          <a:prstGeom prst="rect">
            <a:avLst/>
          </a:prstGeom>
          <a:noFill/>
          <a:ln/>
        </p:spPr>
        <p:txBody>
          <a:bodyPr wrap="square" lIns="0" tIns="0" rIns="0" bIns="0" rtlCol="0" anchor="ctr"/>
          <a:lstStyle/>
          <a:p>
            <a:pPr algn="ct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4" name="Text 2"/>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≈60 s · 3:25</a:t>
            </a:r>
            <a:endParaRPr lang="en-US" sz="750" dirty="0"/>
          </a:p>
        </p:txBody>
      </p:sp>
      <p:sp>
        <p:nvSpPr>
          <p:cNvPr id="5" name="Text 3"/>
          <p:cNvSpPr txBox="1"/>
          <p:nvPr/>
        </p:nvSpPr>
        <p:spPr>
          <a:xfrm>
            <a:off x="571500" y="323850"/>
            <a:ext cx="11049000" cy="190500"/>
          </a:xfrm>
          <a:prstGeom prst="rect">
            <a:avLst/>
          </a:prstGeom>
          <a:noFill/>
          <a:ln/>
        </p:spPr>
        <p:txBody>
          <a:bodyPr wrap="square" lIns="0" tIns="0" rIns="0" bIns="0" rtlCol="0" anchor="ctr"/>
          <a:lstStyle/>
          <a:p>
            <a:pPr algn="ctr" indent="0" marL="0">
              <a:buNone/>
            </a:pPr>
            <a:r>
              <a:rPr lang="en-US" sz="850" b="1" spc="400" kern="0" dirty="0">
                <a:solidFill>
                  <a:srgbClr val="D9A521"/>
                </a:solidFill>
                <a:latin typeface="Consolas" pitchFamily="34" charset="0"/>
                <a:ea typeface="Consolas" pitchFamily="34" charset="-122"/>
                <a:cs typeface="Consolas" pitchFamily="34" charset="-120"/>
              </a:rPr>
              <a:t>02 · DÉMARCHE PROJET</a:t>
            </a:r>
            <a:endParaRPr lang="en-US" sz="850" dirty="0"/>
          </a:p>
        </p:txBody>
      </p:sp>
      <p:sp>
        <p:nvSpPr>
          <p:cNvPr id="6" name="Text 4"/>
          <p:cNvSpPr txBox="1"/>
          <p:nvPr/>
        </p:nvSpPr>
        <p:spPr>
          <a:xfrm>
            <a:off x="571500" y="514350"/>
            <a:ext cx="11049000" cy="609600"/>
          </a:xfrm>
          <a:prstGeom prst="rect">
            <a:avLst/>
          </a:prstGeom>
          <a:noFill/>
          <a:ln/>
          <a:effectLst>
            <a:outerShdw sx="100000" sy="100000" kx="0" ky="0" algn="bl" rotWithShape="0" blurRad="101600" dist="38100" dir="2700000">
              <a:srgbClr val="A02C1E">
                <a:alpha val="100000"/>
              </a:srgbClr>
            </a:outerShdw>
          </a:effectLst>
        </p:spPr>
        <p:txBody>
          <a:bodyPr wrap="square" lIns="0" tIns="0" rIns="0" bIns="0" rtlCol="0" anchor="ctr"/>
          <a:lstStyle/>
          <a:p>
            <a:pPr algn="ctr" indent="0" marL="0">
              <a:buNone/>
            </a:pPr>
            <a:r>
              <a:rPr lang="en-US" sz="3400" dirty="0">
                <a:solidFill>
                  <a:srgbClr val="F3E4B0"/>
                </a:solidFill>
                <a:latin typeface="Impact" pitchFamily="34" charset="0"/>
                <a:ea typeface="Impact" pitchFamily="34" charset="-122"/>
                <a:cs typeface="Impact" pitchFamily="34" charset="-120"/>
              </a:rPr>
              <a:t>LE PRODUCT BACKLOG</a:t>
            </a:r>
            <a:endParaRPr lang="en-US" sz="3400" dirty="0"/>
          </a:p>
        </p:txBody>
      </p:sp>
      <p:sp>
        <p:nvSpPr>
          <p:cNvPr id="7" name="Text 5"/>
          <p:cNvSpPr txBox="1"/>
          <p:nvPr/>
        </p:nvSpPr>
        <p:spPr>
          <a:xfrm>
            <a:off x="2000250" y="1143000"/>
            <a:ext cx="8191500" cy="438150"/>
          </a:xfrm>
          <a:prstGeom prst="rect">
            <a:avLst/>
          </a:prstGeom>
          <a:noFill/>
          <a:ln/>
        </p:spPr>
        <p:txBody>
          <a:bodyPr wrap="square" lIns="0" tIns="0" rIns="0" bIns="0" rtlCol="0" anchor="t"/>
          <a:lstStyle/>
          <a:p>
            <a:pPr algn="ctr" indent="0" marL="0">
              <a:buNone/>
            </a:pPr>
            <a:r>
              <a:rPr lang="en-US" sz="1350" dirty="0">
                <a:solidFill>
                  <a:srgbClr val="E6DCBE"/>
                </a:solidFill>
                <a:latin typeface="Arial" pitchFamily="34" charset="0"/>
                <a:ea typeface="Arial" pitchFamily="34" charset="-122"/>
                <a:cs typeface="Arial" pitchFamily="34" charset="-120"/>
              </a:rPr>
              <a:t>Priorisé par la valeur pour le patient, puis typé carte par carte.</a:t>
            </a:r>
            <a:endParaRPr lang="en-US" sz="1350" dirty="0"/>
          </a:p>
        </p:txBody>
      </p:sp>
      <p:sp>
        <p:nvSpPr>
          <p:cNvPr id="9" name="Shape 6"/>
          <p:cNvSpPr/>
          <p:nvPr/>
        </p:nvSpPr>
        <p:spPr>
          <a:xfrm>
            <a:off x="571500" y="1771650"/>
            <a:ext cx="5334000" cy="2381250"/>
          </a:xfrm>
          <a:prstGeom prst="rect">
            <a:avLst/>
          </a:prstGeom>
          <a:solidFill>
            <a:srgbClr val="F4E3AB"/>
          </a:solidFill>
          <a:ln/>
          <a:effectLst>
            <a:outerShdw sx="100000" sy="100000" kx="0" ky="0" algn="bl" rotWithShape="0" blurRad="101600" dist="57150" dir="2700000">
              <a:srgbClr val="A02C1E">
                <a:alpha val="100000"/>
              </a:srgbClr>
            </a:outerShdw>
          </a:effectLst>
        </p:spPr>
      </p:sp>
      <p:pic>
        <p:nvPicPr>
          <p:cNvPr id="10" name="Image 0" descr="storymap.jpg">    </p:cNvPr>
          <p:cNvPicPr>
            <a:picLocks noChangeAspect="1"/>
          </p:cNvPicPr>
          <p:nvPr/>
        </p:nvPicPr>
        <p:blipFill>
          <a:blip r:embed="rId2"/>
          <a:srcRect l="0" r="0" t="0" b="0"/>
          <a:stretch/>
        </p:blipFill>
        <p:spPr>
          <a:xfrm>
            <a:off x="647700" y="1847850"/>
            <a:ext cx="5181600" cy="2228850"/>
          </a:xfrm>
          <a:prstGeom prst="rect">
            <a:avLst/>
          </a:prstGeom>
        </p:spPr>
      </p:pic>
      <p:sp>
        <p:nvSpPr>
          <p:cNvPr id="11" name="Text 7"/>
          <p:cNvSpPr txBox="1"/>
          <p:nvPr/>
        </p:nvSpPr>
        <p:spPr>
          <a:xfrm>
            <a:off x="571500" y="4210050"/>
            <a:ext cx="5334000" cy="209550"/>
          </a:xfrm>
          <a:prstGeom prst="rect">
            <a:avLst/>
          </a:prstGeom>
          <a:noFill/>
          <a:ln/>
        </p:spPr>
        <p:txBody>
          <a:bodyPr wrap="square" lIns="0" tIns="0" rIns="0" bIns="0" rtlCol="0" anchor="ctr"/>
          <a:lstStyle/>
          <a:p>
            <a:pPr indent="0" marL="0">
              <a:buNone/>
            </a:pPr>
            <a:r>
              <a:rPr lang="en-US" sz="950" dirty="0">
                <a:solidFill>
                  <a:srgbClr val="8FAE95"/>
                </a:solidFill>
                <a:latin typeface="Arial" pitchFamily="34" charset="0"/>
                <a:ea typeface="Arial" pitchFamily="34" charset="-122"/>
                <a:cs typeface="Arial" pitchFamily="34" charset="-120"/>
              </a:rPr>
              <a:t>Notre story map : les cartes classées par type, pas par ordre d'arrivée.</a:t>
            </a:r>
            <a:endParaRPr lang="en-US" sz="950" dirty="0"/>
          </a:p>
        </p:txBody>
      </p:sp>
      <p:sp>
        <p:nvSpPr>
          <p:cNvPr id="12" name="Shape 8"/>
          <p:cNvSpPr/>
          <p:nvPr/>
        </p:nvSpPr>
        <p:spPr>
          <a:xfrm>
            <a:off x="6096000" y="1771650"/>
            <a:ext cx="5524500" cy="2381250"/>
          </a:xfrm>
          <a:prstGeom prst="rect">
            <a:avLst/>
          </a:prstGeom>
          <a:solidFill>
            <a:srgbClr val="061711">
              <a:alpha val="45000"/>
            </a:srgbClr>
          </a:solidFill>
          <a:ln w="15875">
            <a:solidFill>
              <a:srgbClr val="D9A521"/>
            </a:solidFill>
            <a:prstDash val="dash"/>
          </a:ln>
        </p:spPr>
      </p:sp>
      <p:sp>
        <p:nvSpPr>
          <p:cNvPr id="13" name="Text 9"/>
          <p:cNvSpPr txBox="1"/>
          <p:nvPr/>
        </p:nvSpPr>
        <p:spPr>
          <a:xfrm>
            <a:off x="6191250" y="2714625"/>
            <a:ext cx="5334000" cy="190500"/>
          </a:xfrm>
          <a:prstGeom prst="rect">
            <a:avLst/>
          </a:prstGeom>
          <a:noFill/>
          <a:ln/>
        </p:spPr>
        <p:txBody>
          <a:bodyPr wrap="square" lIns="0" tIns="0" rIns="0" bIns="0" rtlCol="0" anchor="ctr"/>
          <a:lstStyle/>
          <a:p>
            <a:pPr algn="ctr" indent="0" marL="0">
              <a:buNone/>
            </a:pPr>
            <a:r>
              <a:rPr lang="en-US" sz="900" b="1" spc="140" kern="0" dirty="0">
                <a:solidFill>
                  <a:srgbClr val="D9A521"/>
                </a:solidFill>
                <a:latin typeface="Consolas" pitchFamily="34" charset="0"/>
                <a:ea typeface="Consolas" pitchFamily="34" charset="-122"/>
                <a:cs typeface="Consolas" pitchFamily="34" charset="-120"/>
              </a:rPr>
              <a:t>COLLER LA CAPTURE ICI</a:t>
            </a:r>
            <a:endParaRPr lang="en-US" sz="900" dirty="0"/>
          </a:p>
        </p:txBody>
      </p:sp>
      <p:sp>
        <p:nvSpPr>
          <p:cNvPr id="14" name="Text 10"/>
          <p:cNvSpPr txBox="1"/>
          <p:nvPr/>
        </p:nvSpPr>
        <p:spPr>
          <a:xfrm>
            <a:off x="6229350" y="2943225"/>
            <a:ext cx="5257800" cy="381000"/>
          </a:xfrm>
          <a:prstGeom prst="rect">
            <a:avLst/>
          </a:prstGeom>
          <a:noFill/>
          <a:ln/>
        </p:spPr>
        <p:txBody>
          <a:bodyPr wrap="square" lIns="0" tIns="0" rIns="0" bIns="0" rtlCol="0" anchor="t"/>
          <a:lstStyle/>
          <a:p>
            <a:pPr algn="ctr" indent="0" marL="0">
              <a:buNone/>
            </a:pPr>
            <a:r>
              <a:rPr lang="en-US" sz="950" dirty="0">
                <a:solidFill>
                  <a:srgbClr val="CFDFD2"/>
                </a:solidFill>
                <a:latin typeface="Arial" pitchFamily="34" charset="0"/>
                <a:ea typeface="Arial" pitchFamily="34" charset="-122"/>
                <a:cs typeface="Arial" pitchFamily="34" charset="-120"/>
              </a:rPr>
              <a:t>Board « Product Backlog » en vue tableau : type, points, priorité</a:t>
            </a:r>
            <a:endParaRPr lang="en-US" sz="950" dirty="0"/>
          </a:p>
        </p:txBody>
      </p:sp>
      <p:sp>
        <p:nvSpPr>
          <p:cNvPr id="15" name="Shape 11"/>
          <p:cNvSpPr/>
          <p:nvPr/>
        </p:nvSpPr>
        <p:spPr>
          <a:xfrm>
            <a:off x="571500" y="4572000"/>
            <a:ext cx="2669381" cy="533400"/>
          </a:xfrm>
          <a:prstGeom prst="rect">
            <a:avLst/>
          </a:prstGeom>
          <a:solidFill>
            <a:srgbClr val="F4E3AB"/>
          </a:solidFill>
          <a:ln/>
          <a:effectLst>
            <a:outerShdw sx="100000" sy="100000" kx="0" ky="0" algn="bl" rotWithShape="0" blurRad="101600" dist="47625" dir="2700000">
              <a:srgbClr val="A02C1E">
                <a:alpha val="100000"/>
              </a:srgbClr>
            </a:outerShdw>
          </a:effectLst>
        </p:spPr>
      </p:sp>
      <p:sp>
        <p:nvSpPr>
          <p:cNvPr id="16" name="Text 12"/>
          <p:cNvSpPr txBox="1"/>
          <p:nvPr/>
        </p:nvSpPr>
        <p:spPr>
          <a:xfrm>
            <a:off x="704850" y="4572000"/>
            <a:ext cx="1121140" cy="533400"/>
          </a:xfrm>
          <a:prstGeom prst="rect">
            <a:avLst/>
          </a:prstGeom>
          <a:noFill/>
          <a:ln/>
        </p:spPr>
        <p:txBody>
          <a:bodyPr wrap="square" lIns="0" tIns="0" rIns="0" bIns="0" rtlCol="0" anchor="ctr"/>
          <a:lstStyle/>
          <a:p>
            <a:pPr indent="0" marL="0">
              <a:buNone/>
            </a:pPr>
            <a:r>
              <a:rPr lang="en-US" sz="1900" dirty="0">
                <a:solidFill>
                  <a:srgbClr val="A02C1E"/>
                </a:solidFill>
                <a:latin typeface="Impact" pitchFamily="34" charset="0"/>
                <a:ea typeface="Impact" pitchFamily="34" charset="-122"/>
                <a:cs typeface="Impact" pitchFamily="34" charset="-120"/>
              </a:rPr>
              <a:t>7</a:t>
            </a:r>
            <a:endParaRPr lang="en-US" sz="1900" dirty="0"/>
          </a:p>
        </p:txBody>
      </p:sp>
      <p:sp>
        <p:nvSpPr>
          <p:cNvPr id="17" name="Text 13"/>
          <p:cNvSpPr txBox="1"/>
          <p:nvPr/>
        </p:nvSpPr>
        <p:spPr>
          <a:xfrm>
            <a:off x="1692640" y="4572000"/>
            <a:ext cx="1414891" cy="533400"/>
          </a:xfrm>
          <a:prstGeom prst="rect">
            <a:avLst/>
          </a:prstGeom>
          <a:noFill/>
          <a:ln/>
        </p:spPr>
        <p:txBody>
          <a:bodyPr wrap="square" lIns="0" tIns="0" rIns="0" bIns="0" rtlCol="0" anchor="ctr"/>
          <a:lstStyle/>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User stories</a:t>
            </a:r>
            <a:endParaRPr lang="en-US" sz="750" dirty="0"/>
          </a:p>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26 pts · valeur patient</a:t>
            </a:r>
            <a:endParaRPr lang="en-US" sz="750" dirty="0"/>
          </a:p>
        </p:txBody>
      </p:sp>
      <p:sp>
        <p:nvSpPr>
          <p:cNvPr id="18" name="Shape 14"/>
          <p:cNvSpPr/>
          <p:nvPr/>
        </p:nvSpPr>
        <p:spPr>
          <a:xfrm>
            <a:off x="3364706" y="4572000"/>
            <a:ext cx="2669381" cy="533400"/>
          </a:xfrm>
          <a:prstGeom prst="rect">
            <a:avLst/>
          </a:prstGeom>
          <a:solidFill>
            <a:srgbClr val="F4E3AB"/>
          </a:solidFill>
          <a:ln/>
          <a:effectLst>
            <a:outerShdw sx="100000" sy="100000" kx="0" ky="0" algn="bl" rotWithShape="0" blurRad="101600" dist="47625" dir="2700000">
              <a:srgbClr val="A02C1E">
                <a:alpha val="100000"/>
              </a:srgbClr>
            </a:outerShdw>
          </a:effectLst>
        </p:spPr>
      </p:sp>
      <p:sp>
        <p:nvSpPr>
          <p:cNvPr id="19" name="Text 15"/>
          <p:cNvSpPr txBox="1"/>
          <p:nvPr/>
        </p:nvSpPr>
        <p:spPr>
          <a:xfrm>
            <a:off x="3498056" y="4572000"/>
            <a:ext cx="1121140" cy="533400"/>
          </a:xfrm>
          <a:prstGeom prst="rect">
            <a:avLst/>
          </a:prstGeom>
          <a:noFill/>
          <a:ln/>
        </p:spPr>
        <p:txBody>
          <a:bodyPr wrap="square" lIns="0" tIns="0" rIns="0" bIns="0" rtlCol="0" anchor="ctr"/>
          <a:lstStyle/>
          <a:p>
            <a:pPr indent="0" marL="0">
              <a:buNone/>
            </a:pPr>
            <a:r>
              <a:rPr lang="en-US" sz="1900" dirty="0">
                <a:solidFill>
                  <a:srgbClr val="A02C1E"/>
                </a:solidFill>
                <a:latin typeface="Impact" pitchFamily="34" charset="0"/>
                <a:ea typeface="Impact" pitchFamily="34" charset="-122"/>
                <a:cs typeface="Impact" pitchFamily="34" charset="-120"/>
              </a:rPr>
              <a:t>1</a:t>
            </a:r>
            <a:endParaRPr lang="en-US" sz="1900" dirty="0"/>
          </a:p>
        </p:txBody>
      </p:sp>
      <p:sp>
        <p:nvSpPr>
          <p:cNvPr id="20" name="Text 16"/>
          <p:cNvSpPr txBox="1"/>
          <p:nvPr/>
        </p:nvSpPr>
        <p:spPr>
          <a:xfrm>
            <a:off x="4485846" y="4572000"/>
            <a:ext cx="1414891" cy="533400"/>
          </a:xfrm>
          <a:prstGeom prst="rect">
            <a:avLst/>
          </a:prstGeom>
          <a:noFill/>
          <a:ln/>
        </p:spPr>
        <p:txBody>
          <a:bodyPr wrap="square" lIns="0" tIns="0" rIns="0" bIns="0" rtlCol="0" anchor="ctr"/>
          <a:lstStyle/>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Story technique</a:t>
            </a:r>
            <a:endParaRPr lang="en-US" sz="750" dirty="0"/>
          </a:p>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5 pts · console FHIR</a:t>
            </a:r>
            <a:endParaRPr lang="en-US" sz="750" dirty="0"/>
          </a:p>
        </p:txBody>
      </p:sp>
      <p:sp>
        <p:nvSpPr>
          <p:cNvPr id="21" name="Shape 17"/>
          <p:cNvSpPr/>
          <p:nvPr/>
        </p:nvSpPr>
        <p:spPr>
          <a:xfrm>
            <a:off x="6157913" y="4572000"/>
            <a:ext cx="2669381" cy="533400"/>
          </a:xfrm>
          <a:prstGeom prst="rect">
            <a:avLst/>
          </a:prstGeom>
          <a:solidFill>
            <a:srgbClr val="F4E3AB"/>
          </a:solidFill>
          <a:ln/>
          <a:effectLst>
            <a:outerShdw sx="100000" sy="100000" kx="0" ky="0" algn="bl" rotWithShape="0" blurRad="101600" dist="47625" dir="2700000">
              <a:srgbClr val="A02C1E">
                <a:alpha val="100000"/>
              </a:srgbClr>
            </a:outerShdw>
          </a:effectLst>
        </p:spPr>
      </p:sp>
      <p:sp>
        <p:nvSpPr>
          <p:cNvPr id="22" name="Text 18"/>
          <p:cNvSpPr txBox="1"/>
          <p:nvPr/>
        </p:nvSpPr>
        <p:spPr>
          <a:xfrm>
            <a:off x="6291263" y="4572000"/>
            <a:ext cx="1121140" cy="533400"/>
          </a:xfrm>
          <a:prstGeom prst="rect">
            <a:avLst/>
          </a:prstGeom>
          <a:noFill/>
          <a:ln/>
        </p:spPr>
        <p:txBody>
          <a:bodyPr wrap="square" lIns="0" tIns="0" rIns="0" bIns="0" rtlCol="0" anchor="ctr"/>
          <a:lstStyle/>
          <a:p>
            <a:pPr indent="0" marL="0">
              <a:buNone/>
            </a:pPr>
            <a:r>
              <a:rPr lang="en-US" sz="1900" dirty="0">
                <a:solidFill>
                  <a:srgbClr val="A02C1E"/>
                </a:solidFill>
                <a:latin typeface="Impact" pitchFamily="34" charset="0"/>
                <a:ea typeface="Impact" pitchFamily="34" charset="-122"/>
                <a:cs typeface="Impact" pitchFamily="34" charset="-120"/>
              </a:rPr>
              <a:t>2</a:t>
            </a:r>
            <a:endParaRPr lang="en-US" sz="1900" dirty="0"/>
          </a:p>
        </p:txBody>
      </p:sp>
      <p:sp>
        <p:nvSpPr>
          <p:cNvPr id="23" name="Text 19"/>
          <p:cNvSpPr txBox="1"/>
          <p:nvPr/>
        </p:nvSpPr>
        <p:spPr>
          <a:xfrm>
            <a:off x="7279053" y="4572000"/>
            <a:ext cx="1414891" cy="533400"/>
          </a:xfrm>
          <a:prstGeom prst="rect">
            <a:avLst/>
          </a:prstGeom>
          <a:noFill/>
          <a:ln/>
        </p:spPr>
        <p:txBody>
          <a:bodyPr wrap="square" lIns="0" tIns="0" rIns="0" bIns="0" rtlCol="0" anchor="ctr"/>
          <a:lstStyle/>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Spikes</a:t>
            </a:r>
            <a:endParaRPr lang="en-US" sz="750" dirty="0"/>
          </a:p>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5 pts · analyse</a:t>
            </a:r>
            <a:endParaRPr lang="en-US" sz="750" dirty="0"/>
          </a:p>
        </p:txBody>
      </p:sp>
      <p:sp>
        <p:nvSpPr>
          <p:cNvPr id="24" name="Shape 20"/>
          <p:cNvSpPr/>
          <p:nvPr/>
        </p:nvSpPr>
        <p:spPr>
          <a:xfrm>
            <a:off x="8951119" y="4572000"/>
            <a:ext cx="2669381" cy="533400"/>
          </a:xfrm>
          <a:prstGeom prst="rect">
            <a:avLst/>
          </a:prstGeom>
          <a:solidFill>
            <a:srgbClr val="F4E3AB"/>
          </a:solidFill>
          <a:ln/>
          <a:effectLst>
            <a:outerShdw sx="100000" sy="100000" kx="0" ky="0" algn="bl" rotWithShape="0" blurRad="101600" dist="47625" dir="2700000">
              <a:srgbClr val="A02C1E">
                <a:alpha val="100000"/>
              </a:srgbClr>
            </a:outerShdw>
          </a:effectLst>
        </p:spPr>
      </p:sp>
      <p:sp>
        <p:nvSpPr>
          <p:cNvPr id="25" name="Text 21"/>
          <p:cNvSpPr txBox="1"/>
          <p:nvPr/>
        </p:nvSpPr>
        <p:spPr>
          <a:xfrm>
            <a:off x="9084469" y="4572000"/>
            <a:ext cx="1121140" cy="533400"/>
          </a:xfrm>
          <a:prstGeom prst="rect">
            <a:avLst/>
          </a:prstGeom>
          <a:noFill/>
          <a:ln/>
        </p:spPr>
        <p:txBody>
          <a:bodyPr wrap="square" lIns="0" tIns="0" rIns="0" bIns="0" rtlCol="0" anchor="ctr"/>
          <a:lstStyle/>
          <a:p>
            <a:pPr indent="0" marL="0">
              <a:buNone/>
            </a:pPr>
            <a:r>
              <a:rPr lang="en-US" sz="1900" dirty="0">
                <a:solidFill>
                  <a:srgbClr val="A02C1E"/>
                </a:solidFill>
                <a:latin typeface="Impact" pitchFamily="34" charset="0"/>
                <a:ea typeface="Impact" pitchFamily="34" charset="-122"/>
                <a:cs typeface="Impact" pitchFamily="34" charset="-120"/>
              </a:rPr>
              <a:t>6</a:t>
            </a:r>
            <a:endParaRPr lang="en-US" sz="1900" dirty="0"/>
          </a:p>
        </p:txBody>
      </p:sp>
      <p:sp>
        <p:nvSpPr>
          <p:cNvPr id="26" name="Text 22"/>
          <p:cNvSpPr txBox="1"/>
          <p:nvPr/>
        </p:nvSpPr>
        <p:spPr>
          <a:xfrm>
            <a:off x="10072259" y="4572000"/>
            <a:ext cx="1414891" cy="533400"/>
          </a:xfrm>
          <a:prstGeom prst="rect">
            <a:avLst/>
          </a:prstGeom>
          <a:noFill/>
          <a:ln/>
        </p:spPr>
        <p:txBody>
          <a:bodyPr wrap="square" lIns="0" tIns="0" rIns="0" bIns="0" rtlCol="0" anchor="ctr"/>
          <a:lstStyle/>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Tâches</a:t>
            </a:r>
            <a:endParaRPr lang="en-US" sz="750" dirty="0"/>
          </a:p>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16 pts · organisation</a:t>
            </a:r>
            <a:endParaRPr lang="en-US" sz="750" dirty="0"/>
          </a:p>
        </p:txBody>
      </p:sp>
      <p:sp>
        <p:nvSpPr>
          <p:cNvPr id="27" name="Shape 23"/>
          <p:cNvSpPr/>
          <p:nvPr/>
        </p:nvSpPr>
        <p:spPr>
          <a:xfrm>
            <a:off x="571500" y="5295900"/>
            <a:ext cx="28575" cy="571500"/>
          </a:xfrm>
          <a:prstGeom prst="rect">
            <a:avLst/>
          </a:prstGeom>
          <a:solidFill>
            <a:srgbClr val="D9A521"/>
          </a:solidFill>
          <a:ln/>
        </p:spPr>
      </p:sp>
      <p:sp>
        <p:nvSpPr>
          <p:cNvPr id="28" name="Text 24"/>
          <p:cNvSpPr txBox="1"/>
          <p:nvPr/>
        </p:nvSpPr>
        <p:spPr>
          <a:xfrm>
            <a:off x="723900" y="5295900"/>
            <a:ext cx="10896600" cy="571500"/>
          </a:xfrm>
          <a:prstGeom prst="rect">
            <a:avLst/>
          </a:prstGeom>
          <a:noFill/>
          <a:ln/>
        </p:spPr>
        <p:txBody>
          <a:bodyPr wrap="square" lIns="0" tIns="0" rIns="0" bIns="0" rtlCol="0" anchor="t"/>
          <a:lstStyle/>
          <a:p>
            <a:pPr indent="0" marL="0">
              <a:lnSpc>
                <a:spcPct val="125000"/>
              </a:lnSpc>
              <a:buNone/>
            </a:pPr>
            <a:r>
              <a:rPr lang="en-US" sz="1100" dirty="0">
                <a:solidFill>
                  <a:srgbClr val="E6DCBE"/>
                </a:solidFill>
                <a:latin typeface="Arial" pitchFamily="34" charset="0"/>
                <a:ea typeface="Arial" pitchFamily="34" charset="-122"/>
                <a:cs typeface="Arial" pitchFamily="34" charset="-120"/>
              </a:rPr>
              <a:t>Le Product Backlog contient tout ce que MediBet pourrait devenir ; le Sprint Backlog, seulement ce que nous nous engageons à livrer cette semaine. 16 cartes actives, 52 points — dont 26 seulement de vraie valeur produit.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09550" y="6610350"/>
            <a:ext cx="3429000" cy="190500"/>
          </a:xfrm>
          <a:prstGeom prst="rect">
            <a:avLst/>
          </a:prstGeom>
          <a:noFill/>
          <a:ln/>
        </p:spPr>
        <p:txBody>
          <a:bodyPr wrap="square" lIns="0" tIns="0" rIns="0" bIns="0" rtlCol="0" anchor="ctr"/>
          <a:lstStyle/>
          <a:p>
            <a:pPr indent="0" marL="0">
              <a:buNone/>
            </a:pPr>
            <a:r>
              <a:rPr lang="en-US" sz="750" spc="140" kern="0" dirty="0">
                <a:solidFill>
                  <a:srgbClr val="D9A521"/>
                </a:solidFill>
                <a:latin typeface="Consolas" pitchFamily="34" charset="0"/>
                <a:ea typeface="Consolas" pitchFamily="34" charset="-122"/>
                <a:cs typeface="Consolas" pitchFamily="34" charset="-120"/>
              </a:rPr>
              <a:t>RÉMI · SCRUM MASTER</a:t>
            </a:r>
            <a:endParaRPr lang="en-US" sz="750" dirty="0"/>
          </a:p>
        </p:txBody>
      </p:sp>
      <p:sp>
        <p:nvSpPr>
          <p:cNvPr id="3" name="Text 1"/>
          <p:cNvSpPr txBox="1"/>
          <p:nvPr/>
        </p:nvSpPr>
        <p:spPr>
          <a:xfrm>
            <a:off x="4000500" y="6610350"/>
            <a:ext cx="4191000" cy="190500"/>
          </a:xfrm>
          <a:prstGeom prst="rect">
            <a:avLst/>
          </a:prstGeom>
          <a:noFill/>
          <a:ln/>
        </p:spPr>
        <p:txBody>
          <a:bodyPr wrap="square" lIns="0" tIns="0" rIns="0" bIns="0" rtlCol="0" anchor="ctr"/>
          <a:lstStyle/>
          <a:p>
            <a:pPr algn="ct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4" name="Text 2"/>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≈50 s · 4:15</a:t>
            </a:r>
            <a:endParaRPr lang="en-US" sz="750" dirty="0"/>
          </a:p>
        </p:txBody>
      </p:sp>
      <p:sp>
        <p:nvSpPr>
          <p:cNvPr id="5" name="Text 3"/>
          <p:cNvSpPr txBox="1"/>
          <p:nvPr/>
        </p:nvSpPr>
        <p:spPr>
          <a:xfrm>
            <a:off x="571500" y="323850"/>
            <a:ext cx="11049000" cy="190500"/>
          </a:xfrm>
          <a:prstGeom prst="rect">
            <a:avLst/>
          </a:prstGeom>
          <a:noFill/>
          <a:ln/>
        </p:spPr>
        <p:txBody>
          <a:bodyPr wrap="square" lIns="0" tIns="0" rIns="0" bIns="0" rtlCol="0" anchor="ctr"/>
          <a:lstStyle/>
          <a:p>
            <a:pPr algn="ctr" indent="0" marL="0">
              <a:buNone/>
            </a:pPr>
            <a:r>
              <a:rPr lang="en-US" sz="850" b="1" spc="400" kern="0" dirty="0">
                <a:solidFill>
                  <a:srgbClr val="D9A521"/>
                </a:solidFill>
                <a:latin typeface="Consolas" pitchFamily="34" charset="0"/>
                <a:ea typeface="Consolas" pitchFamily="34" charset="-122"/>
                <a:cs typeface="Consolas" pitchFamily="34" charset="-120"/>
              </a:rPr>
              <a:t>02 · DÉMARCHE PROJET</a:t>
            </a:r>
            <a:endParaRPr lang="en-US" sz="850" dirty="0"/>
          </a:p>
        </p:txBody>
      </p:sp>
      <p:sp>
        <p:nvSpPr>
          <p:cNvPr id="6" name="Text 4"/>
          <p:cNvSpPr txBox="1"/>
          <p:nvPr/>
        </p:nvSpPr>
        <p:spPr>
          <a:xfrm>
            <a:off x="571500" y="514350"/>
            <a:ext cx="11049000" cy="609600"/>
          </a:xfrm>
          <a:prstGeom prst="rect">
            <a:avLst/>
          </a:prstGeom>
          <a:noFill/>
          <a:ln/>
          <a:effectLst>
            <a:outerShdw sx="100000" sy="100000" kx="0" ky="0" algn="bl" rotWithShape="0" blurRad="101600" dist="38100" dir="2700000">
              <a:srgbClr val="A02C1E">
                <a:alpha val="100000"/>
              </a:srgbClr>
            </a:outerShdw>
          </a:effectLst>
        </p:spPr>
        <p:txBody>
          <a:bodyPr wrap="square" lIns="0" tIns="0" rIns="0" bIns="0" rtlCol="0" anchor="ctr"/>
          <a:lstStyle/>
          <a:p>
            <a:pPr algn="ctr" indent="0" marL="0">
              <a:buNone/>
            </a:pPr>
            <a:r>
              <a:rPr lang="en-US" sz="3400" dirty="0">
                <a:solidFill>
                  <a:srgbClr val="F3E4B0"/>
                </a:solidFill>
                <a:latin typeface="Impact" pitchFamily="34" charset="0"/>
                <a:ea typeface="Impact" pitchFamily="34" charset="-122"/>
                <a:cs typeface="Impact" pitchFamily="34" charset="-120"/>
              </a:rPr>
              <a:t>LE SPRINT BACKLOG, COLONNE PAR COLONNE</a:t>
            </a:r>
            <a:endParaRPr lang="en-US" sz="3400" dirty="0"/>
          </a:p>
        </p:txBody>
      </p:sp>
      <p:sp>
        <p:nvSpPr>
          <p:cNvPr id="7" name="Text 5"/>
          <p:cNvSpPr txBox="1"/>
          <p:nvPr/>
        </p:nvSpPr>
        <p:spPr>
          <a:xfrm>
            <a:off x="2000250" y="1143000"/>
            <a:ext cx="8191500" cy="438150"/>
          </a:xfrm>
          <a:prstGeom prst="rect">
            <a:avLst/>
          </a:prstGeom>
          <a:noFill/>
          <a:ln/>
        </p:spPr>
        <p:txBody>
          <a:bodyPr wrap="square" lIns="0" tIns="0" rIns="0" bIns="0" rtlCol="0" anchor="t"/>
          <a:lstStyle/>
          <a:p>
            <a:pPr algn="ctr" indent="0" marL="0">
              <a:buNone/>
            </a:pPr>
            <a:r>
              <a:rPr lang="en-US" sz="1350" dirty="0">
                <a:solidFill>
                  <a:srgbClr val="E6DCBE"/>
                </a:solidFill>
                <a:latin typeface="Arial" pitchFamily="34" charset="0"/>
                <a:ea typeface="Arial" pitchFamily="34" charset="-122"/>
                <a:cs typeface="Arial" pitchFamily="34" charset="-120"/>
              </a:rPr>
              <a:t>Les 16 cartes engagées, tenues à jour au fil de l'eau.</a:t>
            </a:r>
            <a:endParaRPr lang="en-US" sz="1350" dirty="0"/>
          </a:p>
        </p:txBody>
      </p:sp>
      <p:sp>
        <p:nvSpPr>
          <p:cNvPr id="9" name="Shape 6"/>
          <p:cNvSpPr/>
          <p:nvPr/>
        </p:nvSpPr>
        <p:spPr>
          <a:xfrm>
            <a:off x="571500" y="1695450"/>
            <a:ext cx="2686050" cy="3143250"/>
          </a:xfrm>
          <a:prstGeom prst="rect">
            <a:avLst/>
          </a:prstGeom>
          <a:solidFill>
            <a:srgbClr val="F4E3AB"/>
          </a:solidFill>
          <a:ln/>
          <a:effectLst>
            <a:outerShdw sx="100000" sy="100000" kx="0" ky="0" algn="bl" rotWithShape="0" blurRad="101600" dist="57150" dir="2700000">
              <a:srgbClr val="A02C1E">
                <a:alpha val="100000"/>
              </a:srgbClr>
            </a:outerShdw>
          </a:effectLst>
        </p:spPr>
      </p:sp>
      <p:sp>
        <p:nvSpPr>
          <p:cNvPr id="10" name="Text 7"/>
          <p:cNvSpPr txBox="1"/>
          <p:nvPr/>
        </p:nvSpPr>
        <p:spPr>
          <a:xfrm>
            <a:off x="695325" y="1790700"/>
            <a:ext cx="2019300" cy="190500"/>
          </a:xfrm>
          <a:prstGeom prst="rect">
            <a:avLst/>
          </a:prstGeom>
          <a:noFill/>
          <a:ln/>
        </p:spPr>
        <p:txBody>
          <a:bodyPr wrap="square" lIns="0" tIns="0" rIns="0" bIns="0" rtlCol="0" anchor="ctr"/>
          <a:lstStyle/>
          <a:p>
            <a:pPr indent="0" marL="0">
              <a:buNone/>
            </a:pPr>
            <a:r>
              <a:rPr lang="en-US" sz="900" b="1" spc="100" kern="0" dirty="0">
                <a:solidFill>
                  <a:srgbClr val="A02C1E"/>
                </a:solidFill>
                <a:latin typeface="Consolas" pitchFamily="34" charset="0"/>
                <a:ea typeface="Consolas" pitchFamily="34" charset="-122"/>
                <a:cs typeface="Consolas" pitchFamily="34" charset="-120"/>
              </a:rPr>
              <a:t>À FAIRE</a:t>
            </a:r>
            <a:endParaRPr lang="en-US" sz="900" dirty="0"/>
          </a:p>
        </p:txBody>
      </p:sp>
      <p:sp>
        <p:nvSpPr>
          <p:cNvPr id="11" name="Text 8"/>
          <p:cNvSpPr txBox="1"/>
          <p:nvPr/>
        </p:nvSpPr>
        <p:spPr>
          <a:xfrm>
            <a:off x="2733675" y="1752600"/>
            <a:ext cx="400050" cy="247650"/>
          </a:xfrm>
          <a:prstGeom prst="rect">
            <a:avLst/>
          </a:prstGeom>
          <a:noFill/>
          <a:ln/>
        </p:spPr>
        <p:txBody>
          <a:bodyPr wrap="square" lIns="0" tIns="0" rIns="0" bIns="0" rtlCol="0" anchor="ctr"/>
          <a:lstStyle/>
          <a:p>
            <a:pPr algn="r" indent="0" marL="0">
              <a:buNone/>
            </a:pPr>
            <a:r>
              <a:rPr lang="en-US" sz="1600" dirty="0">
                <a:solidFill>
                  <a:srgbClr val="C08B1E"/>
                </a:solidFill>
                <a:latin typeface="Impact" pitchFamily="34" charset="0"/>
                <a:ea typeface="Impact" pitchFamily="34" charset="-122"/>
                <a:cs typeface="Impact" pitchFamily="34" charset="-120"/>
              </a:rPr>
              <a:t>0</a:t>
            </a:r>
            <a:endParaRPr lang="en-US" sz="1600" dirty="0"/>
          </a:p>
        </p:txBody>
      </p:sp>
      <p:sp>
        <p:nvSpPr>
          <p:cNvPr id="12" name="Shape 9"/>
          <p:cNvSpPr/>
          <p:nvPr/>
        </p:nvSpPr>
        <p:spPr>
          <a:xfrm>
            <a:off x="695325" y="2038350"/>
            <a:ext cx="2438400" cy="0"/>
          </a:xfrm>
          <a:prstGeom prst="line">
            <a:avLst/>
          </a:prstGeom>
          <a:noFill/>
          <a:ln w="6350">
            <a:solidFill>
              <a:srgbClr val="A02C1E">
                <a:alpha val="35000"/>
              </a:srgbClr>
            </a:solidFill>
            <a:prstDash val="solid"/>
          </a:ln>
        </p:spPr>
      </p:sp>
      <p:sp>
        <p:nvSpPr>
          <p:cNvPr id="13" name="Text 10"/>
          <p:cNvSpPr txBox="1"/>
          <p:nvPr/>
        </p:nvSpPr>
        <p:spPr>
          <a:xfrm>
            <a:off x="695325" y="2133600"/>
            <a:ext cx="2438400" cy="209550"/>
          </a:xfrm>
          <a:prstGeom prst="rect">
            <a:avLst/>
          </a:prstGeom>
          <a:noFill/>
          <a:ln/>
        </p:spPr>
        <p:txBody>
          <a:bodyPr wrap="square" lIns="0" tIns="0" rIns="0" bIns="0" rtlCol="0" anchor="ctr"/>
          <a:lstStyle/>
          <a:p>
            <a:pPr indent="0" marL="0">
              <a:buNone/>
            </a:pPr>
            <a:r>
              <a:rPr lang="en-US" sz="950" i="1" dirty="0">
                <a:solidFill>
                  <a:srgbClr val="8A7D5E"/>
                </a:solidFill>
                <a:latin typeface="Arial" pitchFamily="34" charset="0"/>
                <a:ea typeface="Arial" pitchFamily="34" charset="-122"/>
                <a:cs typeface="Arial" pitchFamily="34" charset="-120"/>
              </a:rPr>
              <a:t>aucune carte — tout est engagé</a:t>
            </a:r>
            <a:endParaRPr lang="en-US" sz="950" dirty="0"/>
          </a:p>
        </p:txBody>
      </p:sp>
      <p:sp>
        <p:nvSpPr>
          <p:cNvPr id="14" name="Shape 11"/>
          <p:cNvSpPr/>
          <p:nvPr/>
        </p:nvSpPr>
        <p:spPr>
          <a:xfrm>
            <a:off x="3409950" y="1695450"/>
            <a:ext cx="2686050" cy="3143250"/>
          </a:xfrm>
          <a:prstGeom prst="rect">
            <a:avLst/>
          </a:prstGeom>
          <a:solidFill>
            <a:srgbClr val="F4E3AB"/>
          </a:solidFill>
          <a:ln/>
          <a:effectLst>
            <a:outerShdw sx="100000" sy="100000" kx="0" ky="0" algn="bl" rotWithShape="0" blurRad="101600" dist="57150" dir="2700000">
              <a:srgbClr val="A02C1E">
                <a:alpha val="100000"/>
              </a:srgbClr>
            </a:outerShdw>
          </a:effectLst>
        </p:spPr>
      </p:sp>
      <p:sp>
        <p:nvSpPr>
          <p:cNvPr id="15" name="Text 12"/>
          <p:cNvSpPr txBox="1"/>
          <p:nvPr/>
        </p:nvSpPr>
        <p:spPr>
          <a:xfrm>
            <a:off x="3533775" y="1790700"/>
            <a:ext cx="2019300" cy="190500"/>
          </a:xfrm>
          <a:prstGeom prst="rect">
            <a:avLst/>
          </a:prstGeom>
          <a:noFill/>
          <a:ln/>
        </p:spPr>
        <p:txBody>
          <a:bodyPr wrap="square" lIns="0" tIns="0" rIns="0" bIns="0" rtlCol="0" anchor="ctr"/>
          <a:lstStyle/>
          <a:p>
            <a:pPr indent="0" marL="0">
              <a:buNone/>
            </a:pPr>
            <a:r>
              <a:rPr lang="en-US" sz="900" b="1" spc="100" kern="0" dirty="0">
                <a:solidFill>
                  <a:srgbClr val="A02C1E"/>
                </a:solidFill>
                <a:latin typeface="Consolas" pitchFamily="34" charset="0"/>
                <a:ea typeface="Consolas" pitchFamily="34" charset="-122"/>
                <a:cs typeface="Consolas" pitchFamily="34" charset="-120"/>
              </a:rPr>
              <a:t>EN COURS</a:t>
            </a:r>
            <a:endParaRPr lang="en-US" sz="900" dirty="0"/>
          </a:p>
        </p:txBody>
      </p:sp>
      <p:sp>
        <p:nvSpPr>
          <p:cNvPr id="16" name="Text 13"/>
          <p:cNvSpPr txBox="1"/>
          <p:nvPr/>
        </p:nvSpPr>
        <p:spPr>
          <a:xfrm>
            <a:off x="5572125" y="1752600"/>
            <a:ext cx="400050" cy="247650"/>
          </a:xfrm>
          <a:prstGeom prst="rect">
            <a:avLst/>
          </a:prstGeom>
          <a:noFill/>
          <a:ln/>
        </p:spPr>
        <p:txBody>
          <a:bodyPr wrap="square" lIns="0" tIns="0" rIns="0" bIns="0" rtlCol="0" anchor="ctr"/>
          <a:lstStyle/>
          <a:p>
            <a:pPr algn="r" indent="0" marL="0">
              <a:buNone/>
            </a:pPr>
            <a:r>
              <a:rPr lang="en-US" sz="1600" dirty="0">
                <a:solidFill>
                  <a:srgbClr val="C08B1E"/>
                </a:solidFill>
                <a:latin typeface="Impact" pitchFamily="34" charset="0"/>
                <a:ea typeface="Impact" pitchFamily="34" charset="-122"/>
                <a:cs typeface="Impact" pitchFamily="34" charset="-120"/>
              </a:rPr>
              <a:t>2</a:t>
            </a:r>
            <a:endParaRPr lang="en-US" sz="1600" dirty="0"/>
          </a:p>
        </p:txBody>
      </p:sp>
      <p:sp>
        <p:nvSpPr>
          <p:cNvPr id="17" name="Shape 14"/>
          <p:cNvSpPr/>
          <p:nvPr/>
        </p:nvSpPr>
        <p:spPr>
          <a:xfrm>
            <a:off x="3533775" y="2038350"/>
            <a:ext cx="2438400" cy="0"/>
          </a:xfrm>
          <a:prstGeom prst="line">
            <a:avLst/>
          </a:prstGeom>
          <a:noFill/>
          <a:ln w="6350">
            <a:solidFill>
              <a:srgbClr val="A02C1E">
                <a:alpha val="35000"/>
              </a:srgbClr>
            </a:solidFill>
            <a:prstDash val="solid"/>
          </a:ln>
        </p:spPr>
      </p:sp>
      <p:sp>
        <p:nvSpPr>
          <p:cNvPr id="18" name="Shape 15"/>
          <p:cNvSpPr/>
          <p:nvPr/>
        </p:nvSpPr>
        <p:spPr>
          <a:xfrm>
            <a:off x="3533775" y="2114550"/>
            <a:ext cx="2438400" cy="247650"/>
          </a:xfrm>
          <a:prstGeom prst="rect">
            <a:avLst/>
          </a:prstGeom>
          <a:solidFill>
            <a:srgbClr val="FDF6E0"/>
          </a:solidFill>
          <a:ln/>
        </p:spPr>
      </p:sp>
      <p:sp>
        <p:nvSpPr>
          <p:cNvPr id="19" name="Shape 16"/>
          <p:cNvSpPr/>
          <p:nvPr/>
        </p:nvSpPr>
        <p:spPr>
          <a:xfrm>
            <a:off x="3533775" y="2114550"/>
            <a:ext cx="38100" cy="247650"/>
          </a:xfrm>
          <a:prstGeom prst="rect">
            <a:avLst/>
          </a:prstGeom>
          <a:solidFill>
            <a:srgbClr val="2F6F4F"/>
          </a:solidFill>
          <a:ln/>
        </p:spPr>
      </p:sp>
      <p:sp>
        <p:nvSpPr>
          <p:cNvPr id="20" name="Text 17"/>
          <p:cNvSpPr txBox="1"/>
          <p:nvPr/>
        </p:nvSpPr>
        <p:spPr>
          <a:xfrm>
            <a:off x="3619500" y="2114550"/>
            <a:ext cx="2095500" cy="247650"/>
          </a:xfrm>
          <a:prstGeom prst="rect">
            <a:avLst/>
          </a:prstGeom>
          <a:noFill/>
          <a:ln/>
        </p:spPr>
        <p:txBody>
          <a:bodyPr wrap="square" lIns="0" tIns="0" rIns="0" bIns="0" rtlCol="0" anchor="ctr"/>
          <a:lstStyle/>
          <a:p>
            <a:pPr indent="0" marL="0">
              <a:lnSpc>
                <a:spcPct val="100000"/>
              </a:lnSpc>
              <a:buNone/>
            </a:pPr>
            <a:r>
              <a:rPr lang="en-US" sz="800" b="1" dirty="0">
                <a:solidFill>
                  <a:srgbClr val="2A2016"/>
                </a:solidFill>
                <a:latin typeface="Arial" pitchFamily="34" charset="0"/>
                <a:ea typeface="Arial" pitchFamily="34" charset="-122"/>
                <a:cs typeface="Arial" pitchFamily="34" charset="-120"/>
              </a:rPr>
              <a:t>US-P4 · lecture FHIR du diagnostic</a:t>
            </a:r>
            <a:endParaRPr lang="en-US" sz="800" dirty="0"/>
          </a:p>
        </p:txBody>
      </p:sp>
      <p:sp>
        <p:nvSpPr>
          <p:cNvPr id="21" name="Text 18"/>
          <p:cNvSpPr txBox="1"/>
          <p:nvPr/>
        </p:nvSpPr>
        <p:spPr>
          <a:xfrm>
            <a:off x="5705475" y="2114550"/>
            <a:ext cx="209550" cy="247650"/>
          </a:xfrm>
          <a:prstGeom prst="rect">
            <a:avLst/>
          </a:prstGeom>
          <a:noFill/>
          <a:ln/>
        </p:spPr>
        <p:txBody>
          <a:bodyPr wrap="square" lIns="0" tIns="0" rIns="0" bIns="0" rtlCol="0" anchor="ctr"/>
          <a:lstStyle/>
          <a:p>
            <a:pPr algn="r" indent="0" marL="0">
              <a:buNone/>
            </a:pPr>
            <a:r>
              <a:rPr lang="en-US" sz="750" dirty="0">
                <a:solidFill>
                  <a:srgbClr val="7A6A48"/>
                </a:solidFill>
                <a:latin typeface="Consolas" pitchFamily="34" charset="0"/>
                <a:ea typeface="Consolas" pitchFamily="34" charset="-122"/>
                <a:cs typeface="Consolas" pitchFamily="34" charset="-120"/>
              </a:rPr>
              <a:t>5</a:t>
            </a:r>
            <a:endParaRPr lang="en-US" sz="750" dirty="0"/>
          </a:p>
        </p:txBody>
      </p:sp>
      <p:sp>
        <p:nvSpPr>
          <p:cNvPr id="22" name="Shape 19"/>
          <p:cNvSpPr/>
          <p:nvPr/>
        </p:nvSpPr>
        <p:spPr>
          <a:xfrm>
            <a:off x="3533775" y="2409825"/>
            <a:ext cx="2438400" cy="247650"/>
          </a:xfrm>
          <a:prstGeom prst="rect">
            <a:avLst/>
          </a:prstGeom>
          <a:solidFill>
            <a:srgbClr val="FDF6E0"/>
          </a:solidFill>
          <a:ln/>
        </p:spPr>
      </p:sp>
      <p:sp>
        <p:nvSpPr>
          <p:cNvPr id="23" name="Shape 20"/>
          <p:cNvSpPr/>
          <p:nvPr/>
        </p:nvSpPr>
        <p:spPr>
          <a:xfrm>
            <a:off x="3533775" y="2409825"/>
            <a:ext cx="38100" cy="247650"/>
          </a:xfrm>
          <a:prstGeom prst="rect">
            <a:avLst/>
          </a:prstGeom>
          <a:solidFill>
            <a:srgbClr val="B5761F"/>
          </a:solidFill>
          <a:ln/>
        </p:spPr>
      </p:sp>
      <p:sp>
        <p:nvSpPr>
          <p:cNvPr id="24" name="Text 21"/>
          <p:cNvSpPr txBox="1"/>
          <p:nvPr/>
        </p:nvSpPr>
        <p:spPr>
          <a:xfrm>
            <a:off x="3619500" y="2409825"/>
            <a:ext cx="2095500" cy="247650"/>
          </a:xfrm>
          <a:prstGeom prst="rect">
            <a:avLst/>
          </a:prstGeom>
          <a:noFill/>
          <a:ln/>
        </p:spPr>
        <p:txBody>
          <a:bodyPr wrap="square" lIns="0" tIns="0" rIns="0" bIns="0" rtlCol="0" anchor="ctr"/>
          <a:lstStyle/>
          <a:p>
            <a:pPr indent="0" marL="0">
              <a:lnSpc>
                <a:spcPct val="100000"/>
              </a:lnSpc>
              <a:buNone/>
            </a:pPr>
            <a:r>
              <a:rPr lang="en-US" sz="800" b="1" dirty="0">
                <a:solidFill>
                  <a:srgbClr val="2A2016"/>
                </a:solidFill>
                <a:latin typeface="Arial" pitchFamily="34" charset="0"/>
                <a:ea typeface="Arial" pitchFamily="34" charset="-122"/>
                <a:cs typeface="Arial" pitchFamily="34" charset="-120"/>
              </a:rPr>
              <a:t>SPIKE-P16 · cycle Patient (Postman)</a:t>
            </a:r>
            <a:endParaRPr lang="en-US" sz="800" dirty="0"/>
          </a:p>
        </p:txBody>
      </p:sp>
      <p:sp>
        <p:nvSpPr>
          <p:cNvPr id="25" name="Text 22"/>
          <p:cNvSpPr txBox="1"/>
          <p:nvPr/>
        </p:nvSpPr>
        <p:spPr>
          <a:xfrm>
            <a:off x="5705475" y="2409825"/>
            <a:ext cx="209550" cy="247650"/>
          </a:xfrm>
          <a:prstGeom prst="rect">
            <a:avLst/>
          </a:prstGeom>
          <a:noFill/>
          <a:ln/>
        </p:spPr>
        <p:txBody>
          <a:bodyPr wrap="square" lIns="0" tIns="0" rIns="0" bIns="0" rtlCol="0" anchor="ctr"/>
          <a:lstStyle/>
          <a:p>
            <a:pPr algn="r" indent="0" marL="0">
              <a:buNone/>
            </a:pPr>
            <a:r>
              <a:rPr lang="en-US" sz="750" dirty="0">
                <a:solidFill>
                  <a:srgbClr val="7A6A48"/>
                </a:solidFill>
                <a:latin typeface="Consolas" pitchFamily="34" charset="0"/>
                <a:ea typeface="Consolas" pitchFamily="34" charset="-122"/>
                <a:cs typeface="Consolas" pitchFamily="34" charset="-120"/>
              </a:rPr>
              <a:t>3</a:t>
            </a:r>
            <a:endParaRPr lang="en-US" sz="750" dirty="0"/>
          </a:p>
        </p:txBody>
      </p:sp>
      <p:sp>
        <p:nvSpPr>
          <p:cNvPr id="26" name="Shape 23"/>
          <p:cNvSpPr/>
          <p:nvPr/>
        </p:nvSpPr>
        <p:spPr>
          <a:xfrm>
            <a:off x="6248400" y="1695450"/>
            <a:ext cx="5372100" cy="3143250"/>
          </a:xfrm>
          <a:prstGeom prst="rect">
            <a:avLst/>
          </a:prstGeom>
          <a:solidFill>
            <a:srgbClr val="F4E3AB"/>
          </a:solidFill>
          <a:ln/>
          <a:effectLst>
            <a:outerShdw sx="100000" sy="100000" kx="0" ky="0" algn="bl" rotWithShape="0" blurRad="101600" dist="57150" dir="2700000">
              <a:srgbClr val="A02C1E">
                <a:alpha val="100000"/>
              </a:srgbClr>
            </a:outerShdw>
          </a:effectLst>
        </p:spPr>
      </p:sp>
      <p:sp>
        <p:nvSpPr>
          <p:cNvPr id="27" name="Text 24"/>
          <p:cNvSpPr txBox="1"/>
          <p:nvPr/>
        </p:nvSpPr>
        <p:spPr>
          <a:xfrm>
            <a:off x="6372225" y="1790700"/>
            <a:ext cx="4705350" cy="190500"/>
          </a:xfrm>
          <a:prstGeom prst="rect">
            <a:avLst/>
          </a:prstGeom>
          <a:noFill/>
          <a:ln/>
        </p:spPr>
        <p:txBody>
          <a:bodyPr wrap="square" lIns="0" tIns="0" rIns="0" bIns="0" rtlCol="0" anchor="ctr"/>
          <a:lstStyle/>
          <a:p>
            <a:pPr indent="0" marL="0">
              <a:buNone/>
            </a:pPr>
            <a:r>
              <a:rPr lang="en-US" sz="900" b="1" spc="100" kern="0" dirty="0">
                <a:solidFill>
                  <a:srgbClr val="A02C1E"/>
                </a:solidFill>
                <a:latin typeface="Consolas" pitchFamily="34" charset="0"/>
                <a:ea typeface="Consolas" pitchFamily="34" charset="-122"/>
                <a:cs typeface="Consolas" pitchFamily="34" charset="-120"/>
              </a:rPr>
              <a:t>TERMINÉ</a:t>
            </a:r>
            <a:endParaRPr lang="en-US" sz="900" dirty="0"/>
          </a:p>
        </p:txBody>
      </p:sp>
      <p:sp>
        <p:nvSpPr>
          <p:cNvPr id="28" name="Text 25"/>
          <p:cNvSpPr txBox="1"/>
          <p:nvPr/>
        </p:nvSpPr>
        <p:spPr>
          <a:xfrm>
            <a:off x="11096625" y="1752600"/>
            <a:ext cx="400050" cy="247650"/>
          </a:xfrm>
          <a:prstGeom prst="rect">
            <a:avLst/>
          </a:prstGeom>
          <a:noFill/>
          <a:ln/>
        </p:spPr>
        <p:txBody>
          <a:bodyPr wrap="square" lIns="0" tIns="0" rIns="0" bIns="0" rtlCol="0" anchor="ctr"/>
          <a:lstStyle/>
          <a:p>
            <a:pPr algn="r" indent="0" marL="0">
              <a:buNone/>
            </a:pPr>
            <a:r>
              <a:rPr lang="en-US" sz="1600" dirty="0">
                <a:solidFill>
                  <a:srgbClr val="C08B1E"/>
                </a:solidFill>
                <a:latin typeface="Impact" pitchFamily="34" charset="0"/>
                <a:ea typeface="Impact" pitchFamily="34" charset="-122"/>
                <a:cs typeface="Impact" pitchFamily="34" charset="-120"/>
              </a:rPr>
              <a:t>14</a:t>
            </a:r>
            <a:endParaRPr lang="en-US" sz="1600" dirty="0"/>
          </a:p>
        </p:txBody>
      </p:sp>
      <p:sp>
        <p:nvSpPr>
          <p:cNvPr id="29" name="Shape 26"/>
          <p:cNvSpPr/>
          <p:nvPr/>
        </p:nvSpPr>
        <p:spPr>
          <a:xfrm>
            <a:off x="6372225" y="2038350"/>
            <a:ext cx="5124450" cy="0"/>
          </a:xfrm>
          <a:prstGeom prst="line">
            <a:avLst/>
          </a:prstGeom>
          <a:noFill/>
          <a:ln w="6350">
            <a:solidFill>
              <a:srgbClr val="A02C1E">
                <a:alpha val="35000"/>
              </a:srgbClr>
            </a:solidFill>
            <a:prstDash val="solid"/>
          </a:ln>
        </p:spPr>
      </p:sp>
      <p:sp>
        <p:nvSpPr>
          <p:cNvPr id="30" name="Shape 27"/>
          <p:cNvSpPr/>
          <p:nvPr/>
        </p:nvSpPr>
        <p:spPr>
          <a:xfrm>
            <a:off x="6372225" y="2114550"/>
            <a:ext cx="2524125" cy="247650"/>
          </a:xfrm>
          <a:prstGeom prst="rect">
            <a:avLst/>
          </a:prstGeom>
          <a:solidFill>
            <a:srgbClr val="FDF6E0"/>
          </a:solidFill>
          <a:ln/>
        </p:spPr>
      </p:sp>
      <p:sp>
        <p:nvSpPr>
          <p:cNvPr id="31" name="Shape 28"/>
          <p:cNvSpPr/>
          <p:nvPr/>
        </p:nvSpPr>
        <p:spPr>
          <a:xfrm>
            <a:off x="6372225" y="2114550"/>
            <a:ext cx="38100" cy="247650"/>
          </a:xfrm>
          <a:prstGeom prst="rect">
            <a:avLst/>
          </a:prstGeom>
          <a:solidFill>
            <a:srgbClr val="2F6F4F"/>
          </a:solidFill>
          <a:ln/>
        </p:spPr>
      </p:sp>
      <p:sp>
        <p:nvSpPr>
          <p:cNvPr id="32" name="Text 29"/>
          <p:cNvSpPr txBox="1"/>
          <p:nvPr/>
        </p:nvSpPr>
        <p:spPr>
          <a:xfrm>
            <a:off x="6457950" y="2114550"/>
            <a:ext cx="2181225" cy="247650"/>
          </a:xfrm>
          <a:prstGeom prst="rect">
            <a:avLst/>
          </a:prstGeom>
          <a:noFill/>
          <a:ln/>
        </p:spPr>
        <p:txBody>
          <a:bodyPr wrap="square" lIns="0" tIns="0" rIns="0" bIns="0" rtlCol="0" anchor="ctr"/>
          <a:lstStyle/>
          <a:p>
            <a:pPr indent="0" marL="0">
              <a:lnSpc>
                <a:spcPct val="100000"/>
              </a:lnSpc>
              <a:buNone/>
            </a:pPr>
            <a:r>
              <a:rPr lang="en-US" sz="800" b="1" dirty="0">
                <a:solidFill>
                  <a:srgbClr val="2A2016"/>
                </a:solidFill>
                <a:latin typeface="Arial" pitchFamily="34" charset="0"/>
                <a:ea typeface="Arial" pitchFamily="34" charset="-122"/>
                <a:cs typeface="Arial" pitchFamily="34" charset="-120"/>
              </a:rPr>
              <a:t>US-P1 · consulter les dossiers</a:t>
            </a:r>
            <a:endParaRPr lang="en-US" sz="800" dirty="0"/>
          </a:p>
        </p:txBody>
      </p:sp>
      <p:sp>
        <p:nvSpPr>
          <p:cNvPr id="33" name="Text 30"/>
          <p:cNvSpPr txBox="1"/>
          <p:nvPr/>
        </p:nvSpPr>
        <p:spPr>
          <a:xfrm>
            <a:off x="8629650" y="2114550"/>
            <a:ext cx="209550" cy="247650"/>
          </a:xfrm>
          <a:prstGeom prst="rect">
            <a:avLst/>
          </a:prstGeom>
          <a:noFill/>
          <a:ln/>
        </p:spPr>
        <p:txBody>
          <a:bodyPr wrap="square" lIns="0" tIns="0" rIns="0" bIns="0" rtlCol="0" anchor="ctr"/>
          <a:lstStyle/>
          <a:p>
            <a:pPr algn="r" indent="0" marL="0">
              <a:buNone/>
            </a:pPr>
            <a:r>
              <a:rPr lang="en-US" sz="750" dirty="0">
                <a:solidFill>
                  <a:srgbClr val="7A6A48"/>
                </a:solidFill>
                <a:latin typeface="Consolas" pitchFamily="34" charset="0"/>
                <a:ea typeface="Consolas" pitchFamily="34" charset="-122"/>
                <a:cs typeface="Consolas" pitchFamily="34" charset="-120"/>
              </a:rPr>
              <a:t>5</a:t>
            </a:r>
            <a:endParaRPr lang="en-US" sz="750" dirty="0"/>
          </a:p>
        </p:txBody>
      </p:sp>
      <p:sp>
        <p:nvSpPr>
          <p:cNvPr id="34" name="Shape 31"/>
          <p:cNvSpPr/>
          <p:nvPr/>
        </p:nvSpPr>
        <p:spPr>
          <a:xfrm>
            <a:off x="6372225" y="2409825"/>
            <a:ext cx="2524125" cy="247650"/>
          </a:xfrm>
          <a:prstGeom prst="rect">
            <a:avLst/>
          </a:prstGeom>
          <a:solidFill>
            <a:srgbClr val="FDF6E0"/>
          </a:solidFill>
          <a:ln/>
        </p:spPr>
      </p:sp>
      <p:sp>
        <p:nvSpPr>
          <p:cNvPr id="35" name="Shape 32"/>
          <p:cNvSpPr/>
          <p:nvPr/>
        </p:nvSpPr>
        <p:spPr>
          <a:xfrm>
            <a:off x="6372225" y="2409825"/>
            <a:ext cx="38100" cy="247650"/>
          </a:xfrm>
          <a:prstGeom prst="rect">
            <a:avLst/>
          </a:prstGeom>
          <a:solidFill>
            <a:srgbClr val="2F6F4F"/>
          </a:solidFill>
          <a:ln/>
        </p:spPr>
      </p:sp>
      <p:sp>
        <p:nvSpPr>
          <p:cNvPr id="36" name="Text 33"/>
          <p:cNvSpPr txBox="1"/>
          <p:nvPr/>
        </p:nvSpPr>
        <p:spPr>
          <a:xfrm>
            <a:off x="6457950" y="2409825"/>
            <a:ext cx="2181225" cy="247650"/>
          </a:xfrm>
          <a:prstGeom prst="rect">
            <a:avLst/>
          </a:prstGeom>
          <a:noFill/>
          <a:ln/>
        </p:spPr>
        <p:txBody>
          <a:bodyPr wrap="square" lIns="0" tIns="0" rIns="0" bIns="0" rtlCol="0" anchor="ctr"/>
          <a:lstStyle/>
          <a:p>
            <a:pPr indent="0" marL="0">
              <a:lnSpc>
                <a:spcPct val="100000"/>
              </a:lnSpc>
              <a:buNone/>
            </a:pPr>
            <a:r>
              <a:rPr lang="en-US" sz="800" b="1" dirty="0">
                <a:solidFill>
                  <a:srgbClr val="2A2016"/>
                </a:solidFill>
                <a:latin typeface="Arial" pitchFamily="34" charset="0"/>
                <a:ea typeface="Arial" pitchFamily="34" charset="-122"/>
                <a:cs typeface="Arial" pitchFamily="34" charset="-120"/>
              </a:rPr>
              <a:t>US-P2 · placer un pari</a:t>
            </a:r>
            <a:endParaRPr lang="en-US" sz="800" dirty="0"/>
          </a:p>
        </p:txBody>
      </p:sp>
      <p:sp>
        <p:nvSpPr>
          <p:cNvPr id="37" name="Text 34"/>
          <p:cNvSpPr txBox="1"/>
          <p:nvPr/>
        </p:nvSpPr>
        <p:spPr>
          <a:xfrm>
            <a:off x="8629650" y="2409825"/>
            <a:ext cx="209550" cy="247650"/>
          </a:xfrm>
          <a:prstGeom prst="rect">
            <a:avLst/>
          </a:prstGeom>
          <a:noFill/>
          <a:ln/>
        </p:spPr>
        <p:txBody>
          <a:bodyPr wrap="square" lIns="0" tIns="0" rIns="0" bIns="0" rtlCol="0" anchor="ctr"/>
          <a:lstStyle/>
          <a:p>
            <a:pPr algn="r" indent="0" marL="0">
              <a:buNone/>
            </a:pPr>
            <a:r>
              <a:rPr lang="en-US" sz="750" dirty="0">
                <a:solidFill>
                  <a:srgbClr val="7A6A48"/>
                </a:solidFill>
                <a:latin typeface="Consolas" pitchFamily="34" charset="0"/>
                <a:ea typeface="Consolas" pitchFamily="34" charset="-122"/>
                <a:cs typeface="Consolas" pitchFamily="34" charset="-120"/>
              </a:rPr>
              <a:t>5</a:t>
            </a:r>
            <a:endParaRPr lang="en-US" sz="750" dirty="0"/>
          </a:p>
        </p:txBody>
      </p:sp>
      <p:sp>
        <p:nvSpPr>
          <p:cNvPr id="38" name="Shape 35"/>
          <p:cNvSpPr/>
          <p:nvPr/>
        </p:nvSpPr>
        <p:spPr>
          <a:xfrm>
            <a:off x="6372225" y="2705100"/>
            <a:ext cx="2524125" cy="247650"/>
          </a:xfrm>
          <a:prstGeom prst="rect">
            <a:avLst/>
          </a:prstGeom>
          <a:solidFill>
            <a:srgbClr val="FDF6E0"/>
          </a:solidFill>
          <a:ln/>
        </p:spPr>
      </p:sp>
      <p:sp>
        <p:nvSpPr>
          <p:cNvPr id="39" name="Shape 36"/>
          <p:cNvSpPr/>
          <p:nvPr/>
        </p:nvSpPr>
        <p:spPr>
          <a:xfrm>
            <a:off x="6372225" y="2705100"/>
            <a:ext cx="38100" cy="247650"/>
          </a:xfrm>
          <a:prstGeom prst="rect">
            <a:avLst/>
          </a:prstGeom>
          <a:solidFill>
            <a:srgbClr val="2F6F4F"/>
          </a:solidFill>
          <a:ln/>
        </p:spPr>
      </p:sp>
      <p:sp>
        <p:nvSpPr>
          <p:cNvPr id="40" name="Text 37"/>
          <p:cNvSpPr txBox="1"/>
          <p:nvPr/>
        </p:nvSpPr>
        <p:spPr>
          <a:xfrm>
            <a:off x="6457950" y="2705100"/>
            <a:ext cx="2181225" cy="247650"/>
          </a:xfrm>
          <a:prstGeom prst="rect">
            <a:avLst/>
          </a:prstGeom>
          <a:noFill/>
          <a:ln/>
        </p:spPr>
        <p:txBody>
          <a:bodyPr wrap="square" lIns="0" tIns="0" rIns="0" bIns="0" rtlCol="0" anchor="ctr"/>
          <a:lstStyle/>
          <a:p>
            <a:pPr indent="0" marL="0">
              <a:lnSpc>
                <a:spcPct val="100000"/>
              </a:lnSpc>
              <a:buNone/>
            </a:pPr>
            <a:r>
              <a:rPr lang="en-US" sz="800" b="1" dirty="0">
                <a:solidFill>
                  <a:srgbClr val="2A2016"/>
                </a:solidFill>
                <a:latin typeface="Arial" pitchFamily="34" charset="0"/>
                <a:ea typeface="Arial" pitchFamily="34" charset="-122"/>
                <a:cs typeface="Arial" pitchFamily="34" charset="-120"/>
              </a:rPr>
              <a:t>US-P3 · inviter des proches</a:t>
            </a:r>
            <a:endParaRPr lang="en-US" sz="800" dirty="0"/>
          </a:p>
        </p:txBody>
      </p:sp>
      <p:sp>
        <p:nvSpPr>
          <p:cNvPr id="41" name="Text 38"/>
          <p:cNvSpPr txBox="1"/>
          <p:nvPr/>
        </p:nvSpPr>
        <p:spPr>
          <a:xfrm>
            <a:off x="8629650" y="2705100"/>
            <a:ext cx="209550" cy="247650"/>
          </a:xfrm>
          <a:prstGeom prst="rect">
            <a:avLst/>
          </a:prstGeom>
          <a:noFill/>
          <a:ln/>
        </p:spPr>
        <p:txBody>
          <a:bodyPr wrap="square" lIns="0" tIns="0" rIns="0" bIns="0" rtlCol="0" anchor="ctr"/>
          <a:lstStyle/>
          <a:p>
            <a:pPr algn="r" indent="0" marL="0">
              <a:buNone/>
            </a:pPr>
            <a:r>
              <a:rPr lang="en-US" sz="750" dirty="0">
                <a:solidFill>
                  <a:srgbClr val="7A6A48"/>
                </a:solidFill>
                <a:latin typeface="Consolas" pitchFamily="34" charset="0"/>
                <a:ea typeface="Consolas" pitchFamily="34" charset="-122"/>
                <a:cs typeface="Consolas" pitchFamily="34" charset="-120"/>
              </a:rPr>
              <a:t>3</a:t>
            </a:r>
            <a:endParaRPr lang="en-US" sz="750" dirty="0"/>
          </a:p>
        </p:txBody>
      </p:sp>
      <p:sp>
        <p:nvSpPr>
          <p:cNvPr id="42" name="Shape 39"/>
          <p:cNvSpPr/>
          <p:nvPr/>
        </p:nvSpPr>
        <p:spPr>
          <a:xfrm>
            <a:off x="6372225" y="3000375"/>
            <a:ext cx="2524125" cy="247650"/>
          </a:xfrm>
          <a:prstGeom prst="rect">
            <a:avLst/>
          </a:prstGeom>
          <a:solidFill>
            <a:srgbClr val="FDF6E0"/>
          </a:solidFill>
          <a:ln/>
        </p:spPr>
      </p:sp>
      <p:sp>
        <p:nvSpPr>
          <p:cNvPr id="43" name="Shape 40"/>
          <p:cNvSpPr/>
          <p:nvPr/>
        </p:nvSpPr>
        <p:spPr>
          <a:xfrm>
            <a:off x="6372225" y="3000375"/>
            <a:ext cx="38100" cy="247650"/>
          </a:xfrm>
          <a:prstGeom prst="rect">
            <a:avLst/>
          </a:prstGeom>
          <a:solidFill>
            <a:srgbClr val="2F6F4F"/>
          </a:solidFill>
          <a:ln/>
        </p:spPr>
      </p:sp>
      <p:sp>
        <p:nvSpPr>
          <p:cNvPr id="44" name="Text 41"/>
          <p:cNvSpPr txBox="1"/>
          <p:nvPr/>
        </p:nvSpPr>
        <p:spPr>
          <a:xfrm>
            <a:off x="6457950" y="3000375"/>
            <a:ext cx="2181225" cy="247650"/>
          </a:xfrm>
          <a:prstGeom prst="rect">
            <a:avLst/>
          </a:prstGeom>
          <a:noFill/>
          <a:ln/>
        </p:spPr>
        <p:txBody>
          <a:bodyPr wrap="square" lIns="0" tIns="0" rIns="0" bIns="0" rtlCol="0" anchor="ctr"/>
          <a:lstStyle/>
          <a:p>
            <a:pPr indent="0" marL="0">
              <a:lnSpc>
                <a:spcPct val="100000"/>
              </a:lnSpc>
              <a:buNone/>
            </a:pPr>
            <a:r>
              <a:rPr lang="en-US" sz="800" b="1" dirty="0">
                <a:solidFill>
                  <a:srgbClr val="2A2016"/>
                </a:solidFill>
                <a:latin typeface="Arial" pitchFamily="34" charset="0"/>
                <a:ea typeface="Arial" pitchFamily="34" charset="-122"/>
                <a:cs typeface="Arial" pitchFamily="34" charset="-120"/>
              </a:rPr>
              <a:t>US-P5 · demande de rendez-vous</a:t>
            </a:r>
            <a:endParaRPr lang="en-US" sz="800" dirty="0"/>
          </a:p>
        </p:txBody>
      </p:sp>
      <p:sp>
        <p:nvSpPr>
          <p:cNvPr id="45" name="Text 42"/>
          <p:cNvSpPr txBox="1"/>
          <p:nvPr/>
        </p:nvSpPr>
        <p:spPr>
          <a:xfrm>
            <a:off x="8629650" y="3000375"/>
            <a:ext cx="209550" cy="247650"/>
          </a:xfrm>
          <a:prstGeom prst="rect">
            <a:avLst/>
          </a:prstGeom>
          <a:noFill/>
          <a:ln/>
        </p:spPr>
        <p:txBody>
          <a:bodyPr wrap="square" lIns="0" tIns="0" rIns="0" bIns="0" rtlCol="0" anchor="ctr"/>
          <a:lstStyle/>
          <a:p>
            <a:pPr algn="r" indent="0" marL="0">
              <a:buNone/>
            </a:pPr>
            <a:r>
              <a:rPr lang="en-US" sz="750" dirty="0">
                <a:solidFill>
                  <a:srgbClr val="7A6A48"/>
                </a:solidFill>
                <a:latin typeface="Consolas" pitchFamily="34" charset="0"/>
                <a:ea typeface="Consolas" pitchFamily="34" charset="-122"/>
                <a:cs typeface="Consolas" pitchFamily="34" charset="-120"/>
              </a:rPr>
              <a:t>3</a:t>
            </a:r>
            <a:endParaRPr lang="en-US" sz="750" dirty="0"/>
          </a:p>
        </p:txBody>
      </p:sp>
      <p:sp>
        <p:nvSpPr>
          <p:cNvPr id="46" name="Shape 43"/>
          <p:cNvSpPr/>
          <p:nvPr/>
        </p:nvSpPr>
        <p:spPr>
          <a:xfrm>
            <a:off x="6372225" y="3295650"/>
            <a:ext cx="2524125" cy="247650"/>
          </a:xfrm>
          <a:prstGeom prst="rect">
            <a:avLst/>
          </a:prstGeom>
          <a:solidFill>
            <a:srgbClr val="FDF6E0"/>
          </a:solidFill>
          <a:ln/>
        </p:spPr>
      </p:sp>
      <p:sp>
        <p:nvSpPr>
          <p:cNvPr id="47" name="Shape 44"/>
          <p:cNvSpPr/>
          <p:nvPr/>
        </p:nvSpPr>
        <p:spPr>
          <a:xfrm>
            <a:off x="6372225" y="3295650"/>
            <a:ext cx="38100" cy="247650"/>
          </a:xfrm>
          <a:prstGeom prst="rect">
            <a:avLst/>
          </a:prstGeom>
          <a:solidFill>
            <a:srgbClr val="2F6F4F"/>
          </a:solidFill>
          <a:ln/>
        </p:spPr>
      </p:sp>
      <p:sp>
        <p:nvSpPr>
          <p:cNvPr id="48" name="Text 45"/>
          <p:cNvSpPr txBox="1"/>
          <p:nvPr/>
        </p:nvSpPr>
        <p:spPr>
          <a:xfrm>
            <a:off x="6457950" y="3295650"/>
            <a:ext cx="2181225" cy="247650"/>
          </a:xfrm>
          <a:prstGeom prst="rect">
            <a:avLst/>
          </a:prstGeom>
          <a:noFill/>
          <a:ln/>
        </p:spPr>
        <p:txBody>
          <a:bodyPr wrap="square" lIns="0" tIns="0" rIns="0" bIns="0" rtlCol="0" anchor="ctr"/>
          <a:lstStyle/>
          <a:p>
            <a:pPr indent="0" marL="0">
              <a:lnSpc>
                <a:spcPct val="100000"/>
              </a:lnSpc>
              <a:buNone/>
            </a:pPr>
            <a:r>
              <a:rPr lang="en-US" sz="800" b="1" dirty="0">
                <a:solidFill>
                  <a:srgbClr val="2A2016"/>
                </a:solidFill>
                <a:latin typeface="Arial" pitchFamily="34" charset="0"/>
                <a:ea typeface="Arial" pitchFamily="34" charset="-122"/>
                <a:cs typeface="Arial" pitchFamily="34" charset="-120"/>
              </a:rPr>
              <a:t>US-P6 · authentification par profil</a:t>
            </a:r>
            <a:endParaRPr lang="en-US" sz="800" dirty="0"/>
          </a:p>
        </p:txBody>
      </p:sp>
      <p:sp>
        <p:nvSpPr>
          <p:cNvPr id="49" name="Text 46"/>
          <p:cNvSpPr txBox="1"/>
          <p:nvPr/>
        </p:nvSpPr>
        <p:spPr>
          <a:xfrm>
            <a:off x="8629650" y="3295650"/>
            <a:ext cx="209550" cy="247650"/>
          </a:xfrm>
          <a:prstGeom prst="rect">
            <a:avLst/>
          </a:prstGeom>
          <a:noFill/>
          <a:ln/>
        </p:spPr>
        <p:txBody>
          <a:bodyPr wrap="square" lIns="0" tIns="0" rIns="0" bIns="0" rtlCol="0" anchor="ctr"/>
          <a:lstStyle/>
          <a:p>
            <a:pPr algn="r" indent="0" marL="0">
              <a:buNone/>
            </a:pPr>
            <a:r>
              <a:rPr lang="en-US" sz="750" dirty="0">
                <a:solidFill>
                  <a:srgbClr val="7A6A48"/>
                </a:solidFill>
                <a:latin typeface="Consolas" pitchFamily="34" charset="0"/>
                <a:ea typeface="Consolas" pitchFamily="34" charset="-122"/>
                <a:cs typeface="Consolas" pitchFamily="34" charset="-120"/>
              </a:rPr>
              <a:t>2</a:t>
            </a:r>
            <a:endParaRPr lang="en-US" sz="750" dirty="0"/>
          </a:p>
        </p:txBody>
      </p:sp>
      <p:sp>
        <p:nvSpPr>
          <p:cNvPr id="50" name="Shape 47"/>
          <p:cNvSpPr/>
          <p:nvPr/>
        </p:nvSpPr>
        <p:spPr>
          <a:xfrm>
            <a:off x="6372225" y="3590925"/>
            <a:ext cx="2524125" cy="247650"/>
          </a:xfrm>
          <a:prstGeom prst="rect">
            <a:avLst/>
          </a:prstGeom>
          <a:solidFill>
            <a:srgbClr val="FDF6E0"/>
          </a:solidFill>
          <a:ln/>
        </p:spPr>
      </p:sp>
      <p:sp>
        <p:nvSpPr>
          <p:cNvPr id="51" name="Shape 48"/>
          <p:cNvSpPr/>
          <p:nvPr/>
        </p:nvSpPr>
        <p:spPr>
          <a:xfrm>
            <a:off x="6372225" y="3590925"/>
            <a:ext cx="38100" cy="247650"/>
          </a:xfrm>
          <a:prstGeom prst="rect">
            <a:avLst/>
          </a:prstGeom>
          <a:solidFill>
            <a:srgbClr val="2B4F8F"/>
          </a:solidFill>
          <a:ln/>
        </p:spPr>
      </p:sp>
      <p:sp>
        <p:nvSpPr>
          <p:cNvPr id="52" name="Text 49"/>
          <p:cNvSpPr txBox="1"/>
          <p:nvPr/>
        </p:nvSpPr>
        <p:spPr>
          <a:xfrm>
            <a:off x="6457950" y="3590925"/>
            <a:ext cx="2181225" cy="247650"/>
          </a:xfrm>
          <a:prstGeom prst="rect">
            <a:avLst/>
          </a:prstGeom>
          <a:noFill/>
          <a:ln/>
        </p:spPr>
        <p:txBody>
          <a:bodyPr wrap="square" lIns="0" tIns="0" rIns="0" bIns="0" rtlCol="0" anchor="ctr"/>
          <a:lstStyle/>
          <a:p>
            <a:pPr indent="0" marL="0">
              <a:lnSpc>
                <a:spcPct val="100000"/>
              </a:lnSpc>
              <a:buNone/>
            </a:pPr>
            <a:r>
              <a:rPr lang="en-US" sz="800" b="1" dirty="0">
                <a:solidFill>
                  <a:srgbClr val="2A2016"/>
                </a:solidFill>
                <a:latin typeface="Arial" pitchFamily="34" charset="0"/>
                <a:ea typeface="Arial" pitchFamily="34" charset="-122"/>
                <a:cs typeface="Arial" pitchFamily="34" charset="-120"/>
              </a:rPr>
              <a:t>ST-P7 · console de traçabilité FHIR</a:t>
            </a:r>
            <a:endParaRPr lang="en-US" sz="800" dirty="0"/>
          </a:p>
        </p:txBody>
      </p:sp>
      <p:sp>
        <p:nvSpPr>
          <p:cNvPr id="53" name="Text 50"/>
          <p:cNvSpPr txBox="1"/>
          <p:nvPr/>
        </p:nvSpPr>
        <p:spPr>
          <a:xfrm>
            <a:off x="8629650" y="3590925"/>
            <a:ext cx="209550" cy="247650"/>
          </a:xfrm>
          <a:prstGeom prst="rect">
            <a:avLst/>
          </a:prstGeom>
          <a:noFill/>
          <a:ln/>
        </p:spPr>
        <p:txBody>
          <a:bodyPr wrap="square" lIns="0" tIns="0" rIns="0" bIns="0" rtlCol="0" anchor="ctr"/>
          <a:lstStyle/>
          <a:p>
            <a:pPr algn="r" indent="0" marL="0">
              <a:buNone/>
            </a:pPr>
            <a:r>
              <a:rPr lang="en-US" sz="750" dirty="0">
                <a:solidFill>
                  <a:srgbClr val="7A6A48"/>
                </a:solidFill>
                <a:latin typeface="Consolas" pitchFamily="34" charset="0"/>
                <a:ea typeface="Consolas" pitchFamily="34" charset="-122"/>
                <a:cs typeface="Consolas" pitchFamily="34" charset="-120"/>
              </a:rPr>
              <a:t>5</a:t>
            </a:r>
            <a:endParaRPr lang="en-US" sz="750" dirty="0"/>
          </a:p>
        </p:txBody>
      </p:sp>
      <p:sp>
        <p:nvSpPr>
          <p:cNvPr id="54" name="Shape 51"/>
          <p:cNvSpPr/>
          <p:nvPr/>
        </p:nvSpPr>
        <p:spPr>
          <a:xfrm>
            <a:off x="6372225" y="3886200"/>
            <a:ext cx="2524125" cy="247650"/>
          </a:xfrm>
          <a:prstGeom prst="rect">
            <a:avLst/>
          </a:prstGeom>
          <a:solidFill>
            <a:srgbClr val="FDF6E0"/>
          </a:solidFill>
          <a:ln/>
        </p:spPr>
      </p:sp>
      <p:sp>
        <p:nvSpPr>
          <p:cNvPr id="55" name="Shape 52"/>
          <p:cNvSpPr/>
          <p:nvPr/>
        </p:nvSpPr>
        <p:spPr>
          <a:xfrm>
            <a:off x="6372225" y="3886200"/>
            <a:ext cx="38100" cy="247650"/>
          </a:xfrm>
          <a:prstGeom prst="rect">
            <a:avLst/>
          </a:prstGeom>
          <a:solidFill>
            <a:srgbClr val="2F6F4F"/>
          </a:solidFill>
          <a:ln/>
        </p:spPr>
      </p:sp>
      <p:sp>
        <p:nvSpPr>
          <p:cNvPr id="56" name="Text 53"/>
          <p:cNvSpPr txBox="1"/>
          <p:nvPr/>
        </p:nvSpPr>
        <p:spPr>
          <a:xfrm>
            <a:off x="6457950" y="3886200"/>
            <a:ext cx="2181225" cy="247650"/>
          </a:xfrm>
          <a:prstGeom prst="rect">
            <a:avLst/>
          </a:prstGeom>
          <a:noFill/>
          <a:ln/>
        </p:spPr>
        <p:txBody>
          <a:bodyPr wrap="square" lIns="0" tIns="0" rIns="0" bIns="0" rtlCol="0" anchor="ctr"/>
          <a:lstStyle/>
          <a:p>
            <a:pPr indent="0" marL="0">
              <a:lnSpc>
                <a:spcPct val="100000"/>
              </a:lnSpc>
              <a:buNone/>
            </a:pPr>
            <a:r>
              <a:rPr lang="en-US" sz="800" b="1" dirty="0">
                <a:solidFill>
                  <a:srgbClr val="2A2016"/>
                </a:solidFill>
                <a:latin typeface="Arial" pitchFamily="34" charset="0"/>
                <a:ea typeface="Arial" pitchFamily="34" charset="-122"/>
                <a:cs typeface="Arial" pitchFamily="34" charset="-120"/>
              </a:rPr>
              <a:t>US-P8 · habillage casino</a:t>
            </a:r>
            <a:endParaRPr lang="en-US" sz="800" dirty="0"/>
          </a:p>
        </p:txBody>
      </p:sp>
      <p:sp>
        <p:nvSpPr>
          <p:cNvPr id="57" name="Text 54"/>
          <p:cNvSpPr txBox="1"/>
          <p:nvPr/>
        </p:nvSpPr>
        <p:spPr>
          <a:xfrm>
            <a:off x="8629650" y="3886200"/>
            <a:ext cx="209550" cy="247650"/>
          </a:xfrm>
          <a:prstGeom prst="rect">
            <a:avLst/>
          </a:prstGeom>
          <a:noFill/>
          <a:ln/>
        </p:spPr>
        <p:txBody>
          <a:bodyPr wrap="square" lIns="0" tIns="0" rIns="0" bIns="0" rtlCol="0" anchor="ctr"/>
          <a:lstStyle/>
          <a:p>
            <a:pPr algn="r" indent="0" marL="0">
              <a:buNone/>
            </a:pPr>
            <a:r>
              <a:rPr lang="en-US" sz="750" dirty="0">
                <a:solidFill>
                  <a:srgbClr val="7A6A48"/>
                </a:solidFill>
                <a:latin typeface="Consolas" pitchFamily="34" charset="0"/>
                <a:ea typeface="Consolas" pitchFamily="34" charset="-122"/>
                <a:cs typeface="Consolas" pitchFamily="34" charset="-120"/>
              </a:rPr>
              <a:t>3</a:t>
            </a:r>
            <a:endParaRPr lang="en-US" sz="750" dirty="0"/>
          </a:p>
        </p:txBody>
      </p:sp>
      <p:sp>
        <p:nvSpPr>
          <p:cNvPr id="58" name="Shape 55"/>
          <p:cNvSpPr/>
          <p:nvPr/>
        </p:nvSpPr>
        <p:spPr>
          <a:xfrm>
            <a:off x="8972550" y="2114550"/>
            <a:ext cx="2524125" cy="247650"/>
          </a:xfrm>
          <a:prstGeom prst="rect">
            <a:avLst/>
          </a:prstGeom>
          <a:solidFill>
            <a:srgbClr val="FDF6E0"/>
          </a:solidFill>
          <a:ln/>
        </p:spPr>
      </p:sp>
      <p:sp>
        <p:nvSpPr>
          <p:cNvPr id="59" name="Shape 56"/>
          <p:cNvSpPr/>
          <p:nvPr/>
        </p:nvSpPr>
        <p:spPr>
          <a:xfrm>
            <a:off x="8972550" y="2114550"/>
            <a:ext cx="38100" cy="247650"/>
          </a:xfrm>
          <a:prstGeom prst="rect">
            <a:avLst/>
          </a:prstGeom>
          <a:solidFill>
            <a:srgbClr val="8A6A1F"/>
          </a:solidFill>
          <a:ln/>
        </p:spPr>
      </p:sp>
      <p:sp>
        <p:nvSpPr>
          <p:cNvPr id="60" name="Text 57"/>
          <p:cNvSpPr txBox="1"/>
          <p:nvPr/>
        </p:nvSpPr>
        <p:spPr>
          <a:xfrm>
            <a:off x="9058275" y="2114550"/>
            <a:ext cx="2181225" cy="247650"/>
          </a:xfrm>
          <a:prstGeom prst="rect">
            <a:avLst/>
          </a:prstGeom>
          <a:noFill/>
          <a:ln/>
        </p:spPr>
        <p:txBody>
          <a:bodyPr wrap="square" lIns="0" tIns="0" rIns="0" bIns="0" rtlCol="0" anchor="ctr"/>
          <a:lstStyle/>
          <a:p>
            <a:pPr indent="0" marL="0">
              <a:lnSpc>
                <a:spcPct val="100000"/>
              </a:lnSpc>
              <a:buNone/>
            </a:pPr>
            <a:r>
              <a:rPr lang="en-US" sz="800" b="1" dirty="0">
                <a:solidFill>
                  <a:srgbClr val="2A2016"/>
                </a:solidFill>
                <a:latin typeface="Arial" pitchFamily="34" charset="0"/>
                <a:ea typeface="Arial" pitchFamily="34" charset="-122"/>
                <a:cs typeface="Arial" pitchFamily="34" charset="-120"/>
              </a:rPr>
              <a:t>TACHE-P9 · tests d'interopérabilité</a:t>
            </a:r>
            <a:endParaRPr lang="en-US" sz="800" dirty="0"/>
          </a:p>
        </p:txBody>
      </p:sp>
      <p:sp>
        <p:nvSpPr>
          <p:cNvPr id="61" name="Text 58"/>
          <p:cNvSpPr txBox="1"/>
          <p:nvPr/>
        </p:nvSpPr>
        <p:spPr>
          <a:xfrm>
            <a:off x="11229975" y="2114550"/>
            <a:ext cx="209550" cy="247650"/>
          </a:xfrm>
          <a:prstGeom prst="rect">
            <a:avLst/>
          </a:prstGeom>
          <a:noFill/>
          <a:ln/>
        </p:spPr>
        <p:txBody>
          <a:bodyPr wrap="square" lIns="0" tIns="0" rIns="0" bIns="0" rtlCol="0" anchor="ctr"/>
          <a:lstStyle/>
          <a:p>
            <a:pPr algn="r" indent="0" marL="0">
              <a:buNone/>
            </a:pPr>
            <a:r>
              <a:rPr lang="en-US" sz="750" dirty="0">
                <a:solidFill>
                  <a:srgbClr val="7A6A48"/>
                </a:solidFill>
                <a:latin typeface="Consolas" pitchFamily="34" charset="0"/>
                <a:ea typeface="Consolas" pitchFamily="34" charset="-122"/>
                <a:cs typeface="Consolas" pitchFamily="34" charset="-120"/>
              </a:rPr>
              <a:t>3</a:t>
            </a:r>
            <a:endParaRPr lang="en-US" sz="750" dirty="0"/>
          </a:p>
        </p:txBody>
      </p:sp>
      <p:sp>
        <p:nvSpPr>
          <p:cNvPr id="62" name="Shape 59"/>
          <p:cNvSpPr/>
          <p:nvPr/>
        </p:nvSpPr>
        <p:spPr>
          <a:xfrm>
            <a:off x="8972550" y="2409825"/>
            <a:ext cx="2524125" cy="247650"/>
          </a:xfrm>
          <a:prstGeom prst="rect">
            <a:avLst/>
          </a:prstGeom>
          <a:solidFill>
            <a:srgbClr val="FDF6E0"/>
          </a:solidFill>
          <a:ln/>
        </p:spPr>
      </p:sp>
      <p:sp>
        <p:nvSpPr>
          <p:cNvPr id="63" name="Shape 60"/>
          <p:cNvSpPr/>
          <p:nvPr/>
        </p:nvSpPr>
        <p:spPr>
          <a:xfrm>
            <a:off x="8972550" y="2409825"/>
            <a:ext cx="38100" cy="247650"/>
          </a:xfrm>
          <a:prstGeom prst="rect">
            <a:avLst/>
          </a:prstGeom>
          <a:solidFill>
            <a:srgbClr val="8A6A1F"/>
          </a:solidFill>
          <a:ln/>
        </p:spPr>
      </p:sp>
      <p:sp>
        <p:nvSpPr>
          <p:cNvPr id="64" name="Text 61"/>
          <p:cNvSpPr txBox="1"/>
          <p:nvPr/>
        </p:nvSpPr>
        <p:spPr>
          <a:xfrm>
            <a:off x="9058275" y="2409825"/>
            <a:ext cx="2181225" cy="247650"/>
          </a:xfrm>
          <a:prstGeom prst="rect">
            <a:avLst/>
          </a:prstGeom>
          <a:noFill/>
          <a:ln/>
        </p:spPr>
        <p:txBody>
          <a:bodyPr wrap="square" lIns="0" tIns="0" rIns="0" bIns="0" rtlCol="0" anchor="ctr"/>
          <a:lstStyle/>
          <a:p>
            <a:pPr indent="0" marL="0">
              <a:lnSpc>
                <a:spcPct val="100000"/>
              </a:lnSpc>
              <a:buNone/>
            </a:pPr>
            <a:r>
              <a:rPr lang="en-US" sz="800" b="1" dirty="0">
                <a:solidFill>
                  <a:srgbClr val="2A2016"/>
                </a:solidFill>
                <a:latin typeface="Arial" pitchFamily="34" charset="0"/>
                <a:ea typeface="Arial" pitchFamily="34" charset="-122"/>
                <a:cs typeface="Arial" pitchFamily="34" charset="-120"/>
              </a:rPr>
              <a:t>TACHE-P10 · support de soutenance</a:t>
            </a:r>
            <a:endParaRPr lang="en-US" sz="800" dirty="0"/>
          </a:p>
        </p:txBody>
      </p:sp>
      <p:sp>
        <p:nvSpPr>
          <p:cNvPr id="65" name="Text 62"/>
          <p:cNvSpPr txBox="1"/>
          <p:nvPr/>
        </p:nvSpPr>
        <p:spPr>
          <a:xfrm>
            <a:off x="11229975" y="2409825"/>
            <a:ext cx="209550" cy="247650"/>
          </a:xfrm>
          <a:prstGeom prst="rect">
            <a:avLst/>
          </a:prstGeom>
          <a:noFill/>
          <a:ln/>
        </p:spPr>
        <p:txBody>
          <a:bodyPr wrap="square" lIns="0" tIns="0" rIns="0" bIns="0" rtlCol="0" anchor="ctr"/>
          <a:lstStyle/>
          <a:p>
            <a:pPr algn="r" indent="0" marL="0">
              <a:buNone/>
            </a:pPr>
            <a:r>
              <a:rPr lang="en-US" sz="750" dirty="0">
                <a:solidFill>
                  <a:srgbClr val="7A6A48"/>
                </a:solidFill>
                <a:latin typeface="Consolas" pitchFamily="34" charset="0"/>
                <a:ea typeface="Consolas" pitchFamily="34" charset="-122"/>
                <a:cs typeface="Consolas" pitchFamily="34" charset="-120"/>
              </a:rPr>
              <a:t>5</a:t>
            </a:r>
            <a:endParaRPr lang="en-US" sz="750" dirty="0"/>
          </a:p>
        </p:txBody>
      </p:sp>
      <p:sp>
        <p:nvSpPr>
          <p:cNvPr id="66" name="Shape 63"/>
          <p:cNvSpPr/>
          <p:nvPr/>
        </p:nvSpPr>
        <p:spPr>
          <a:xfrm>
            <a:off x="8972550" y="2705100"/>
            <a:ext cx="2524125" cy="247650"/>
          </a:xfrm>
          <a:prstGeom prst="rect">
            <a:avLst/>
          </a:prstGeom>
          <a:solidFill>
            <a:srgbClr val="FDF6E0"/>
          </a:solidFill>
          <a:ln/>
        </p:spPr>
      </p:sp>
      <p:sp>
        <p:nvSpPr>
          <p:cNvPr id="67" name="Shape 64"/>
          <p:cNvSpPr/>
          <p:nvPr/>
        </p:nvSpPr>
        <p:spPr>
          <a:xfrm>
            <a:off x="8972550" y="2705100"/>
            <a:ext cx="38100" cy="247650"/>
          </a:xfrm>
          <a:prstGeom prst="rect">
            <a:avLst/>
          </a:prstGeom>
          <a:solidFill>
            <a:srgbClr val="B5761F"/>
          </a:solidFill>
          <a:ln/>
        </p:spPr>
      </p:sp>
      <p:sp>
        <p:nvSpPr>
          <p:cNvPr id="68" name="Text 65"/>
          <p:cNvSpPr txBox="1"/>
          <p:nvPr/>
        </p:nvSpPr>
        <p:spPr>
          <a:xfrm>
            <a:off x="9058275" y="2705100"/>
            <a:ext cx="2181225" cy="247650"/>
          </a:xfrm>
          <a:prstGeom prst="rect">
            <a:avLst/>
          </a:prstGeom>
          <a:noFill/>
          <a:ln/>
        </p:spPr>
        <p:txBody>
          <a:bodyPr wrap="square" lIns="0" tIns="0" rIns="0" bIns="0" rtlCol="0" anchor="ctr"/>
          <a:lstStyle/>
          <a:p>
            <a:pPr indent="0" marL="0">
              <a:lnSpc>
                <a:spcPct val="100000"/>
              </a:lnSpc>
              <a:buNone/>
            </a:pPr>
            <a:r>
              <a:rPr lang="en-US" sz="800" b="1" dirty="0">
                <a:solidFill>
                  <a:srgbClr val="2A2016"/>
                </a:solidFill>
                <a:latin typeface="Arial" pitchFamily="34" charset="0"/>
                <a:ea typeface="Arial" pitchFamily="34" charset="-122"/>
                <a:cs typeface="Arial" pitchFamily="34" charset="-120"/>
              </a:rPr>
              <a:t>SPIKE-P11 · relecture INVEST</a:t>
            </a:r>
            <a:endParaRPr lang="en-US" sz="800" dirty="0"/>
          </a:p>
        </p:txBody>
      </p:sp>
      <p:sp>
        <p:nvSpPr>
          <p:cNvPr id="69" name="Text 66"/>
          <p:cNvSpPr txBox="1"/>
          <p:nvPr/>
        </p:nvSpPr>
        <p:spPr>
          <a:xfrm>
            <a:off x="11229975" y="2705100"/>
            <a:ext cx="209550" cy="247650"/>
          </a:xfrm>
          <a:prstGeom prst="rect">
            <a:avLst/>
          </a:prstGeom>
          <a:noFill/>
          <a:ln/>
        </p:spPr>
        <p:txBody>
          <a:bodyPr wrap="square" lIns="0" tIns="0" rIns="0" bIns="0" rtlCol="0" anchor="ctr"/>
          <a:lstStyle/>
          <a:p>
            <a:pPr algn="r" indent="0" marL="0">
              <a:buNone/>
            </a:pPr>
            <a:r>
              <a:rPr lang="en-US" sz="750" dirty="0">
                <a:solidFill>
                  <a:srgbClr val="7A6A48"/>
                </a:solidFill>
                <a:latin typeface="Consolas" pitchFamily="34" charset="0"/>
                <a:ea typeface="Consolas" pitchFamily="34" charset="-122"/>
                <a:cs typeface="Consolas" pitchFamily="34" charset="-120"/>
              </a:rPr>
              <a:t>2</a:t>
            </a:r>
            <a:endParaRPr lang="en-US" sz="750" dirty="0"/>
          </a:p>
        </p:txBody>
      </p:sp>
      <p:sp>
        <p:nvSpPr>
          <p:cNvPr id="70" name="Shape 67"/>
          <p:cNvSpPr/>
          <p:nvPr/>
        </p:nvSpPr>
        <p:spPr>
          <a:xfrm>
            <a:off x="8972550" y="3000375"/>
            <a:ext cx="2524125" cy="247650"/>
          </a:xfrm>
          <a:prstGeom prst="rect">
            <a:avLst/>
          </a:prstGeom>
          <a:solidFill>
            <a:srgbClr val="FDF6E0"/>
          </a:solidFill>
          <a:ln/>
        </p:spPr>
      </p:sp>
      <p:sp>
        <p:nvSpPr>
          <p:cNvPr id="71" name="Shape 68"/>
          <p:cNvSpPr/>
          <p:nvPr/>
        </p:nvSpPr>
        <p:spPr>
          <a:xfrm>
            <a:off x="8972550" y="3000375"/>
            <a:ext cx="38100" cy="247650"/>
          </a:xfrm>
          <a:prstGeom prst="rect">
            <a:avLst/>
          </a:prstGeom>
          <a:solidFill>
            <a:srgbClr val="8A6A1F"/>
          </a:solidFill>
          <a:ln/>
        </p:spPr>
      </p:sp>
      <p:sp>
        <p:nvSpPr>
          <p:cNvPr id="72" name="Text 69"/>
          <p:cNvSpPr txBox="1"/>
          <p:nvPr/>
        </p:nvSpPr>
        <p:spPr>
          <a:xfrm>
            <a:off x="9058275" y="3000375"/>
            <a:ext cx="2181225" cy="247650"/>
          </a:xfrm>
          <a:prstGeom prst="rect">
            <a:avLst/>
          </a:prstGeom>
          <a:noFill/>
          <a:ln/>
        </p:spPr>
        <p:txBody>
          <a:bodyPr wrap="square" lIns="0" tIns="0" rIns="0" bIns="0" rtlCol="0" anchor="ctr"/>
          <a:lstStyle/>
          <a:p>
            <a:pPr indent="0" marL="0">
              <a:lnSpc>
                <a:spcPct val="100000"/>
              </a:lnSpc>
              <a:buNone/>
            </a:pPr>
            <a:r>
              <a:rPr lang="en-US" sz="800" b="1" dirty="0">
                <a:solidFill>
                  <a:srgbClr val="2A2016"/>
                </a:solidFill>
                <a:latin typeface="Arial" pitchFamily="34" charset="0"/>
                <a:ea typeface="Arial" pitchFamily="34" charset="-122"/>
                <a:cs typeface="Arial" pitchFamily="34" charset="-120"/>
              </a:rPr>
              <a:t>TACHE-P12 · responsive mobile</a:t>
            </a:r>
            <a:endParaRPr lang="en-US" sz="800" dirty="0"/>
          </a:p>
        </p:txBody>
      </p:sp>
      <p:sp>
        <p:nvSpPr>
          <p:cNvPr id="73" name="Text 70"/>
          <p:cNvSpPr txBox="1"/>
          <p:nvPr/>
        </p:nvSpPr>
        <p:spPr>
          <a:xfrm>
            <a:off x="11229975" y="3000375"/>
            <a:ext cx="209550" cy="247650"/>
          </a:xfrm>
          <a:prstGeom prst="rect">
            <a:avLst/>
          </a:prstGeom>
          <a:noFill/>
          <a:ln/>
        </p:spPr>
        <p:txBody>
          <a:bodyPr wrap="square" lIns="0" tIns="0" rIns="0" bIns="0" rtlCol="0" anchor="ctr"/>
          <a:lstStyle/>
          <a:p>
            <a:pPr algn="r" indent="0" marL="0">
              <a:buNone/>
            </a:pPr>
            <a:r>
              <a:rPr lang="en-US" sz="750" dirty="0">
                <a:solidFill>
                  <a:srgbClr val="7A6A48"/>
                </a:solidFill>
                <a:latin typeface="Consolas" pitchFamily="34" charset="0"/>
                <a:ea typeface="Consolas" pitchFamily="34" charset="-122"/>
                <a:cs typeface="Consolas" pitchFamily="34" charset="-120"/>
              </a:rPr>
              <a:t>3</a:t>
            </a:r>
            <a:endParaRPr lang="en-US" sz="750" dirty="0"/>
          </a:p>
        </p:txBody>
      </p:sp>
      <p:sp>
        <p:nvSpPr>
          <p:cNvPr id="74" name="Shape 71"/>
          <p:cNvSpPr/>
          <p:nvPr/>
        </p:nvSpPr>
        <p:spPr>
          <a:xfrm>
            <a:off x="8972550" y="3295650"/>
            <a:ext cx="2524125" cy="247650"/>
          </a:xfrm>
          <a:prstGeom prst="rect">
            <a:avLst/>
          </a:prstGeom>
          <a:solidFill>
            <a:srgbClr val="FDF6E0"/>
          </a:solidFill>
          <a:ln/>
        </p:spPr>
      </p:sp>
      <p:sp>
        <p:nvSpPr>
          <p:cNvPr id="75" name="Shape 72"/>
          <p:cNvSpPr/>
          <p:nvPr/>
        </p:nvSpPr>
        <p:spPr>
          <a:xfrm>
            <a:off x="8972550" y="3295650"/>
            <a:ext cx="38100" cy="247650"/>
          </a:xfrm>
          <a:prstGeom prst="rect">
            <a:avLst/>
          </a:prstGeom>
          <a:solidFill>
            <a:srgbClr val="8A6A1F"/>
          </a:solidFill>
          <a:ln/>
        </p:spPr>
      </p:sp>
      <p:sp>
        <p:nvSpPr>
          <p:cNvPr id="76" name="Text 73"/>
          <p:cNvSpPr txBox="1"/>
          <p:nvPr/>
        </p:nvSpPr>
        <p:spPr>
          <a:xfrm>
            <a:off x="9058275" y="3295650"/>
            <a:ext cx="2181225" cy="247650"/>
          </a:xfrm>
          <a:prstGeom prst="rect">
            <a:avLst/>
          </a:prstGeom>
          <a:noFill/>
          <a:ln/>
        </p:spPr>
        <p:txBody>
          <a:bodyPr wrap="square" lIns="0" tIns="0" rIns="0" bIns="0" rtlCol="0" anchor="ctr"/>
          <a:lstStyle/>
          <a:p>
            <a:pPr indent="0" marL="0">
              <a:lnSpc>
                <a:spcPct val="100000"/>
              </a:lnSpc>
              <a:buNone/>
            </a:pPr>
            <a:r>
              <a:rPr lang="en-US" sz="800" b="1" dirty="0">
                <a:solidFill>
                  <a:srgbClr val="2A2016"/>
                </a:solidFill>
                <a:latin typeface="Arial" pitchFamily="34" charset="0"/>
                <a:ea typeface="Arial" pitchFamily="34" charset="-122"/>
                <a:cs typeface="Arial" pitchFamily="34" charset="-120"/>
              </a:rPr>
              <a:t>TACHE-P14 · Planning Poker</a:t>
            </a:r>
            <a:endParaRPr lang="en-US" sz="800" dirty="0"/>
          </a:p>
        </p:txBody>
      </p:sp>
      <p:sp>
        <p:nvSpPr>
          <p:cNvPr id="77" name="Text 74"/>
          <p:cNvSpPr txBox="1"/>
          <p:nvPr/>
        </p:nvSpPr>
        <p:spPr>
          <a:xfrm>
            <a:off x="11229975" y="3295650"/>
            <a:ext cx="209550" cy="247650"/>
          </a:xfrm>
          <a:prstGeom prst="rect">
            <a:avLst/>
          </a:prstGeom>
          <a:noFill/>
          <a:ln/>
        </p:spPr>
        <p:txBody>
          <a:bodyPr wrap="square" lIns="0" tIns="0" rIns="0" bIns="0" rtlCol="0" anchor="ctr"/>
          <a:lstStyle/>
          <a:p>
            <a:pPr algn="r" indent="0" marL="0">
              <a:buNone/>
            </a:pPr>
            <a:r>
              <a:rPr lang="en-US" sz="750" dirty="0">
                <a:solidFill>
                  <a:srgbClr val="7A6A48"/>
                </a:solidFill>
                <a:latin typeface="Consolas" pitchFamily="34" charset="0"/>
                <a:ea typeface="Consolas" pitchFamily="34" charset="-122"/>
                <a:cs typeface="Consolas" pitchFamily="34" charset="-120"/>
              </a:rPr>
              <a:t>2</a:t>
            </a:r>
            <a:endParaRPr lang="en-US" sz="750" dirty="0"/>
          </a:p>
        </p:txBody>
      </p:sp>
      <p:sp>
        <p:nvSpPr>
          <p:cNvPr id="78" name="Shape 75"/>
          <p:cNvSpPr/>
          <p:nvPr/>
        </p:nvSpPr>
        <p:spPr>
          <a:xfrm>
            <a:off x="8972550" y="3590925"/>
            <a:ext cx="2524125" cy="247650"/>
          </a:xfrm>
          <a:prstGeom prst="rect">
            <a:avLst/>
          </a:prstGeom>
          <a:solidFill>
            <a:srgbClr val="FDF6E0"/>
          </a:solidFill>
          <a:ln/>
        </p:spPr>
      </p:sp>
      <p:sp>
        <p:nvSpPr>
          <p:cNvPr id="79" name="Shape 76"/>
          <p:cNvSpPr/>
          <p:nvPr/>
        </p:nvSpPr>
        <p:spPr>
          <a:xfrm>
            <a:off x="8972550" y="3590925"/>
            <a:ext cx="38100" cy="247650"/>
          </a:xfrm>
          <a:prstGeom prst="rect">
            <a:avLst/>
          </a:prstGeom>
          <a:solidFill>
            <a:srgbClr val="8A6A1F"/>
          </a:solidFill>
          <a:ln/>
        </p:spPr>
      </p:sp>
      <p:sp>
        <p:nvSpPr>
          <p:cNvPr id="80" name="Text 77"/>
          <p:cNvSpPr txBox="1"/>
          <p:nvPr/>
        </p:nvSpPr>
        <p:spPr>
          <a:xfrm>
            <a:off x="9058275" y="3590925"/>
            <a:ext cx="2181225" cy="247650"/>
          </a:xfrm>
          <a:prstGeom prst="rect">
            <a:avLst/>
          </a:prstGeom>
          <a:noFill/>
          <a:ln/>
        </p:spPr>
        <p:txBody>
          <a:bodyPr wrap="square" lIns="0" tIns="0" rIns="0" bIns="0" rtlCol="0" anchor="ctr"/>
          <a:lstStyle/>
          <a:p>
            <a:pPr indent="0" marL="0">
              <a:lnSpc>
                <a:spcPct val="100000"/>
              </a:lnSpc>
              <a:buNone/>
            </a:pPr>
            <a:r>
              <a:rPr lang="en-US" sz="800" b="1" dirty="0">
                <a:solidFill>
                  <a:srgbClr val="2A2016"/>
                </a:solidFill>
                <a:latin typeface="Arial" pitchFamily="34" charset="0"/>
                <a:ea typeface="Arial" pitchFamily="34" charset="-122"/>
                <a:cs typeface="Arial" pitchFamily="34" charset="-120"/>
              </a:rPr>
              <a:t>TACHE-P17 · Kanban à jour</a:t>
            </a:r>
            <a:endParaRPr lang="en-US" sz="800" dirty="0"/>
          </a:p>
        </p:txBody>
      </p:sp>
      <p:sp>
        <p:nvSpPr>
          <p:cNvPr id="81" name="Text 78"/>
          <p:cNvSpPr txBox="1"/>
          <p:nvPr/>
        </p:nvSpPr>
        <p:spPr>
          <a:xfrm>
            <a:off x="11229975" y="3590925"/>
            <a:ext cx="209550" cy="247650"/>
          </a:xfrm>
          <a:prstGeom prst="rect">
            <a:avLst/>
          </a:prstGeom>
          <a:noFill/>
          <a:ln/>
        </p:spPr>
        <p:txBody>
          <a:bodyPr wrap="square" lIns="0" tIns="0" rIns="0" bIns="0" rtlCol="0" anchor="ctr"/>
          <a:lstStyle/>
          <a:p>
            <a:pPr algn="r" indent="0" marL="0">
              <a:buNone/>
            </a:pPr>
            <a:r>
              <a:rPr lang="en-US" sz="750" dirty="0">
                <a:solidFill>
                  <a:srgbClr val="7A6A48"/>
                </a:solidFill>
                <a:latin typeface="Consolas" pitchFamily="34" charset="0"/>
                <a:ea typeface="Consolas" pitchFamily="34" charset="-122"/>
                <a:cs typeface="Consolas" pitchFamily="34" charset="-120"/>
              </a:rPr>
              <a:t>1</a:t>
            </a:r>
            <a:endParaRPr lang="en-US" sz="750" dirty="0"/>
          </a:p>
        </p:txBody>
      </p:sp>
      <p:sp>
        <p:nvSpPr>
          <p:cNvPr id="82" name="Shape 79"/>
          <p:cNvSpPr/>
          <p:nvPr/>
        </p:nvSpPr>
        <p:spPr>
          <a:xfrm>
            <a:off x="8972550" y="3886200"/>
            <a:ext cx="2524125" cy="247650"/>
          </a:xfrm>
          <a:prstGeom prst="rect">
            <a:avLst/>
          </a:prstGeom>
          <a:solidFill>
            <a:srgbClr val="FDF6E0"/>
          </a:solidFill>
          <a:ln/>
        </p:spPr>
      </p:sp>
      <p:sp>
        <p:nvSpPr>
          <p:cNvPr id="83" name="Shape 80"/>
          <p:cNvSpPr/>
          <p:nvPr/>
        </p:nvSpPr>
        <p:spPr>
          <a:xfrm>
            <a:off x="8972550" y="3886200"/>
            <a:ext cx="38100" cy="247650"/>
          </a:xfrm>
          <a:prstGeom prst="rect">
            <a:avLst/>
          </a:prstGeom>
          <a:solidFill>
            <a:srgbClr val="8A6A1F"/>
          </a:solidFill>
          <a:ln/>
        </p:spPr>
      </p:sp>
      <p:sp>
        <p:nvSpPr>
          <p:cNvPr id="84" name="Text 81"/>
          <p:cNvSpPr txBox="1"/>
          <p:nvPr/>
        </p:nvSpPr>
        <p:spPr>
          <a:xfrm>
            <a:off x="9058275" y="3886200"/>
            <a:ext cx="2181225" cy="247650"/>
          </a:xfrm>
          <a:prstGeom prst="rect">
            <a:avLst/>
          </a:prstGeom>
          <a:noFill/>
          <a:ln/>
        </p:spPr>
        <p:txBody>
          <a:bodyPr wrap="square" lIns="0" tIns="0" rIns="0" bIns="0" rtlCol="0" anchor="ctr"/>
          <a:lstStyle/>
          <a:p>
            <a:pPr indent="0" marL="0">
              <a:lnSpc>
                <a:spcPct val="100000"/>
              </a:lnSpc>
              <a:buNone/>
            </a:pPr>
            <a:r>
              <a:rPr lang="en-US" sz="800" b="1" dirty="0">
                <a:solidFill>
                  <a:srgbClr val="2A2016"/>
                </a:solidFill>
                <a:latin typeface="Arial" pitchFamily="34" charset="0"/>
                <a:ea typeface="Arial" pitchFamily="34" charset="-122"/>
                <a:cs typeface="Arial" pitchFamily="34" charset="-120"/>
              </a:rPr>
              <a:t>TACHE-P18 · cérémonies Scrum</a:t>
            </a:r>
            <a:endParaRPr lang="en-US" sz="800" dirty="0"/>
          </a:p>
        </p:txBody>
      </p:sp>
      <p:sp>
        <p:nvSpPr>
          <p:cNvPr id="85" name="Text 82"/>
          <p:cNvSpPr txBox="1"/>
          <p:nvPr/>
        </p:nvSpPr>
        <p:spPr>
          <a:xfrm>
            <a:off x="11229975" y="3886200"/>
            <a:ext cx="209550" cy="247650"/>
          </a:xfrm>
          <a:prstGeom prst="rect">
            <a:avLst/>
          </a:prstGeom>
          <a:noFill/>
          <a:ln/>
        </p:spPr>
        <p:txBody>
          <a:bodyPr wrap="square" lIns="0" tIns="0" rIns="0" bIns="0" rtlCol="0" anchor="ctr"/>
          <a:lstStyle/>
          <a:p>
            <a:pPr algn="r" indent="0" marL="0">
              <a:buNone/>
            </a:pPr>
            <a:r>
              <a:rPr lang="en-US" sz="750" dirty="0">
                <a:solidFill>
                  <a:srgbClr val="7A6A48"/>
                </a:solidFill>
                <a:latin typeface="Consolas" pitchFamily="34" charset="0"/>
                <a:ea typeface="Consolas" pitchFamily="34" charset="-122"/>
                <a:cs typeface="Consolas" pitchFamily="34" charset="-120"/>
              </a:rPr>
              <a:t>2</a:t>
            </a:r>
            <a:endParaRPr lang="en-US" sz="750" dirty="0"/>
          </a:p>
        </p:txBody>
      </p:sp>
      <p:sp>
        <p:nvSpPr>
          <p:cNvPr id="86" name="Shape 83"/>
          <p:cNvSpPr/>
          <p:nvPr/>
        </p:nvSpPr>
        <p:spPr>
          <a:xfrm>
            <a:off x="571500" y="4991100"/>
            <a:ext cx="5562600" cy="1047750"/>
          </a:xfrm>
          <a:prstGeom prst="rect">
            <a:avLst/>
          </a:prstGeom>
          <a:solidFill>
            <a:srgbClr val="061711">
              <a:alpha val="45000"/>
            </a:srgbClr>
          </a:solidFill>
          <a:ln w="15875">
            <a:solidFill>
              <a:srgbClr val="D9A521"/>
            </a:solidFill>
            <a:prstDash val="dash"/>
          </a:ln>
        </p:spPr>
      </p:sp>
      <p:sp>
        <p:nvSpPr>
          <p:cNvPr id="87" name="Text 84"/>
          <p:cNvSpPr txBox="1"/>
          <p:nvPr/>
        </p:nvSpPr>
        <p:spPr>
          <a:xfrm>
            <a:off x="666750" y="5267325"/>
            <a:ext cx="5372100" cy="190500"/>
          </a:xfrm>
          <a:prstGeom prst="rect">
            <a:avLst/>
          </a:prstGeom>
          <a:noFill/>
          <a:ln/>
        </p:spPr>
        <p:txBody>
          <a:bodyPr wrap="square" lIns="0" tIns="0" rIns="0" bIns="0" rtlCol="0" anchor="ctr"/>
          <a:lstStyle/>
          <a:p>
            <a:pPr algn="ctr" indent="0" marL="0">
              <a:buNone/>
            </a:pPr>
            <a:r>
              <a:rPr lang="en-US" sz="900" b="1" spc="140" kern="0" dirty="0">
                <a:solidFill>
                  <a:srgbClr val="D9A521"/>
                </a:solidFill>
                <a:latin typeface="Consolas" pitchFamily="34" charset="0"/>
                <a:ea typeface="Consolas" pitchFamily="34" charset="-122"/>
                <a:cs typeface="Consolas" pitchFamily="34" charset="-120"/>
              </a:rPr>
              <a:t>COLLER LA CAPTURE ICI</a:t>
            </a:r>
            <a:endParaRPr lang="en-US" sz="900" dirty="0"/>
          </a:p>
        </p:txBody>
      </p:sp>
      <p:sp>
        <p:nvSpPr>
          <p:cNvPr id="88" name="Text 85"/>
          <p:cNvSpPr txBox="1"/>
          <p:nvPr/>
        </p:nvSpPr>
        <p:spPr>
          <a:xfrm>
            <a:off x="704850" y="5495925"/>
            <a:ext cx="5295900" cy="381000"/>
          </a:xfrm>
          <a:prstGeom prst="rect">
            <a:avLst/>
          </a:prstGeom>
          <a:noFill/>
          <a:ln/>
        </p:spPr>
        <p:txBody>
          <a:bodyPr wrap="square" lIns="0" tIns="0" rIns="0" bIns="0" rtlCol="0" anchor="t"/>
          <a:lstStyle/>
          <a:p>
            <a:pPr algn="ctr" indent="0" marL="0">
              <a:buNone/>
            </a:pPr>
            <a:r>
              <a:rPr lang="en-US" sz="950" dirty="0">
                <a:solidFill>
                  <a:srgbClr val="CFDFD2"/>
                </a:solidFill>
                <a:latin typeface="Arial" pitchFamily="34" charset="0"/>
                <a:ea typeface="Arial" pitchFamily="34" charset="-122"/>
                <a:cs typeface="Arial" pitchFamily="34" charset="-120"/>
              </a:rPr>
              <a:t>Capture du board « MediBet — Sprint Backlog Patient »</a:t>
            </a:r>
            <a:endParaRPr lang="en-US" sz="950" dirty="0"/>
          </a:p>
        </p:txBody>
      </p:sp>
      <p:sp>
        <p:nvSpPr>
          <p:cNvPr id="89" name="Shape 86"/>
          <p:cNvSpPr/>
          <p:nvPr/>
        </p:nvSpPr>
        <p:spPr>
          <a:xfrm>
            <a:off x="6286500" y="4991100"/>
            <a:ext cx="2609850" cy="476250"/>
          </a:xfrm>
          <a:prstGeom prst="rect">
            <a:avLst/>
          </a:prstGeom>
          <a:solidFill>
            <a:srgbClr val="F4E3AB"/>
          </a:solidFill>
          <a:ln/>
          <a:effectLst>
            <a:outerShdw sx="100000" sy="100000" kx="0" ky="0" algn="bl" rotWithShape="0" blurRad="101600" dist="47625" dir="2700000">
              <a:srgbClr val="A02C1E">
                <a:alpha val="100000"/>
              </a:srgbClr>
            </a:outerShdw>
          </a:effectLst>
        </p:spPr>
      </p:sp>
      <p:sp>
        <p:nvSpPr>
          <p:cNvPr id="90" name="Text 87"/>
          <p:cNvSpPr txBox="1"/>
          <p:nvPr/>
        </p:nvSpPr>
        <p:spPr>
          <a:xfrm>
            <a:off x="6419850" y="4991100"/>
            <a:ext cx="1096137" cy="476250"/>
          </a:xfrm>
          <a:prstGeom prst="rect">
            <a:avLst/>
          </a:prstGeom>
          <a:noFill/>
          <a:ln/>
        </p:spPr>
        <p:txBody>
          <a:bodyPr wrap="square" lIns="0" tIns="0" rIns="0" bIns="0" rtlCol="0" anchor="ctr"/>
          <a:lstStyle/>
          <a:p>
            <a:pPr indent="0" marL="0">
              <a:buNone/>
            </a:pPr>
            <a:r>
              <a:rPr lang="en-US" sz="1900" dirty="0">
                <a:solidFill>
                  <a:srgbClr val="A02C1E"/>
                </a:solidFill>
                <a:latin typeface="Impact" pitchFamily="34" charset="0"/>
                <a:ea typeface="Impact" pitchFamily="34" charset="-122"/>
                <a:cs typeface="Impact" pitchFamily="34" charset="-120"/>
              </a:rPr>
              <a:t>0 · 2 · 14</a:t>
            </a:r>
            <a:endParaRPr lang="en-US" sz="1900" dirty="0"/>
          </a:p>
        </p:txBody>
      </p:sp>
      <p:sp>
        <p:nvSpPr>
          <p:cNvPr id="91" name="Text 88"/>
          <p:cNvSpPr txBox="1"/>
          <p:nvPr/>
        </p:nvSpPr>
        <p:spPr>
          <a:xfrm>
            <a:off x="7382637" y="4991100"/>
            <a:ext cx="1380363" cy="476250"/>
          </a:xfrm>
          <a:prstGeom prst="rect">
            <a:avLst/>
          </a:prstGeom>
          <a:noFill/>
          <a:ln/>
        </p:spPr>
        <p:txBody>
          <a:bodyPr wrap="square" lIns="0" tIns="0" rIns="0" bIns="0" rtlCol="0" anchor="ctr"/>
          <a:lstStyle/>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À faire · en cours</a:t>
            </a:r>
            <a:endParaRPr lang="en-US" sz="750" dirty="0"/>
          </a:p>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 terminées</a:t>
            </a:r>
            <a:endParaRPr lang="en-US" sz="750" dirty="0"/>
          </a:p>
        </p:txBody>
      </p:sp>
      <p:sp>
        <p:nvSpPr>
          <p:cNvPr id="92" name="Shape 89"/>
          <p:cNvSpPr/>
          <p:nvPr/>
        </p:nvSpPr>
        <p:spPr>
          <a:xfrm>
            <a:off x="9010650" y="4991100"/>
            <a:ext cx="2609850" cy="476250"/>
          </a:xfrm>
          <a:prstGeom prst="rect">
            <a:avLst/>
          </a:prstGeom>
          <a:solidFill>
            <a:srgbClr val="F4E3AB"/>
          </a:solidFill>
          <a:ln/>
          <a:effectLst>
            <a:outerShdw sx="100000" sy="100000" kx="0" ky="0" algn="bl" rotWithShape="0" blurRad="101600" dist="47625" dir="2700000">
              <a:srgbClr val="A02C1E">
                <a:alpha val="100000"/>
              </a:srgbClr>
            </a:outerShdw>
          </a:effectLst>
        </p:spPr>
      </p:sp>
      <p:sp>
        <p:nvSpPr>
          <p:cNvPr id="93" name="Text 90"/>
          <p:cNvSpPr txBox="1"/>
          <p:nvPr/>
        </p:nvSpPr>
        <p:spPr>
          <a:xfrm>
            <a:off x="9144000" y="4991100"/>
            <a:ext cx="1096137" cy="476250"/>
          </a:xfrm>
          <a:prstGeom prst="rect">
            <a:avLst/>
          </a:prstGeom>
          <a:noFill/>
          <a:ln/>
        </p:spPr>
        <p:txBody>
          <a:bodyPr wrap="square" lIns="0" tIns="0" rIns="0" bIns="0" rtlCol="0" anchor="ctr"/>
          <a:lstStyle/>
          <a:p>
            <a:pPr indent="0" marL="0">
              <a:buNone/>
            </a:pPr>
            <a:r>
              <a:rPr lang="en-US" sz="1900" dirty="0">
                <a:solidFill>
                  <a:srgbClr val="A02C1E"/>
                </a:solidFill>
                <a:latin typeface="Impact" pitchFamily="34" charset="0"/>
                <a:ea typeface="Impact" pitchFamily="34" charset="-122"/>
                <a:cs typeface="Impact" pitchFamily="34" charset="-120"/>
              </a:rPr>
              <a:t>44 pts</a:t>
            </a:r>
            <a:endParaRPr lang="en-US" sz="1900" dirty="0"/>
          </a:p>
        </p:txBody>
      </p:sp>
      <p:sp>
        <p:nvSpPr>
          <p:cNvPr id="94" name="Text 91"/>
          <p:cNvSpPr txBox="1"/>
          <p:nvPr/>
        </p:nvSpPr>
        <p:spPr>
          <a:xfrm>
            <a:off x="10106787" y="4991100"/>
            <a:ext cx="1380363" cy="476250"/>
          </a:xfrm>
          <a:prstGeom prst="rect">
            <a:avLst/>
          </a:prstGeom>
          <a:noFill/>
          <a:ln/>
        </p:spPr>
        <p:txBody>
          <a:bodyPr wrap="square" lIns="0" tIns="0" rIns="0" bIns="0" rtlCol="0" anchor="ctr"/>
          <a:lstStyle/>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Terminés sur</a:t>
            </a:r>
            <a:endParaRPr lang="en-US" sz="750" dirty="0"/>
          </a:p>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les 52 engagés</a:t>
            </a:r>
            <a:endParaRPr lang="en-US" sz="750" dirty="0"/>
          </a:p>
        </p:txBody>
      </p:sp>
      <p:sp>
        <p:nvSpPr>
          <p:cNvPr id="95" name="Shape 92"/>
          <p:cNvSpPr/>
          <p:nvPr/>
        </p:nvSpPr>
        <p:spPr>
          <a:xfrm>
            <a:off x="6286500" y="5562600"/>
            <a:ext cx="2609850" cy="476250"/>
          </a:xfrm>
          <a:prstGeom prst="rect">
            <a:avLst/>
          </a:prstGeom>
          <a:solidFill>
            <a:srgbClr val="F4E3AB"/>
          </a:solidFill>
          <a:ln/>
          <a:effectLst>
            <a:outerShdw sx="100000" sy="100000" kx="0" ky="0" algn="bl" rotWithShape="0" blurRad="101600" dist="47625" dir="2700000">
              <a:srgbClr val="A02C1E">
                <a:alpha val="100000"/>
              </a:srgbClr>
            </a:outerShdw>
          </a:effectLst>
        </p:spPr>
      </p:sp>
      <p:sp>
        <p:nvSpPr>
          <p:cNvPr id="96" name="Text 93"/>
          <p:cNvSpPr txBox="1"/>
          <p:nvPr/>
        </p:nvSpPr>
        <p:spPr>
          <a:xfrm>
            <a:off x="6419850" y="5562600"/>
            <a:ext cx="1096137" cy="476250"/>
          </a:xfrm>
          <a:prstGeom prst="rect">
            <a:avLst/>
          </a:prstGeom>
          <a:noFill/>
          <a:ln/>
        </p:spPr>
        <p:txBody>
          <a:bodyPr wrap="square" lIns="0" tIns="0" rIns="0" bIns="0" rtlCol="0" anchor="ctr"/>
          <a:lstStyle/>
          <a:p>
            <a:pPr indent="0" marL="0">
              <a:buNone/>
            </a:pPr>
            <a:r>
              <a:rPr lang="en-US" sz="1900" dirty="0">
                <a:solidFill>
                  <a:srgbClr val="A02C1E"/>
                </a:solidFill>
                <a:latin typeface="Impact" pitchFamily="34" charset="0"/>
                <a:ea typeface="Impact" pitchFamily="34" charset="-122"/>
                <a:cs typeface="Impact" pitchFamily="34" charset="-120"/>
              </a:rPr>
              <a:t>2</a:t>
            </a:r>
            <a:endParaRPr lang="en-US" sz="1900" dirty="0"/>
          </a:p>
        </p:txBody>
      </p:sp>
      <p:sp>
        <p:nvSpPr>
          <p:cNvPr id="97" name="Text 94"/>
          <p:cNvSpPr txBox="1"/>
          <p:nvPr/>
        </p:nvSpPr>
        <p:spPr>
          <a:xfrm>
            <a:off x="7382637" y="5562600"/>
            <a:ext cx="1380363" cy="476250"/>
          </a:xfrm>
          <a:prstGeom prst="rect">
            <a:avLst/>
          </a:prstGeom>
          <a:noFill/>
          <a:ln/>
        </p:spPr>
        <p:txBody>
          <a:bodyPr wrap="square" lIns="0" tIns="0" rIns="0" bIns="0" rtlCol="0" anchor="ctr"/>
          <a:lstStyle/>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Cartes retirées</a:t>
            </a:r>
            <a:endParaRPr lang="en-US" sz="750" dirty="0"/>
          </a:p>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en cours de sprint</a:t>
            </a:r>
            <a:endParaRPr lang="en-US" sz="750" dirty="0"/>
          </a:p>
        </p:txBody>
      </p:sp>
      <p:sp>
        <p:nvSpPr>
          <p:cNvPr id="98" name="Shape 95"/>
          <p:cNvSpPr/>
          <p:nvPr/>
        </p:nvSpPr>
        <p:spPr>
          <a:xfrm>
            <a:off x="9010650" y="5562600"/>
            <a:ext cx="2609850" cy="476250"/>
          </a:xfrm>
          <a:prstGeom prst="rect">
            <a:avLst/>
          </a:prstGeom>
          <a:solidFill>
            <a:srgbClr val="F4E3AB"/>
          </a:solidFill>
          <a:ln/>
          <a:effectLst>
            <a:outerShdw sx="100000" sy="100000" kx="0" ky="0" algn="bl" rotWithShape="0" blurRad="101600" dist="47625" dir="2700000">
              <a:srgbClr val="A02C1E">
                <a:alpha val="100000"/>
              </a:srgbClr>
            </a:outerShdw>
          </a:effectLst>
        </p:spPr>
      </p:sp>
      <p:sp>
        <p:nvSpPr>
          <p:cNvPr id="99" name="Text 96"/>
          <p:cNvSpPr txBox="1"/>
          <p:nvPr/>
        </p:nvSpPr>
        <p:spPr>
          <a:xfrm>
            <a:off x="9144000" y="5562600"/>
            <a:ext cx="1096137" cy="476250"/>
          </a:xfrm>
          <a:prstGeom prst="rect">
            <a:avLst/>
          </a:prstGeom>
          <a:noFill/>
          <a:ln/>
        </p:spPr>
        <p:txBody>
          <a:bodyPr wrap="square" lIns="0" tIns="0" rIns="0" bIns="0" rtlCol="0" anchor="ctr"/>
          <a:lstStyle/>
          <a:p>
            <a:pPr indent="0" marL="0">
              <a:buNone/>
            </a:pPr>
            <a:r>
              <a:rPr lang="en-US" sz="1900" dirty="0">
                <a:solidFill>
                  <a:srgbClr val="A02C1E"/>
                </a:solidFill>
                <a:latin typeface="Impact" pitchFamily="34" charset="0"/>
                <a:ea typeface="Impact" pitchFamily="34" charset="-122"/>
                <a:cs typeface="Impact" pitchFamily="34" charset="-120"/>
              </a:rPr>
              <a:t>10/10</a:t>
            </a:r>
            <a:endParaRPr lang="en-US" sz="1900" dirty="0"/>
          </a:p>
        </p:txBody>
      </p:sp>
      <p:sp>
        <p:nvSpPr>
          <p:cNvPr id="100" name="Text 97"/>
          <p:cNvSpPr txBox="1"/>
          <p:nvPr/>
        </p:nvSpPr>
        <p:spPr>
          <a:xfrm>
            <a:off x="10106787" y="5562600"/>
            <a:ext cx="1380363" cy="476250"/>
          </a:xfrm>
          <a:prstGeom prst="rect">
            <a:avLst/>
          </a:prstGeom>
          <a:noFill/>
          <a:ln/>
        </p:spPr>
        <p:txBody>
          <a:bodyPr wrap="square" lIns="0" tIns="0" rIns="0" bIns="0" rtlCol="0" anchor="ctr"/>
          <a:lstStyle/>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Checklist DoD</a:t>
            </a:r>
            <a:endParaRPr lang="en-US" sz="750" dirty="0"/>
          </a:p>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sur US-P4</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09550" y="6610350"/>
            <a:ext cx="3429000" cy="190500"/>
          </a:xfrm>
          <a:prstGeom prst="rect">
            <a:avLst/>
          </a:prstGeom>
          <a:noFill/>
          <a:ln/>
        </p:spPr>
        <p:txBody>
          <a:bodyPr wrap="square" lIns="0" tIns="0" rIns="0" bIns="0" rtlCol="0" anchor="ctr"/>
          <a:lstStyle/>
          <a:p>
            <a:pPr indent="0" marL="0">
              <a:buNone/>
            </a:pPr>
            <a:r>
              <a:rPr lang="en-US" sz="750" spc="140" kern="0" dirty="0">
                <a:solidFill>
                  <a:srgbClr val="D9A521"/>
                </a:solidFill>
                <a:latin typeface="Consolas" pitchFamily="34" charset="0"/>
                <a:ea typeface="Consolas" pitchFamily="34" charset="-122"/>
                <a:cs typeface="Consolas" pitchFamily="34" charset="-120"/>
              </a:rPr>
              <a:t>NEIROUZ · PRODUCT OWNER</a:t>
            </a:r>
            <a:endParaRPr lang="en-US" sz="750" dirty="0"/>
          </a:p>
        </p:txBody>
      </p:sp>
      <p:sp>
        <p:nvSpPr>
          <p:cNvPr id="3" name="Text 1"/>
          <p:cNvSpPr txBox="1"/>
          <p:nvPr/>
        </p:nvSpPr>
        <p:spPr>
          <a:xfrm>
            <a:off x="4000500" y="6610350"/>
            <a:ext cx="4191000" cy="190500"/>
          </a:xfrm>
          <a:prstGeom prst="rect">
            <a:avLst/>
          </a:prstGeom>
          <a:noFill/>
          <a:ln/>
        </p:spPr>
        <p:txBody>
          <a:bodyPr wrap="square" lIns="0" tIns="0" rIns="0" bIns="0" rtlCol="0" anchor="ctr"/>
          <a:lstStyle/>
          <a:p>
            <a:pPr algn="ct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4" name="Text 2"/>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≈60 s · 5:15</a:t>
            </a:r>
            <a:endParaRPr lang="en-US" sz="750" dirty="0"/>
          </a:p>
        </p:txBody>
      </p:sp>
      <p:sp>
        <p:nvSpPr>
          <p:cNvPr id="5" name="Text 3"/>
          <p:cNvSpPr txBox="1"/>
          <p:nvPr/>
        </p:nvSpPr>
        <p:spPr>
          <a:xfrm>
            <a:off x="571500" y="323850"/>
            <a:ext cx="11049000" cy="190500"/>
          </a:xfrm>
          <a:prstGeom prst="rect">
            <a:avLst/>
          </a:prstGeom>
          <a:noFill/>
          <a:ln/>
        </p:spPr>
        <p:txBody>
          <a:bodyPr wrap="square" lIns="0" tIns="0" rIns="0" bIns="0" rtlCol="0" anchor="ctr"/>
          <a:lstStyle/>
          <a:p>
            <a:pPr algn="ctr" indent="0" marL="0">
              <a:buNone/>
            </a:pPr>
            <a:r>
              <a:rPr lang="en-US" sz="850" b="1" spc="400" kern="0" dirty="0">
                <a:solidFill>
                  <a:srgbClr val="D9A521"/>
                </a:solidFill>
                <a:latin typeface="Consolas" pitchFamily="34" charset="0"/>
                <a:ea typeface="Consolas" pitchFamily="34" charset="-122"/>
                <a:cs typeface="Consolas" pitchFamily="34" charset="-120"/>
              </a:rPr>
              <a:t>02 · DÉMARCHE PROJET</a:t>
            </a:r>
            <a:endParaRPr lang="en-US" sz="850" dirty="0"/>
          </a:p>
        </p:txBody>
      </p:sp>
      <p:sp>
        <p:nvSpPr>
          <p:cNvPr id="6" name="Text 4"/>
          <p:cNvSpPr txBox="1"/>
          <p:nvPr/>
        </p:nvSpPr>
        <p:spPr>
          <a:xfrm>
            <a:off x="571500" y="514350"/>
            <a:ext cx="11049000" cy="609600"/>
          </a:xfrm>
          <a:prstGeom prst="rect">
            <a:avLst/>
          </a:prstGeom>
          <a:noFill/>
          <a:ln/>
          <a:effectLst>
            <a:outerShdw sx="100000" sy="100000" kx="0" ky="0" algn="bl" rotWithShape="0" blurRad="101600" dist="38100" dir="2700000">
              <a:srgbClr val="A02C1E">
                <a:alpha val="100000"/>
              </a:srgbClr>
            </a:outerShdw>
          </a:effectLst>
        </p:spPr>
        <p:txBody>
          <a:bodyPr wrap="square" lIns="0" tIns="0" rIns="0" bIns="0" rtlCol="0" anchor="ctr"/>
          <a:lstStyle/>
          <a:p>
            <a:pPr algn="ctr" indent="0" marL="0">
              <a:buNone/>
            </a:pPr>
            <a:r>
              <a:rPr lang="en-US" sz="3400" dirty="0">
                <a:solidFill>
                  <a:srgbClr val="F3E4B0"/>
                </a:solidFill>
                <a:latin typeface="Impact" pitchFamily="34" charset="0"/>
                <a:ea typeface="Impact" pitchFamily="34" charset="-122"/>
                <a:cs typeface="Impact" pitchFamily="34" charset="-120"/>
              </a:rPr>
              <a:t>CE QUE VEUT DIRE « TERMINÉ »</a:t>
            </a:r>
            <a:endParaRPr lang="en-US" sz="3400" dirty="0"/>
          </a:p>
        </p:txBody>
      </p:sp>
      <p:sp>
        <p:nvSpPr>
          <p:cNvPr id="7" name="Text 5"/>
          <p:cNvSpPr txBox="1"/>
          <p:nvPr/>
        </p:nvSpPr>
        <p:spPr>
          <a:xfrm>
            <a:off x="2000250" y="1143000"/>
            <a:ext cx="8191500" cy="438150"/>
          </a:xfrm>
          <a:prstGeom prst="rect">
            <a:avLst/>
          </a:prstGeom>
          <a:noFill/>
          <a:ln/>
        </p:spPr>
        <p:txBody>
          <a:bodyPr wrap="square" lIns="0" tIns="0" rIns="0" bIns="0" rtlCol="0" anchor="t"/>
          <a:lstStyle/>
          <a:p>
            <a:pPr algn="ctr" indent="0" marL="0">
              <a:buNone/>
            </a:pPr>
            <a:r>
              <a:rPr lang="en-US" sz="1350" dirty="0">
                <a:solidFill>
                  <a:srgbClr val="E6DCBE"/>
                </a:solidFill>
                <a:latin typeface="Arial" pitchFamily="34" charset="0"/>
                <a:ea typeface="Arial" pitchFamily="34" charset="-122"/>
                <a:cs typeface="Arial" pitchFamily="34" charset="-120"/>
              </a:rPr>
              <a:t>Les critères d'acceptation décrivent une fonctionnalité ; la Definition of Done fixe le niveau de qualité.</a:t>
            </a:r>
            <a:endParaRPr lang="en-US" sz="1350" dirty="0"/>
          </a:p>
        </p:txBody>
      </p:sp>
      <p:sp>
        <p:nvSpPr>
          <p:cNvPr id="9" name="Shape 6"/>
          <p:cNvSpPr/>
          <p:nvPr/>
        </p:nvSpPr>
        <p:spPr>
          <a:xfrm>
            <a:off x="571500" y="1905000"/>
            <a:ext cx="5372100" cy="2819400"/>
          </a:xfrm>
          <a:prstGeom prst="rect">
            <a:avLst/>
          </a:prstGeom>
          <a:solidFill>
            <a:srgbClr val="0B2C22"/>
          </a:solidFill>
          <a:ln w="9525">
            <a:solidFill>
              <a:srgbClr val="D9A521">
                <a:alpha val="40000"/>
              </a:srgbClr>
            </a:solidFill>
            <a:prstDash val="solid"/>
          </a:ln>
        </p:spPr>
      </p:sp>
      <p:sp>
        <p:nvSpPr>
          <p:cNvPr id="10" name="Text 7"/>
          <p:cNvSpPr txBox="1"/>
          <p:nvPr/>
        </p:nvSpPr>
        <p:spPr>
          <a:xfrm>
            <a:off x="762000" y="2038350"/>
            <a:ext cx="4991100" cy="171450"/>
          </a:xfrm>
          <a:prstGeom prst="rect">
            <a:avLst/>
          </a:prstGeom>
          <a:noFill/>
          <a:ln/>
        </p:spPr>
        <p:txBody>
          <a:bodyPr wrap="square" lIns="0" tIns="0" rIns="0" bIns="0" rtlCol="0" anchor="ctr"/>
          <a:lstStyle/>
          <a:p>
            <a:pPr indent="0" marL="0">
              <a:buNone/>
            </a:pPr>
            <a:r>
              <a:rPr lang="en-US" sz="850" b="1" spc="160" kern="0" dirty="0">
                <a:solidFill>
                  <a:srgbClr val="D9A521"/>
                </a:solidFill>
                <a:latin typeface="Consolas" pitchFamily="34" charset="0"/>
                <a:ea typeface="Consolas" pitchFamily="34" charset="-122"/>
                <a:cs typeface="Consolas" pitchFamily="34" charset="-120"/>
              </a:rPr>
              <a:t>CRITÈRES D'ACCEPTATION — US-P4</a:t>
            </a:r>
            <a:endParaRPr lang="en-US" sz="850" dirty="0"/>
          </a:p>
        </p:txBody>
      </p:sp>
      <p:sp>
        <p:nvSpPr>
          <p:cNvPr id="11" name="Text 8"/>
          <p:cNvSpPr txBox="1"/>
          <p:nvPr/>
        </p:nvSpPr>
        <p:spPr>
          <a:xfrm>
            <a:off x="762000" y="2286000"/>
            <a:ext cx="4991100" cy="230505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100" dirty="0">
                <a:solidFill>
                  <a:srgbClr val="CFDFD2"/>
                </a:solidFill>
                <a:latin typeface="Arial" pitchFamily="34" charset="0"/>
                <a:ea typeface="Arial" pitchFamily="34" charset="-122"/>
                <a:cs typeface="Arial" pitchFamily="34" charset="-120"/>
              </a:rPr>
              <a:t>GIVEN une Observation publiée par le médecin,</a:t>
            </a:r>
            <a:endParaRPr lang="en-US" sz="1100" dirty="0"/>
          </a:p>
          <a:p>
            <a:pPr marL="342900" indent="-342900">
              <a:lnSpc>
                <a:spcPct val="115000"/>
              </a:lnSpc>
              <a:spcAft>
                <a:spcPts val="600"/>
              </a:spcAft>
              <a:buSzPct val="100000"/>
              <a:buChar char="•"/>
            </a:pPr>
            <a:r>
              <a:rPr lang="en-US" sz="1100" dirty="0">
                <a:solidFill>
                  <a:srgbClr val="CFDFD2"/>
                </a:solidFill>
                <a:latin typeface="Arial" pitchFamily="34" charset="0"/>
                <a:ea typeface="Arial" pitchFamily="34" charset="-122"/>
                <a:cs typeface="Arial" pitchFamily="34" charset="-120"/>
              </a:rPr>
              <a:t>WHEN MediBet interroge le serveur FHIR,</a:t>
            </a:r>
            <a:endParaRPr lang="en-US" sz="1100" dirty="0"/>
          </a:p>
          <a:p>
            <a:pPr marL="342900" indent="-342900">
              <a:lnSpc>
                <a:spcPct val="115000"/>
              </a:lnSpc>
              <a:spcAft>
                <a:spcPts val="600"/>
              </a:spcAft>
              <a:buSzPct val="100000"/>
              <a:buChar char="•"/>
            </a:pPr>
            <a:r>
              <a:rPr lang="en-US" sz="1100" dirty="0">
                <a:solidFill>
                  <a:srgbClr val="CFDFD2"/>
                </a:solidFill>
                <a:latin typeface="Arial" pitchFamily="34" charset="0"/>
                <a:ea typeface="Arial" pitchFamily="34" charset="-122"/>
                <a:cs typeface="Arial" pitchFamily="34" charset="-120"/>
              </a:rPr>
              <a:t>THEN le diagnostic s'affiche et le pari est résolu automatiquement.</a:t>
            </a:r>
            <a:endParaRPr lang="en-US" sz="1100" dirty="0"/>
          </a:p>
          <a:p>
            <a:pPr marL="342900" indent="-342900">
              <a:lnSpc>
                <a:spcPct val="115000"/>
              </a:lnSpc>
              <a:spcAft>
                <a:spcPts val="600"/>
              </a:spcAft>
              <a:buSzPct val="100000"/>
              <a:buChar char="•"/>
            </a:pPr>
            <a:r>
              <a:rPr lang="en-US" sz="1100" dirty="0">
                <a:solidFill>
                  <a:srgbClr val="CFDFD2"/>
                </a:solidFill>
                <a:latin typeface="Arial" pitchFamily="34" charset="0"/>
                <a:ea typeface="Arial" pitchFamily="34" charset="-122"/>
                <a:cs typeface="Arial" pitchFamily="34" charset="-120"/>
              </a:rPr>
              <a:t>Propres à cette story : « qu'est-ce qu'elle doit faire ? »</a:t>
            </a:r>
            <a:endParaRPr lang="en-US" sz="1100" dirty="0"/>
          </a:p>
        </p:txBody>
      </p:sp>
      <p:sp>
        <p:nvSpPr>
          <p:cNvPr id="12" name="Shape 9"/>
          <p:cNvSpPr/>
          <p:nvPr/>
        </p:nvSpPr>
        <p:spPr>
          <a:xfrm>
            <a:off x="6248400" y="1905000"/>
            <a:ext cx="5372100" cy="2819400"/>
          </a:xfrm>
          <a:prstGeom prst="rect">
            <a:avLst/>
          </a:prstGeom>
          <a:solidFill>
            <a:srgbClr val="0B2C22"/>
          </a:solidFill>
          <a:ln w="9525">
            <a:solidFill>
              <a:srgbClr val="D9A521">
                <a:alpha val="40000"/>
              </a:srgbClr>
            </a:solidFill>
            <a:prstDash val="solid"/>
          </a:ln>
        </p:spPr>
      </p:sp>
      <p:sp>
        <p:nvSpPr>
          <p:cNvPr id="13" name="Text 10"/>
          <p:cNvSpPr txBox="1"/>
          <p:nvPr/>
        </p:nvSpPr>
        <p:spPr>
          <a:xfrm>
            <a:off x="6438900" y="2038350"/>
            <a:ext cx="4991100" cy="171450"/>
          </a:xfrm>
          <a:prstGeom prst="rect">
            <a:avLst/>
          </a:prstGeom>
          <a:noFill/>
          <a:ln/>
        </p:spPr>
        <p:txBody>
          <a:bodyPr wrap="square" lIns="0" tIns="0" rIns="0" bIns="0" rtlCol="0" anchor="ctr"/>
          <a:lstStyle/>
          <a:p>
            <a:pPr indent="0" marL="0">
              <a:buNone/>
            </a:pPr>
            <a:r>
              <a:rPr lang="en-US" sz="850" b="1" spc="160" kern="0" dirty="0">
                <a:solidFill>
                  <a:srgbClr val="D9A521"/>
                </a:solidFill>
                <a:latin typeface="Consolas" pitchFamily="34" charset="0"/>
                <a:ea typeface="Consolas" pitchFamily="34" charset="-122"/>
                <a:cs typeface="Consolas" pitchFamily="34" charset="-120"/>
              </a:rPr>
              <a:t>DEFINITION OF DONE — TOUTES LES CARTES</a:t>
            </a:r>
            <a:endParaRPr lang="en-US" sz="850" dirty="0"/>
          </a:p>
        </p:txBody>
      </p:sp>
      <p:sp>
        <p:nvSpPr>
          <p:cNvPr id="14" name="Text 11"/>
          <p:cNvSpPr txBox="1"/>
          <p:nvPr/>
        </p:nvSpPr>
        <p:spPr>
          <a:xfrm>
            <a:off x="6438900" y="2286000"/>
            <a:ext cx="4991100" cy="230505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Critères d'acceptation validés</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Test manuel réussi</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Aucun appel FHIR en erreur pendant le scénario</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Pas de régression connue · relecture de code faite</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Test croisé Patient / Médecin si la story touche l'interopérabilité</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Documentation à jour</a:t>
            </a:r>
            <a:endParaRPr lang="en-US" sz="1050" dirty="0"/>
          </a:p>
        </p:txBody>
      </p:sp>
      <p:sp>
        <p:nvSpPr>
          <p:cNvPr id="15" name="Text 12"/>
          <p:cNvSpPr txBox="1"/>
          <p:nvPr/>
        </p:nvSpPr>
        <p:spPr>
          <a:xfrm>
            <a:off x="571500" y="4914900"/>
            <a:ext cx="11049000" cy="228600"/>
          </a:xfrm>
          <a:prstGeom prst="rect">
            <a:avLst/>
          </a:prstGeom>
          <a:noFill/>
          <a:ln/>
        </p:spPr>
        <p:txBody>
          <a:bodyPr wrap="square" lIns="0" tIns="0" rIns="0" bIns="0" rtlCol="0" anchor="ctr"/>
          <a:lstStyle/>
          <a:p>
            <a:pPr algn="ctr" indent="0" marL="0">
              <a:buNone/>
            </a:pPr>
            <a:r>
              <a:rPr lang="en-US" sz="1050" dirty="0">
                <a:solidFill>
                  <a:srgbClr val="8FAE95"/>
                </a:solidFill>
                <a:latin typeface="Arial" pitchFamily="34" charset="0"/>
                <a:ea typeface="Arial" pitchFamily="34" charset="-122"/>
                <a:cs typeface="Arial" pitchFamily="34" charset="-120"/>
              </a:rPr>
              <a:t>Les sept critères sont dupliqués en checklist sur chaque carte. Sur US-P4, la checklist ajoute ses trois critères d'acceptation : elle affiche donc 10/10.</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09550" y="6610350"/>
            <a:ext cx="3429000" cy="190500"/>
          </a:xfrm>
          <a:prstGeom prst="rect">
            <a:avLst/>
          </a:prstGeom>
          <a:noFill/>
          <a:ln/>
        </p:spPr>
        <p:txBody>
          <a:bodyPr wrap="square" lIns="0" tIns="0" rIns="0" bIns="0" rtlCol="0" anchor="ctr"/>
          <a:lstStyle/>
          <a:p>
            <a:pPr indent="0" marL="0">
              <a:buNone/>
            </a:pPr>
            <a:r>
              <a:rPr lang="en-US" sz="750" spc="140" kern="0" dirty="0">
                <a:solidFill>
                  <a:srgbClr val="D9A521"/>
                </a:solidFill>
                <a:latin typeface="Consolas" pitchFamily="34" charset="0"/>
                <a:ea typeface="Consolas" pitchFamily="34" charset="-122"/>
                <a:cs typeface="Consolas" pitchFamily="34" charset="-120"/>
              </a:rPr>
              <a:t>RÉMI · SCRUM MASTER</a:t>
            </a:r>
            <a:endParaRPr lang="en-US" sz="750" dirty="0"/>
          </a:p>
        </p:txBody>
      </p:sp>
      <p:sp>
        <p:nvSpPr>
          <p:cNvPr id="3" name="Text 1"/>
          <p:cNvSpPr txBox="1"/>
          <p:nvPr/>
        </p:nvSpPr>
        <p:spPr>
          <a:xfrm>
            <a:off x="4000500" y="6610350"/>
            <a:ext cx="4191000" cy="190500"/>
          </a:xfrm>
          <a:prstGeom prst="rect">
            <a:avLst/>
          </a:prstGeom>
          <a:noFill/>
          <a:ln/>
        </p:spPr>
        <p:txBody>
          <a:bodyPr wrap="square" lIns="0" tIns="0" rIns="0" bIns="0" rtlCol="0" anchor="ctr"/>
          <a:lstStyle/>
          <a:p>
            <a:pPr algn="ct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4" name="Text 2"/>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≈70 s · 6:25</a:t>
            </a:r>
            <a:endParaRPr lang="en-US" sz="750" dirty="0"/>
          </a:p>
        </p:txBody>
      </p:sp>
      <p:sp>
        <p:nvSpPr>
          <p:cNvPr id="5" name="Text 3"/>
          <p:cNvSpPr txBox="1"/>
          <p:nvPr/>
        </p:nvSpPr>
        <p:spPr>
          <a:xfrm>
            <a:off x="571500" y="323850"/>
            <a:ext cx="11049000" cy="190500"/>
          </a:xfrm>
          <a:prstGeom prst="rect">
            <a:avLst/>
          </a:prstGeom>
          <a:noFill/>
          <a:ln/>
        </p:spPr>
        <p:txBody>
          <a:bodyPr wrap="square" lIns="0" tIns="0" rIns="0" bIns="0" rtlCol="0" anchor="ctr"/>
          <a:lstStyle/>
          <a:p>
            <a:pPr algn="ctr" indent="0" marL="0">
              <a:buNone/>
            </a:pPr>
            <a:r>
              <a:rPr lang="en-US" sz="850" b="1" spc="400" kern="0" dirty="0">
                <a:solidFill>
                  <a:srgbClr val="D9A521"/>
                </a:solidFill>
                <a:latin typeface="Consolas" pitchFamily="34" charset="0"/>
                <a:ea typeface="Consolas" pitchFamily="34" charset="-122"/>
                <a:cs typeface="Consolas" pitchFamily="34" charset="-120"/>
              </a:rPr>
              <a:t>02 · DÉMARCHE PROJET</a:t>
            </a:r>
            <a:endParaRPr lang="en-US" sz="850" dirty="0"/>
          </a:p>
        </p:txBody>
      </p:sp>
      <p:sp>
        <p:nvSpPr>
          <p:cNvPr id="6" name="Text 4"/>
          <p:cNvSpPr txBox="1"/>
          <p:nvPr/>
        </p:nvSpPr>
        <p:spPr>
          <a:xfrm>
            <a:off x="571500" y="514350"/>
            <a:ext cx="11049000" cy="609600"/>
          </a:xfrm>
          <a:prstGeom prst="rect">
            <a:avLst/>
          </a:prstGeom>
          <a:noFill/>
          <a:ln/>
          <a:effectLst>
            <a:outerShdw sx="100000" sy="100000" kx="0" ky="0" algn="bl" rotWithShape="0" blurRad="101600" dist="38100" dir="2700000">
              <a:srgbClr val="A02C1E">
                <a:alpha val="100000"/>
              </a:srgbClr>
            </a:outerShdw>
          </a:effectLst>
        </p:spPr>
        <p:txBody>
          <a:bodyPr wrap="square" lIns="0" tIns="0" rIns="0" bIns="0" rtlCol="0" anchor="ctr"/>
          <a:lstStyle/>
          <a:p>
            <a:pPr algn="ctr" indent="0" marL="0">
              <a:buNone/>
            </a:pPr>
            <a:r>
              <a:rPr lang="en-US" sz="3400" dirty="0">
                <a:solidFill>
                  <a:srgbClr val="F3E4B0"/>
                </a:solidFill>
                <a:latin typeface="Impact" pitchFamily="34" charset="0"/>
                <a:ea typeface="Impact" pitchFamily="34" charset="-122"/>
                <a:cs typeface="Impact" pitchFamily="34" charset="-120"/>
              </a:rPr>
              <a:t>PILOTAGE : LE BURNDOWN DU SPRINT</a:t>
            </a:r>
            <a:endParaRPr lang="en-US" sz="3400" dirty="0"/>
          </a:p>
        </p:txBody>
      </p:sp>
      <p:sp>
        <p:nvSpPr>
          <p:cNvPr id="7" name="Text 5"/>
          <p:cNvSpPr txBox="1"/>
          <p:nvPr/>
        </p:nvSpPr>
        <p:spPr>
          <a:xfrm>
            <a:off x="2000250" y="1143000"/>
            <a:ext cx="8191500" cy="438150"/>
          </a:xfrm>
          <a:prstGeom prst="rect">
            <a:avLst/>
          </a:prstGeom>
          <a:noFill/>
          <a:ln/>
        </p:spPr>
        <p:txBody>
          <a:bodyPr wrap="square" lIns="0" tIns="0" rIns="0" bIns="0" rtlCol="0" anchor="t"/>
          <a:lstStyle/>
          <a:p>
            <a:pPr algn="ctr" indent="0" marL="0">
              <a:buNone/>
            </a:pPr>
            <a:r>
              <a:rPr lang="en-US" sz="1350" dirty="0">
                <a:solidFill>
                  <a:srgbClr val="E6DCBE"/>
                </a:solidFill>
                <a:latin typeface="Arial" pitchFamily="34" charset="0"/>
                <a:ea typeface="Arial" pitchFamily="34" charset="-122"/>
                <a:cs typeface="Arial" pitchFamily="34" charset="-120"/>
              </a:rPr>
              <a:t>Nous sommes jeudi matin : le sprint se termine après cette soutenance.</a:t>
            </a:r>
            <a:endParaRPr lang="en-US" sz="1350" dirty="0"/>
          </a:p>
        </p:txBody>
      </p:sp>
      <p:sp>
        <p:nvSpPr>
          <p:cNvPr id="9" name="Shape 6"/>
          <p:cNvSpPr/>
          <p:nvPr/>
        </p:nvSpPr>
        <p:spPr>
          <a:xfrm>
            <a:off x="571500" y="1733550"/>
            <a:ext cx="8382000" cy="3067050"/>
          </a:xfrm>
          <a:prstGeom prst="rect">
            <a:avLst/>
          </a:prstGeom>
          <a:solidFill>
            <a:srgbClr val="0B2C22"/>
          </a:solidFill>
          <a:ln w="9525">
            <a:solidFill>
              <a:srgbClr val="D9A521">
                <a:alpha val="40000"/>
              </a:srgbClr>
            </a:solidFill>
            <a:prstDash val="solid"/>
          </a:ln>
        </p:spPr>
      </p:sp>
      <p:sp>
        <p:nvSpPr>
          <p:cNvPr id="10" name="Shape 7"/>
          <p:cNvSpPr/>
          <p:nvPr/>
        </p:nvSpPr>
        <p:spPr>
          <a:xfrm>
            <a:off x="1104900" y="2019300"/>
            <a:ext cx="7600950" cy="0"/>
          </a:xfrm>
          <a:prstGeom prst="line">
            <a:avLst/>
          </a:prstGeom>
          <a:noFill/>
          <a:ln w="6350">
            <a:solidFill>
              <a:srgbClr val="FFFFFF">
                <a:alpha val="12000"/>
              </a:srgbClr>
            </a:solidFill>
            <a:prstDash val="solid"/>
          </a:ln>
        </p:spPr>
      </p:sp>
      <p:sp>
        <p:nvSpPr>
          <p:cNvPr id="11" name="Text 8"/>
          <p:cNvSpPr txBox="1"/>
          <p:nvPr/>
        </p:nvSpPr>
        <p:spPr>
          <a:xfrm>
            <a:off x="647700" y="1924050"/>
            <a:ext cx="361950" cy="190500"/>
          </a:xfrm>
          <a:prstGeom prst="rect">
            <a:avLst/>
          </a:prstGeom>
          <a:noFill/>
          <a:ln/>
        </p:spPr>
        <p:txBody>
          <a:bodyPr wrap="square" lIns="0" tIns="0" rIns="0" bIns="0" rtlCol="0" anchor="ctr"/>
          <a:lstStyle/>
          <a:p>
            <a:pPr algn="r" indent="0" marL="0">
              <a:buNone/>
            </a:pPr>
            <a:r>
              <a:rPr lang="en-US" sz="1000" dirty="0">
                <a:solidFill>
                  <a:srgbClr val="F3E4B0"/>
                </a:solidFill>
                <a:latin typeface="Impact" pitchFamily="34" charset="0"/>
                <a:ea typeface="Impact" pitchFamily="34" charset="-122"/>
                <a:cs typeface="Impact" pitchFamily="34" charset="-120"/>
              </a:rPr>
              <a:t>52</a:t>
            </a:r>
            <a:endParaRPr lang="en-US" sz="1000" dirty="0"/>
          </a:p>
        </p:txBody>
      </p:sp>
      <p:sp>
        <p:nvSpPr>
          <p:cNvPr id="12" name="Shape 9"/>
          <p:cNvSpPr/>
          <p:nvPr/>
        </p:nvSpPr>
        <p:spPr>
          <a:xfrm>
            <a:off x="1104900" y="3190875"/>
            <a:ext cx="7600950" cy="0"/>
          </a:xfrm>
          <a:prstGeom prst="line">
            <a:avLst/>
          </a:prstGeom>
          <a:noFill/>
          <a:ln w="6350">
            <a:solidFill>
              <a:srgbClr val="FFFFFF">
                <a:alpha val="12000"/>
              </a:srgbClr>
            </a:solidFill>
            <a:prstDash val="solid"/>
          </a:ln>
        </p:spPr>
      </p:sp>
      <p:sp>
        <p:nvSpPr>
          <p:cNvPr id="13" name="Text 10"/>
          <p:cNvSpPr txBox="1"/>
          <p:nvPr/>
        </p:nvSpPr>
        <p:spPr>
          <a:xfrm>
            <a:off x="647700" y="3095625"/>
            <a:ext cx="361950" cy="190500"/>
          </a:xfrm>
          <a:prstGeom prst="rect">
            <a:avLst/>
          </a:prstGeom>
          <a:noFill/>
          <a:ln/>
        </p:spPr>
        <p:txBody>
          <a:bodyPr wrap="square" lIns="0" tIns="0" rIns="0" bIns="0" rtlCol="0" anchor="ctr"/>
          <a:lstStyle/>
          <a:p>
            <a:pPr algn="r" indent="0" marL="0">
              <a:buNone/>
            </a:pPr>
            <a:r>
              <a:rPr lang="en-US" sz="1000" dirty="0">
                <a:solidFill>
                  <a:srgbClr val="F3E4B0"/>
                </a:solidFill>
                <a:latin typeface="Impact" pitchFamily="34" charset="0"/>
                <a:ea typeface="Impact" pitchFamily="34" charset="-122"/>
                <a:cs typeface="Impact" pitchFamily="34" charset="-120"/>
              </a:rPr>
              <a:t>26</a:t>
            </a:r>
            <a:endParaRPr lang="en-US" sz="1000" dirty="0"/>
          </a:p>
        </p:txBody>
      </p:sp>
      <p:sp>
        <p:nvSpPr>
          <p:cNvPr id="14" name="Shape 11"/>
          <p:cNvSpPr/>
          <p:nvPr/>
        </p:nvSpPr>
        <p:spPr>
          <a:xfrm>
            <a:off x="1104900" y="4001965"/>
            <a:ext cx="7600950" cy="0"/>
          </a:xfrm>
          <a:prstGeom prst="line">
            <a:avLst/>
          </a:prstGeom>
          <a:noFill/>
          <a:ln w="6350">
            <a:solidFill>
              <a:srgbClr val="FFFFFF">
                <a:alpha val="12000"/>
              </a:srgbClr>
            </a:solidFill>
            <a:prstDash val="solid"/>
          </a:ln>
        </p:spPr>
      </p:sp>
      <p:sp>
        <p:nvSpPr>
          <p:cNvPr id="15" name="Text 12"/>
          <p:cNvSpPr txBox="1"/>
          <p:nvPr/>
        </p:nvSpPr>
        <p:spPr>
          <a:xfrm>
            <a:off x="647700" y="3906715"/>
            <a:ext cx="361950" cy="190500"/>
          </a:xfrm>
          <a:prstGeom prst="rect">
            <a:avLst/>
          </a:prstGeom>
          <a:noFill/>
          <a:ln/>
        </p:spPr>
        <p:txBody>
          <a:bodyPr wrap="square" lIns="0" tIns="0" rIns="0" bIns="0" rtlCol="0" anchor="ctr"/>
          <a:lstStyle/>
          <a:p>
            <a:pPr algn="r" indent="0" marL="0">
              <a:buNone/>
            </a:pPr>
            <a:r>
              <a:rPr lang="en-US" sz="1000" dirty="0">
                <a:solidFill>
                  <a:srgbClr val="F3E4B0"/>
                </a:solidFill>
                <a:latin typeface="Impact" pitchFamily="34" charset="0"/>
                <a:ea typeface="Impact" pitchFamily="34" charset="-122"/>
                <a:cs typeface="Impact" pitchFamily="34" charset="-120"/>
              </a:rPr>
              <a:t>8</a:t>
            </a:r>
            <a:endParaRPr lang="en-US" sz="1000" dirty="0"/>
          </a:p>
        </p:txBody>
      </p:sp>
      <p:sp>
        <p:nvSpPr>
          <p:cNvPr id="16" name="Shape 13"/>
          <p:cNvSpPr/>
          <p:nvPr/>
        </p:nvSpPr>
        <p:spPr>
          <a:xfrm>
            <a:off x="1104900" y="4362450"/>
            <a:ext cx="7600950" cy="0"/>
          </a:xfrm>
          <a:prstGeom prst="line">
            <a:avLst/>
          </a:prstGeom>
          <a:noFill/>
          <a:ln w="6350">
            <a:solidFill>
              <a:srgbClr val="FFFFFF">
                <a:alpha val="12000"/>
              </a:srgbClr>
            </a:solidFill>
            <a:prstDash val="solid"/>
          </a:ln>
        </p:spPr>
      </p:sp>
      <p:sp>
        <p:nvSpPr>
          <p:cNvPr id="17" name="Text 14"/>
          <p:cNvSpPr txBox="1"/>
          <p:nvPr/>
        </p:nvSpPr>
        <p:spPr>
          <a:xfrm>
            <a:off x="647700" y="4267200"/>
            <a:ext cx="361950" cy="190500"/>
          </a:xfrm>
          <a:prstGeom prst="rect">
            <a:avLst/>
          </a:prstGeom>
          <a:noFill/>
          <a:ln/>
        </p:spPr>
        <p:txBody>
          <a:bodyPr wrap="square" lIns="0" tIns="0" rIns="0" bIns="0" rtlCol="0" anchor="ctr"/>
          <a:lstStyle/>
          <a:p>
            <a:pPr algn="r" indent="0" marL="0">
              <a:buNone/>
            </a:pPr>
            <a:r>
              <a:rPr lang="en-US" sz="1000" dirty="0">
                <a:solidFill>
                  <a:srgbClr val="F3E4B0"/>
                </a:solidFill>
                <a:latin typeface="Impact" pitchFamily="34" charset="0"/>
                <a:ea typeface="Impact" pitchFamily="34" charset="-122"/>
                <a:cs typeface="Impact" pitchFamily="34" charset="-120"/>
              </a:rPr>
              <a:t>0</a:t>
            </a:r>
            <a:endParaRPr lang="en-US" sz="1000" dirty="0"/>
          </a:p>
        </p:txBody>
      </p:sp>
      <p:sp>
        <p:nvSpPr>
          <p:cNvPr id="18" name="Text 15"/>
          <p:cNvSpPr txBox="1"/>
          <p:nvPr/>
        </p:nvSpPr>
        <p:spPr>
          <a:xfrm>
            <a:off x="723900" y="4419600"/>
            <a:ext cx="762000" cy="171450"/>
          </a:xfrm>
          <a:prstGeom prst="rect">
            <a:avLst/>
          </a:prstGeom>
          <a:noFill/>
          <a:ln/>
        </p:spPr>
        <p:txBody>
          <a:bodyPr wrap="square" lIns="0" tIns="0" rIns="0" bIns="0" rtlCol="0" anchor="ctr"/>
          <a:lstStyle/>
          <a:p>
            <a:pPr algn="ctr" indent="0" marL="0">
              <a:buNone/>
            </a:pPr>
            <a:r>
              <a:rPr lang="en-US" sz="800" dirty="0">
                <a:solidFill>
                  <a:srgbClr val="9FBFA6"/>
                </a:solidFill>
                <a:latin typeface="Consolas" pitchFamily="34" charset="0"/>
                <a:ea typeface="Consolas" pitchFamily="34" charset="-122"/>
                <a:cs typeface="Consolas" pitchFamily="34" charset="-120"/>
              </a:rPr>
              <a:t>dép.</a:t>
            </a:r>
            <a:endParaRPr lang="en-US" sz="800" dirty="0"/>
          </a:p>
        </p:txBody>
      </p:sp>
      <p:sp>
        <p:nvSpPr>
          <p:cNvPr id="19" name="Text 16"/>
          <p:cNvSpPr txBox="1"/>
          <p:nvPr/>
        </p:nvSpPr>
        <p:spPr>
          <a:xfrm>
            <a:off x="1990725" y="4419600"/>
            <a:ext cx="762000" cy="171450"/>
          </a:xfrm>
          <a:prstGeom prst="rect">
            <a:avLst/>
          </a:prstGeom>
          <a:noFill/>
          <a:ln/>
        </p:spPr>
        <p:txBody>
          <a:bodyPr wrap="square" lIns="0" tIns="0" rIns="0" bIns="0" rtlCol="0" anchor="ctr"/>
          <a:lstStyle/>
          <a:p>
            <a:pPr algn="ctr" indent="0" marL="0">
              <a:buNone/>
            </a:pPr>
            <a:r>
              <a:rPr lang="en-US" sz="800" dirty="0">
                <a:solidFill>
                  <a:srgbClr val="9FBFA6"/>
                </a:solidFill>
                <a:latin typeface="Consolas" pitchFamily="34" charset="0"/>
                <a:ea typeface="Consolas" pitchFamily="34" charset="-122"/>
                <a:cs typeface="Consolas" pitchFamily="34" charset="-120"/>
              </a:rPr>
              <a:t>lun PM</a:t>
            </a:r>
            <a:endParaRPr lang="en-US" sz="800" dirty="0"/>
          </a:p>
        </p:txBody>
      </p:sp>
      <p:sp>
        <p:nvSpPr>
          <p:cNvPr id="20" name="Text 17"/>
          <p:cNvSpPr txBox="1"/>
          <p:nvPr/>
        </p:nvSpPr>
        <p:spPr>
          <a:xfrm>
            <a:off x="3257550" y="4419600"/>
            <a:ext cx="762000" cy="171450"/>
          </a:xfrm>
          <a:prstGeom prst="rect">
            <a:avLst/>
          </a:prstGeom>
          <a:noFill/>
          <a:ln/>
        </p:spPr>
        <p:txBody>
          <a:bodyPr wrap="square" lIns="0" tIns="0" rIns="0" bIns="0" rtlCol="0" anchor="ctr"/>
          <a:lstStyle/>
          <a:p>
            <a:pPr algn="ctr" indent="0" marL="0">
              <a:buNone/>
            </a:pPr>
            <a:r>
              <a:rPr lang="en-US" sz="800" dirty="0">
                <a:solidFill>
                  <a:srgbClr val="9FBFA6"/>
                </a:solidFill>
                <a:latin typeface="Consolas" pitchFamily="34" charset="0"/>
                <a:ea typeface="Consolas" pitchFamily="34" charset="-122"/>
                <a:cs typeface="Consolas" pitchFamily="34" charset="-120"/>
              </a:rPr>
              <a:t>mar AM</a:t>
            </a:r>
            <a:endParaRPr lang="en-US" sz="800" dirty="0"/>
          </a:p>
        </p:txBody>
      </p:sp>
      <p:sp>
        <p:nvSpPr>
          <p:cNvPr id="21" name="Text 18"/>
          <p:cNvSpPr txBox="1"/>
          <p:nvPr/>
        </p:nvSpPr>
        <p:spPr>
          <a:xfrm>
            <a:off x="4524375" y="4419600"/>
            <a:ext cx="762000" cy="171450"/>
          </a:xfrm>
          <a:prstGeom prst="rect">
            <a:avLst/>
          </a:prstGeom>
          <a:noFill/>
          <a:ln/>
        </p:spPr>
        <p:txBody>
          <a:bodyPr wrap="square" lIns="0" tIns="0" rIns="0" bIns="0" rtlCol="0" anchor="ctr"/>
          <a:lstStyle/>
          <a:p>
            <a:pPr algn="ctr" indent="0" marL="0">
              <a:buNone/>
            </a:pPr>
            <a:r>
              <a:rPr lang="en-US" sz="800" dirty="0">
                <a:solidFill>
                  <a:srgbClr val="9FBFA6"/>
                </a:solidFill>
                <a:latin typeface="Consolas" pitchFamily="34" charset="0"/>
                <a:ea typeface="Consolas" pitchFamily="34" charset="-122"/>
                <a:cs typeface="Consolas" pitchFamily="34" charset="-120"/>
              </a:rPr>
              <a:t>mar PM</a:t>
            </a:r>
            <a:endParaRPr lang="en-US" sz="800" dirty="0"/>
          </a:p>
        </p:txBody>
      </p:sp>
      <p:sp>
        <p:nvSpPr>
          <p:cNvPr id="22" name="Text 19"/>
          <p:cNvSpPr txBox="1"/>
          <p:nvPr/>
        </p:nvSpPr>
        <p:spPr>
          <a:xfrm>
            <a:off x="5791200" y="4419600"/>
            <a:ext cx="762000" cy="171450"/>
          </a:xfrm>
          <a:prstGeom prst="rect">
            <a:avLst/>
          </a:prstGeom>
          <a:noFill/>
          <a:ln/>
        </p:spPr>
        <p:txBody>
          <a:bodyPr wrap="square" lIns="0" tIns="0" rIns="0" bIns="0" rtlCol="0" anchor="ctr"/>
          <a:lstStyle/>
          <a:p>
            <a:pPr algn="ctr" indent="0" marL="0">
              <a:buNone/>
            </a:pPr>
            <a:r>
              <a:rPr lang="en-US" sz="800" dirty="0">
                <a:solidFill>
                  <a:srgbClr val="9FBFA6"/>
                </a:solidFill>
                <a:latin typeface="Consolas" pitchFamily="34" charset="0"/>
                <a:ea typeface="Consolas" pitchFamily="34" charset="-122"/>
                <a:cs typeface="Consolas" pitchFamily="34" charset="-120"/>
              </a:rPr>
              <a:t>mer AM</a:t>
            </a:r>
            <a:endParaRPr lang="en-US" sz="800" dirty="0"/>
          </a:p>
        </p:txBody>
      </p:sp>
      <p:sp>
        <p:nvSpPr>
          <p:cNvPr id="23" name="Text 20"/>
          <p:cNvSpPr txBox="1"/>
          <p:nvPr/>
        </p:nvSpPr>
        <p:spPr>
          <a:xfrm>
            <a:off x="7058025" y="4419600"/>
            <a:ext cx="762000" cy="171450"/>
          </a:xfrm>
          <a:prstGeom prst="rect">
            <a:avLst/>
          </a:prstGeom>
          <a:noFill/>
          <a:ln/>
        </p:spPr>
        <p:txBody>
          <a:bodyPr wrap="square" lIns="0" tIns="0" rIns="0" bIns="0" rtlCol="0" anchor="ctr"/>
          <a:lstStyle/>
          <a:p>
            <a:pPr algn="ctr" indent="0" marL="0">
              <a:buNone/>
            </a:pPr>
            <a:r>
              <a:rPr lang="en-US" sz="800" dirty="0">
                <a:solidFill>
                  <a:srgbClr val="9FBFA6"/>
                </a:solidFill>
                <a:latin typeface="Consolas" pitchFamily="34" charset="0"/>
                <a:ea typeface="Consolas" pitchFamily="34" charset="-122"/>
                <a:cs typeface="Consolas" pitchFamily="34" charset="-120"/>
              </a:rPr>
              <a:t>mer PM</a:t>
            </a:r>
            <a:endParaRPr lang="en-US" sz="800" dirty="0"/>
          </a:p>
        </p:txBody>
      </p:sp>
      <p:sp>
        <p:nvSpPr>
          <p:cNvPr id="24" name="Text 21"/>
          <p:cNvSpPr txBox="1"/>
          <p:nvPr/>
        </p:nvSpPr>
        <p:spPr>
          <a:xfrm>
            <a:off x="8324850" y="4419600"/>
            <a:ext cx="762000" cy="171450"/>
          </a:xfrm>
          <a:prstGeom prst="rect">
            <a:avLst/>
          </a:prstGeom>
          <a:noFill/>
          <a:ln/>
        </p:spPr>
        <p:txBody>
          <a:bodyPr wrap="square" lIns="0" tIns="0" rIns="0" bIns="0" rtlCol="0" anchor="ctr"/>
          <a:lstStyle/>
          <a:p>
            <a:pPr algn="ctr" indent="0" marL="0">
              <a:buNone/>
            </a:pPr>
            <a:r>
              <a:rPr lang="en-US" sz="800" dirty="0">
                <a:solidFill>
                  <a:srgbClr val="9FBFA6"/>
                </a:solidFill>
                <a:latin typeface="Consolas" pitchFamily="34" charset="0"/>
                <a:ea typeface="Consolas" pitchFamily="34" charset="-122"/>
                <a:cs typeface="Consolas" pitchFamily="34" charset="-120"/>
              </a:rPr>
              <a:t>jeu AM</a:t>
            </a:r>
            <a:endParaRPr lang="en-US" sz="800" dirty="0"/>
          </a:p>
        </p:txBody>
      </p:sp>
      <p:sp>
        <p:nvSpPr>
          <p:cNvPr id="25" name="Shape 22"/>
          <p:cNvSpPr/>
          <p:nvPr/>
        </p:nvSpPr>
        <p:spPr>
          <a:xfrm>
            <a:off x="1104900" y="2019300"/>
            <a:ext cx="1266825" cy="390525"/>
          </a:xfrm>
          <a:prstGeom prst="line">
            <a:avLst/>
          </a:prstGeom>
          <a:noFill/>
          <a:ln w="19050">
            <a:solidFill>
              <a:srgbClr val="D9A521"/>
            </a:solidFill>
            <a:prstDash val="dash"/>
            <a:headEnd type="none"/>
            <a:tailEnd type="none"/>
          </a:ln>
        </p:spPr>
      </p:sp>
      <p:sp>
        <p:nvSpPr>
          <p:cNvPr id="26" name="Shape 23"/>
          <p:cNvSpPr/>
          <p:nvPr/>
        </p:nvSpPr>
        <p:spPr>
          <a:xfrm>
            <a:off x="1104900" y="2019300"/>
            <a:ext cx="1266825" cy="0"/>
          </a:xfrm>
          <a:prstGeom prst="line">
            <a:avLst/>
          </a:prstGeom>
          <a:noFill/>
          <a:ln w="28575">
            <a:solidFill>
              <a:srgbClr val="F3E4B0"/>
            </a:solidFill>
            <a:prstDash val="solid"/>
          </a:ln>
        </p:spPr>
      </p:sp>
      <p:sp>
        <p:nvSpPr>
          <p:cNvPr id="27" name="Shape 24"/>
          <p:cNvSpPr/>
          <p:nvPr/>
        </p:nvSpPr>
        <p:spPr>
          <a:xfrm>
            <a:off x="2371725" y="2409825"/>
            <a:ext cx="1266825" cy="390525"/>
          </a:xfrm>
          <a:prstGeom prst="line">
            <a:avLst/>
          </a:prstGeom>
          <a:noFill/>
          <a:ln w="19050">
            <a:solidFill>
              <a:srgbClr val="D9A521"/>
            </a:solidFill>
            <a:prstDash val="dash"/>
            <a:headEnd type="none"/>
            <a:tailEnd type="none"/>
          </a:ln>
        </p:spPr>
      </p:sp>
      <p:sp>
        <p:nvSpPr>
          <p:cNvPr id="28" name="Shape 25"/>
          <p:cNvSpPr/>
          <p:nvPr/>
        </p:nvSpPr>
        <p:spPr>
          <a:xfrm>
            <a:off x="2371725" y="2019300"/>
            <a:ext cx="1266825" cy="450606"/>
          </a:xfrm>
          <a:prstGeom prst="line">
            <a:avLst/>
          </a:prstGeom>
          <a:noFill/>
          <a:ln w="28575">
            <a:solidFill>
              <a:srgbClr val="F3E4B0"/>
            </a:solidFill>
            <a:prstDash val="solid"/>
          </a:ln>
        </p:spPr>
      </p:sp>
      <p:sp>
        <p:nvSpPr>
          <p:cNvPr id="29" name="Shape 26"/>
          <p:cNvSpPr/>
          <p:nvPr/>
        </p:nvSpPr>
        <p:spPr>
          <a:xfrm>
            <a:off x="3638550" y="2800350"/>
            <a:ext cx="1266825" cy="390525"/>
          </a:xfrm>
          <a:prstGeom prst="line">
            <a:avLst/>
          </a:prstGeom>
          <a:noFill/>
          <a:ln w="19050">
            <a:solidFill>
              <a:srgbClr val="D9A521"/>
            </a:solidFill>
            <a:prstDash val="dash"/>
            <a:headEnd type="none"/>
            <a:tailEnd type="none"/>
          </a:ln>
        </p:spPr>
      </p:sp>
      <p:sp>
        <p:nvSpPr>
          <p:cNvPr id="30" name="Shape 27"/>
          <p:cNvSpPr/>
          <p:nvPr/>
        </p:nvSpPr>
        <p:spPr>
          <a:xfrm>
            <a:off x="3638550" y="2469906"/>
            <a:ext cx="1266825" cy="360485"/>
          </a:xfrm>
          <a:prstGeom prst="line">
            <a:avLst/>
          </a:prstGeom>
          <a:noFill/>
          <a:ln w="28575">
            <a:solidFill>
              <a:srgbClr val="F3E4B0"/>
            </a:solidFill>
            <a:prstDash val="solid"/>
          </a:ln>
        </p:spPr>
      </p:sp>
      <p:sp>
        <p:nvSpPr>
          <p:cNvPr id="31" name="Shape 28"/>
          <p:cNvSpPr/>
          <p:nvPr/>
        </p:nvSpPr>
        <p:spPr>
          <a:xfrm>
            <a:off x="4905375" y="3190875"/>
            <a:ext cx="1266825" cy="390525"/>
          </a:xfrm>
          <a:prstGeom prst="line">
            <a:avLst/>
          </a:prstGeom>
          <a:noFill/>
          <a:ln w="19050">
            <a:solidFill>
              <a:srgbClr val="D9A521"/>
            </a:solidFill>
            <a:prstDash val="dash"/>
            <a:headEnd type="none"/>
            <a:tailEnd type="none"/>
          </a:ln>
        </p:spPr>
      </p:sp>
      <p:sp>
        <p:nvSpPr>
          <p:cNvPr id="32" name="Shape 29"/>
          <p:cNvSpPr/>
          <p:nvPr/>
        </p:nvSpPr>
        <p:spPr>
          <a:xfrm>
            <a:off x="4905375" y="2830390"/>
            <a:ext cx="1266825" cy="360485"/>
          </a:xfrm>
          <a:prstGeom prst="line">
            <a:avLst/>
          </a:prstGeom>
          <a:noFill/>
          <a:ln w="28575">
            <a:solidFill>
              <a:srgbClr val="F3E4B0"/>
            </a:solidFill>
            <a:prstDash val="solid"/>
          </a:ln>
        </p:spPr>
      </p:sp>
      <p:sp>
        <p:nvSpPr>
          <p:cNvPr id="33" name="Shape 30"/>
          <p:cNvSpPr/>
          <p:nvPr/>
        </p:nvSpPr>
        <p:spPr>
          <a:xfrm>
            <a:off x="6172200" y="3581400"/>
            <a:ext cx="1266825" cy="390525"/>
          </a:xfrm>
          <a:prstGeom prst="line">
            <a:avLst/>
          </a:prstGeom>
          <a:noFill/>
          <a:ln w="19050">
            <a:solidFill>
              <a:srgbClr val="D9A521"/>
            </a:solidFill>
            <a:prstDash val="dash"/>
            <a:headEnd type="none"/>
            <a:tailEnd type="none"/>
          </a:ln>
        </p:spPr>
      </p:sp>
      <p:sp>
        <p:nvSpPr>
          <p:cNvPr id="34" name="Shape 31"/>
          <p:cNvSpPr/>
          <p:nvPr/>
        </p:nvSpPr>
        <p:spPr>
          <a:xfrm>
            <a:off x="6172200" y="3190875"/>
            <a:ext cx="1266825" cy="450606"/>
          </a:xfrm>
          <a:prstGeom prst="line">
            <a:avLst/>
          </a:prstGeom>
          <a:noFill/>
          <a:ln w="28575">
            <a:solidFill>
              <a:srgbClr val="F3E4B0"/>
            </a:solidFill>
            <a:prstDash val="solid"/>
          </a:ln>
        </p:spPr>
      </p:sp>
      <p:sp>
        <p:nvSpPr>
          <p:cNvPr id="35" name="Shape 32"/>
          <p:cNvSpPr/>
          <p:nvPr/>
        </p:nvSpPr>
        <p:spPr>
          <a:xfrm>
            <a:off x="7439025" y="3971925"/>
            <a:ext cx="1266825" cy="390525"/>
          </a:xfrm>
          <a:prstGeom prst="line">
            <a:avLst/>
          </a:prstGeom>
          <a:noFill/>
          <a:ln w="19050">
            <a:solidFill>
              <a:srgbClr val="D9A521"/>
            </a:solidFill>
            <a:prstDash val="dash"/>
            <a:headEnd type="none"/>
            <a:tailEnd type="none"/>
          </a:ln>
        </p:spPr>
      </p:sp>
      <p:sp>
        <p:nvSpPr>
          <p:cNvPr id="36" name="Shape 33"/>
          <p:cNvSpPr/>
          <p:nvPr/>
        </p:nvSpPr>
        <p:spPr>
          <a:xfrm>
            <a:off x="7439025" y="3641481"/>
            <a:ext cx="1266825" cy="360485"/>
          </a:xfrm>
          <a:prstGeom prst="line">
            <a:avLst/>
          </a:prstGeom>
          <a:noFill/>
          <a:ln w="28575">
            <a:solidFill>
              <a:srgbClr val="F3E4B0"/>
            </a:solidFill>
            <a:prstDash val="solid"/>
          </a:ln>
        </p:spPr>
      </p:sp>
      <p:sp>
        <p:nvSpPr>
          <p:cNvPr id="37" name="Shape 34"/>
          <p:cNvSpPr/>
          <p:nvPr/>
        </p:nvSpPr>
        <p:spPr>
          <a:xfrm>
            <a:off x="1066800" y="1981200"/>
            <a:ext cx="76200" cy="76200"/>
          </a:xfrm>
          <a:prstGeom prst="ellipse">
            <a:avLst/>
          </a:prstGeom>
          <a:solidFill>
            <a:srgbClr val="F3E4B0"/>
          </a:solidFill>
          <a:ln/>
        </p:spPr>
      </p:sp>
      <p:sp>
        <p:nvSpPr>
          <p:cNvPr id="38" name="Shape 35"/>
          <p:cNvSpPr/>
          <p:nvPr/>
        </p:nvSpPr>
        <p:spPr>
          <a:xfrm>
            <a:off x="2333625" y="1981200"/>
            <a:ext cx="76200" cy="76200"/>
          </a:xfrm>
          <a:prstGeom prst="ellipse">
            <a:avLst/>
          </a:prstGeom>
          <a:solidFill>
            <a:srgbClr val="F3E4B0"/>
          </a:solidFill>
          <a:ln/>
        </p:spPr>
      </p:sp>
      <p:sp>
        <p:nvSpPr>
          <p:cNvPr id="39" name="Shape 36"/>
          <p:cNvSpPr/>
          <p:nvPr/>
        </p:nvSpPr>
        <p:spPr>
          <a:xfrm>
            <a:off x="3600450" y="2431806"/>
            <a:ext cx="76200" cy="76200"/>
          </a:xfrm>
          <a:prstGeom prst="ellipse">
            <a:avLst/>
          </a:prstGeom>
          <a:solidFill>
            <a:srgbClr val="F3E4B0"/>
          </a:solidFill>
          <a:ln/>
        </p:spPr>
      </p:sp>
      <p:sp>
        <p:nvSpPr>
          <p:cNvPr id="40" name="Shape 37"/>
          <p:cNvSpPr/>
          <p:nvPr/>
        </p:nvSpPr>
        <p:spPr>
          <a:xfrm>
            <a:off x="4867275" y="2792290"/>
            <a:ext cx="76200" cy="76200"/>
          </a:xfrm>
          <a:prstGeom prst="ellipse">
            <a:avLst/>
          </a:prstGeom>
          <a:solidFill>
            <a:srgbClr val="F3E4B0"/>
          </a:solidFill>
          <a:ln/>
        </p:spPr>
      </p:sp>
      <p:sp>
        <p:nvSpPr>
          <p:cNvPr id="41" name="Shape 38"/>
          <p:cNvSpPr/>
          <p:nvPr/>
        </p:nvSpPr>
        <p:spPr>
          <a:xfrm>
            <a:off x="6134100" y="3152775"/>
            <a:ext cx="76200" cy="76200"/>
          </a:xfrm>
          <a:prstGeom prst="ellipse">
            <a:avLst/>
          </a:prstGeom>
          <a:solidFill>
            <a:srgbClr val="F3E4B0"/>
          </a:solidFill>
          <a:ln/>
        </p:spPr>
      </p:sp>
      <p:sp>
        <p:nvSpPr>
          <p:cNvPr id="42" name="Shape 39"/>
          <p:cNvSpPr/>
          <p:nvPr/>
        </p:nvSpPr>
        <p:spPr>
          <a:xfrm>
            <a:off x="7400925" y="3603381"/>
            <a:ext cx="76200" cy="76200"/>
          </a:xfrm>
          <a:prstGeom prst="ellipse">
            <a:avLst/>
          </a:prstGeom>
          <a:solidFill>
            <a:srgbClr val="F3E4B0"/>
          </a:solidFill>
          <a:ln/>
        </p:spPr>
      </p:sp>
      <p:sp>
        <p:nvSpPr>
          <p:cNvPr id="43" name="Shape 40"/>
          <p:cNvSpPr/>
          <p:nvPr/>
        </p:nvSpPr>
        <p:spPr>
          <a:xfrm>
            <a:off x="8667750" y="3963865"/>
            <a:ext cx="76200" cy="76200"/>
          </a:xfrm>
          <a:prstGeom prst="ellipse">
            <a:avLst/>
          </a:prstGeom>
          <a:solidFill>
            <a:srgbClr val="F3E4B0"/>
          </a:solidFill>
          <a:ln/>
        </p:spPr>
      </p:sp>
      <p:sp>
        <p:nvSpPr>
          <p:cNvPr id="44" name="Shape 41"/>
          <p:cNvSpPr/>
          <p:nvPr/>
        </p:nvSpPr>
        <p:spPr>
          <a:xfrm>
            <a:off x="8620125" y="3916240"/>
            <a:ext cx="171450" cy="171450"/>
          </a:xfrm>
          <a:prstGeom prst="ellipse">
            <a:avLst/>
          </a:prstGeom>
          <a:solidFill>
            <a:srgbClr val="0B2C22"/>
          </a:solidFill>
          <a:ln w="25400">
            <a:solidFill>
              <a:srgbClr val="F3E4B0"/>
            </a:solidFill>
            <a:prstDash val="solid"/>
          </a:ln>
        </p:spPr>
      </p:sp>
      <p:sp>
        <p:nvSpPr>
          <p:cNvPr id="45" name="Text 42"/>
          <p:cNvSpPr txBox="1"/>
          <p:nvPr/>
        </p:nvSpPr>
        <p:spPr>
          <a:xfrm>
            <a:off x="6324600" y="1981200"/>
            <a:ext cx="2286000" cy="171450"/>
          </a:xfrm>
          <a:prstGeom prst="rect">
            <a:avLst/>
          </a:prstGeom>
          <a:noFill/>
          <a:ln/>
        </p:spPr>
        <p:txBody>
          <a:bodyPr wrap="square" lIns="0" tIns="0" rIns="0" bIns="0" rtlCol="0" anchor="ctr"/>
          <a:lstStyle/>
          <a:p>
            <a:pPr algn="r" indent="0" marL="0">
              <a:buNone/>
            </a:pPr>
            <a:r>
              <a:rPr lang="en-US" sz="950" dirty="0">
                <a:solidFill>
                  <a:srgbClr val="F3E4B0"/>
                </a:solidFill>
                <a:latin typeface="Arial" pitchFamily="34" charset="0"/>
                <a:ea typeface="Arial" pitchFamily="34" charset="-122"/>
                <a:cs typeface="Arial" pitchFamily="34" charset="-120"/>
              </a:rPr>
              <a:t>nous sommes ici · 8 pts restants</a:t>
            </a:r>
            <a:endParaRPr lang="en-US" sz="950" dirty="0"/>
          </a:p>
        </p:txBody>
      </p:sp>
      <p:sp>
        <p:nvSpPr>
          <p:cNvPr id="46" name="Text 43"/>
          <p:cNvSpPr txBox="1"/>
          <p:nvPr/>
        </p:nvSpPr>
        <p:spPr>
          <a:xfrm>
            <a:off x="1181100" y="1809750"/>
            <a:ext cx="1524000" cy="152400"/>
          </a:xfrm>
          <a:prstGeom prst="rect">
            <a:avLst/>
          </a:prstGeom>
          <a:noFill/>
          <a:ln/>
        </p:spPr>
        <p:txBody>
          <a:bodyPr wrap="square" lIns="0" tIns="0" rIns="0" bIns="0" rtlCol="0" anchor="ctr"/>
          <a:lstStyle/>
          <a:p>
            <a:pPr indent="0" marL="0">
              <a:buNone/>
            </a:pPr>
            <a:r>
              <a:rPr lang="en-US" sz="800" dirty="0">
                <a:solidFill>
                  <a:srgbClr val="D9A521"/>
                </a:solidFill>
                <a:latin typeface="Consolas" pitchFamily="34" charset="0"/>
                <a:ea typeface="Consolas" pitchFamily="34" charset="-122"/>
                <a:cs typeface="Consolas" pitchFamily="34" charset="-120"/>
              </a:rPr>
              <a:t>52 PTS ENGAGÉS</a:t>
            </a:r>
            <a:endParaRPr lang="en-US" sz="800" dirty="0"/>
          </a:p>
        </p:txBody>
      </p:sp>
      <p:sp>
        <p:nvSpPr>
          <p:cNvPr id="47" name="Text 44"/>
          <p:cNvSpPr txBox="1"/>
          <p:nvPr/>
        </p:nvSpPr>
        <p:spPr>
          <a:xfrm>
            <a:off x="571500" y="4838700"/>
            <a:ext cx="8382000" cy="209550"/>
          </a:xfrm>
          <a:prstGeom prst="rect">
            <a:avLst/>
          </a:prstGeom>
          <a:noFill/>
          <a:ln/>
        </p:spPr>
        <p:txBody>
          <a:bodyPr wrap="square" lIns="0" tIns="0" rIns="0" bIns="0" rtlCol="0" anchor="ctr"/>
          <a:lstStyle/>
          <a:p>
            <a:pPr indent="0" marL="0">
              <a:buNone/>
            </a:pPr>
            <a:r>
              <a:rPr lang="en-US" sz="1000" dirty="0">
                <a:solidFill>
                  <a:srgbClr val="8FAE95"/>
                </a:solidFill>
                <a:latin typeface="Arial" pitchFamily="34" charset="0"/>
                <a:ea typeface="Arial" pitchFamily="34" charset="-122"/>
                <a:cs typeface="Arial" pitchFamily="34" charset="-120"/>
              </a:rPr>
              <a:t>Pointillé doré : la trajectoire idéale, 52 vers 0. Ligne pleine : le réel, en points restants, relevé à chaque Daily.</a:t>
            </a:r>
            <a:endParaRPr lang="en-US" sz="1000" dirty="0"/>
          </a:p>
        </p:txBody>
      </p:sp>
      <p:sp>
        <p:nvSpPr>
          <p:cNvPr id="48" name="Shape 45"/>
          <p:cNvSpPr/>
          <p:nvPr/>
        </p:nvSpPr>
        <p:spPr>
          <a:xfrm>
            <a:off x="9144000" y="1733550"/>
            <a:ext cx="2476500" cy="666750"/>
          </a:xfrm>
          <a:prstGeom prst="rect">
            <a:avLst/>
          </a:prstGeom>
          <a:solidFill>
            <a:srgbClr val="F4E3AB"/>
          </a:solidFill>
          <a:ln/>
          <a:effectLst>
            <a:outerShdw sx="100000" sy="100000" kx="0" ky="0" algn="bl" rotWithShape="0" blurRad="101600" dist="47625" dir="2700000">
              <a:srgbClr val="A02C1E">
                <a:alpha val="100000"/>
              </a:srgbClr>
            </a:outerShdw>
          </a:effectLst>
        </p:spPr>
      </p:sp>
      <p:sp>
        <p:nvSpPr>
          <p:cNvPr id="49" name="Text 46"/>
          <p:cNvSpPr txBox="1"/>
          <p:nvPr/>
        </p:nvSpPr>
        <p:spPr>
          <a:xfrm>
            <a:off x="9277350" y="1733550"/>
            <a:ext cx="1040130" cy="666750"/>
          </a:xfrm>
          <a:prstGeom prst="rect">
            <a:avLst/>
          </a:prstGeom>
          <a:noFill/>
          <a:ln/>
        </p:spPr>
        <p:txBody>
          <a:bodyPr wrap="square" lIns="0" tIns="0" rIns="0" bIns="0" rtlCol="0" anchor="ctr"/>
          <a:lstStyle/>
          <a:p>
            <a:pPr indent="0" marL="0">
              <a:buNone/>
            </a:pPr>
            <a:r>
              <a:rPr lang="en-US" sz="1900" dirty="0">
                <a:solidFill>
                  <a:srgbClr val="A02C1E"/>
                </a:solidFill>
                <a:latin typeface="Impact" pitchFamily="34" charset="0"/>
                <a:ea typeface="Impact" pitchFamily="34" charset="-122"/>
                <a:cs typeface="Impact" pitchFamily="34" charset="-120"/>
              </a:rPr>
              <a:t>44 pts</a:t>
            </a:r>
            <a:endParaRPr lang="en-US" sz="1900" dirty="0"/>
          </a:p>
        </p:txBody>
      </p:sp>
      <p:sp>
        <p:nvSpPr>
          <p:cNvPr id="50" name="Text 47"/>
          <p:cNvSpPr txBox="1"/>
          <p:nvPr/>
        </p:nvSpPr>
        <p:spPr>
          <a:xfrm>
            <a:off x="10184130" y="1733550"/>
            <a:ext cx="1303020" cy="666750"/>
          </a:xfrm>
          <a:prstGeom prst="rect">
            <a:avLst/>
          </a:prstGeom>
          <a:noFill/>
          <a:ln/>
        </p:spPr>
        <p:txBody>
          <a:bodyPr wrap="square" lIns="0" tIns="0" rIns="0" bIns="0" rtlCol="0" anchor="ctr"/>
          <a:lstStyle/>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Vélocité du sprint</a:t>
            </a:r>
            <a:endParaRPr lang="en-US" sz="750" dirty="0"/>
          </a:p>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points terminés</a:t>
            </a:r>
            <a:endParaRPr lang="en-US" sz="750" dirty="0"/>
          </a:p>
        </p:txBody>
      </p:sp>
      <p:sp>
        <p:nvSpPr>
          <p:cNvPr id="51" name="Shape 48"/>
          <p:cNvSpPr/>
          <p:nvPr/>
        </p:nvSpPr>
        <p:spPr>
          <a:xfrm>
            <a:off x="9144000" y="2514600"/>
            <a:ext cx="2476500" cy="666750"/>
          </a:xfrm>
          <a:prstGeom prst="rect">
            <a:avLst/>
          </a:prstGeom>
          <a:solidFill>
            <a:srgbClr val="F4E3AB"/>
          </a:solidFill>
          <a:ln/>
          <a:effectLst>
            <a:outerShdw sx="100000" sy="100000" kx="0" ky="0" algn="bl" rotWithShape="0" blurRad="101600" dist="47625" dir="2700000">
              <a:srgbClr val="A02C1E">
                <a:alpha val="100000"/>
              </a:srgbClr>
            </a:outerShdw>
          </a:effectLst>
        </p:spPr>
      </p:sp>
      <p:sp>
        <p:nvSpPr>
          <p:cNvPr id="52" name="Text 49"/>
          <p:cNvSpPr txBox="1"/>
          <p:nvPr/>
        </p:nvSpPr>
        <p:spPr>
          <a:xfrm>
            <a:off x="9277350" y="2514600"/>
            <a:ext cx="1040130" cy="666750"/>
          </a:xfrm>
          <a:prstGeom prst="rect">
            <a:avLst/>
          </a:prstGeom>
          <a:noFill/>
          <a:ln/>
        </p:spPr>
        <p:txBody>
          <a:bodyPr wrap="square" lIns="0" tIns="0" rIns="0" bIns="0" rtlCol="0" anchor="ctr"/>
          <a:lstStyle/>
          <a:p>
            <a:pPr indent="0" marL="0">
              <a:buNone/>
            </a:pPr>
            <a:r>
              <a:rPr lang="en-US" sz="1900" dirty="0">
                <a:solidFill>
                  <a:srgbClr val="A02C1E"/>
                </a:solidFill>
                <a:latin typeface="Impact" pitchFamily="34" charset="0"/>
                <a:ea typeface="Impact" pitchFamily="34" charset="-122"/>
                <a:cs typeface="Impact" pitchFamily="34" charset="-120"/>
              </a:rPr>
              <a:t>14</a:t>
            </a:r>
            <a:endParaRPr lang="en-US" sz="1900" dirty="0"/>
          </a:p>
        </p:txBody>
      </p:sp>
      <p:sp>
        <p:nvSpPr>
          <p:cNvPr id="53" name="Text 50"/>
          <p:cNvSpPr txBox="1"/>
          <p:nvPr/>
        </p:nvSpPr>
        <p:spPr>
          <a:xfrm>
            <a:off x="10184130" y="2514600"/>
            <a:ext cx="1303020" cy="666750"/>
          </a:xfrm>
          <a:prstGeom prst="rect">
            <a:avLst/>
          </a:prstGeom>
          <a:noFill/>
          <a:ln/>
        </p:spPr>
        <p:txBody>
          <a:bodyPr wrap="square" lIns="0" tIns="0" rIns="0" bIns="0" rtlCol="0" anchor="ctr"/>
          <a:lstStyle/>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Vélocité Corrello</a:t>
            </a:r>
            <a:endParaRPr lang="en-US" sz="750" dirty="0"/>
          </a:p>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en cartes</a:t>
            </a:r>
            <a:endParaRPr lang="en-US" sz="750" dirty="0"/>
          </a:p>
        </p:txBody>
      </p:sp>
      <p:sp>
        <p:nvSpPr>
          <p:cNvPr id="54" name="Shape 51"/>
          <p:cNvSpPr/>
          <p:nvPr/>
        </p:nvSpPr>
        <p:spPr>
          <a:xfrm>
            <a:off x="9144000" y="3295650"/>
            <a:ext cx="2476500" cy="666750"/>
          </a:xfrm>
          <a:prstGeom prst="rect">
            <a:avLst/>
          </a:prstGeom>
          <a:solidFill>
            <a:srgbClr val="F4E3AB"/>
          </a:solidFill>
          <a:ln/>
          <a:effectLst>
            <a:outerShdw sx="100000" sy="100000" kx="0" ky="0" algn="bl" rotWithShape="0" blurRad="101600" dist="47625" dir="2700000">
              <a:srgbClr val="A02C1E">
                <a:alpha val="100000"/>
              </a:srgbClr>
            </a:outerShdw>
          </a:effectLst>
        </p:spPr>
      </p:sp>
      <p:sp>
        <p:nvSpPr>
          <p:cNvPr id="55" name="Text 52"/>
          <p:cNvSpPr txBox="1"/>
          <p:nvPr/>
        </p:nvSpPr>
        <p:spPr>
          <a:xfrm>
            <a:off x="9277350" y="3295650"/>
            <a:ext cx="1040130" cy="666750"/>
          </a:xfrm>
          <a:prstGeom prst="rect">
            <a:avLst/>
          </a:prstGeom>
          <a:noFill/>
          <a:ln/>
        </p:spPr>
        <p:txBody>
          <a:bodyPr wrap="square" lIns="0" tIns="0" rIns="0" bIns="0" rtlCol="0" anchor="ctr"/>
          <a:lstStyle/>
          <a:p>
            <a:pPr indent="0" marL="0">
              <a:buNone/>
            </a:pPr>
            <a:r>
              <a:rPr lang="en-US" sz="1900" dirty="0">
                <a:solidFill>
                  <a:srgbClr val="A02C1E"/>
                </a:solidFill>
                <a:latin typeface="Impact" pitchFamily="34" charset="0"/>
                <a:ea typeface="Impact" pitchFamily="34" charset="-122"/>
                <a:cs typeface="Impact" pitchFamily="34" charset="-120"/>
              </a:rPr>
              <a:t>8 pts</a:t>
            </a:r>
            <a:endParaRPr lang="en-US" sz="1900" dirty="0"/>
          </a:p>
        </p:txBody>
      </p:sp>
      <p:sp>
        <p:nvSpPr>
          <p:cNvPr id="56" name="Text 53"/>
          <p:cNvSpPr txBox="1"/>
          <p:nvPr/>
        </p:nvSpPr>
        <p:spPr>
          <a:xfrm>
            <a:off x="10184130" y="3295650"/>
            <a:ext cx="1303020" cy="666750"/>
          </a:xfrm>
          <a:prstGeom prst="rect">
            <a:avLst/>
          </a:prstGeom>
          <a:noFill/>
          <a:ln/>
        </p:spPr>
        <p:txBody>
          <a:bodyPr wrap="square" lIns="0" tIns="0" rIns="0" bIns="0" rtlCol="0" anchor="ctr"/>
          <a:lstStyle/>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Restants ce matin</a:t>
            </a:r>
            <a:endParaRPr lang="en-US" sz="750" dirty="0"/>
          </a:p>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US-P4 · SPIKE-P16</a:t>
            </a:r>
            <a:endParaRPr lang="en-US" sz="750" dirty="0"/>
          </a:p>
        </p:txBody>
      </p:sp>
      <p:sp>
        <p:nvSpPr>
          <p:cNvPr id="57" name="Shape 54"/>
          <p:cNvSpPr/>
          <p:nvPr/>
        </p:nvSpPr>
        <p:spPr>
          <a:xfrm>
            <a:off x="9144000" y="4076700"/>
            <a:ext cx="2476500" cy="666750"/>
          </a:xfrm>
          <a:prstGeom prst="rect">
            <a:avLst/>
          </a:prstGeom>
          <a:solidFill>
            <a:srgbClr val="F4E3AB"/>
          </a:solidFill>
          <a:ln/>
          <a:effectLst>
            <a:outerShdw sx="100000" sy="100000" kx="0" ky="0" algn="bl" rotWithShape="0" blurRad="101600" dist="47625" dir="2700000">
              <a:srgbClr val="A02C1E">
                <a:alpha val="100000"/>
              </a:srgbClr>
            </a:outerShdw>
          </a:effectLst>
        </p:spPr>
      </p:sp>
      <p:sp>
        <p:nvSpPr>
          <p:cNvPr id="58" name="Text 55"/>
          <p:cNvSpPr txBox="1"/>
          <p:nvPr/>
        </p:nvSpPr>
        <p:spPr>
          <a:xfrm>
            <a:off x="9277350" y="4076700"/>
            <a:ext cx="1040130" cy="666750"/>
          </a:xfrm>
          <a:prstGeom prst="rect">
            <a:avLst/>
          </a:prstGeom>
          <a:noFill/>
          <a:ln/>
        </p:spPr>
        <p:txBody>
          <a:bodyPr wrap="square" lIns="0" tIns="0" rIns="0" bIns="0" rtlCol="0" anchor="ctr"/>
          <a:lstStyle/>
          <a:p>
            <a:pPr indent="0" marL="0">
              <a:buNone/>
            </a:pPr>
            <a:r>
              <a:rPr lang="en-US" sz="1900" dirty="0">
                <a:solidFill>
                  <a:srgbClr val="A02C1E"/>
                </a:solidFill>
                <a:latin typeface="Impact" pitchFamily="34" charset="0"/>
                <a:ea typeface="Impact" pitchFamily="34" charset="-122"/>
                <a:cs typeface="Impact" pitchFamily="34" charset="-120"/>
              </a:rPr>
              <a:t>85 %</a:t>
            </a:r>
            <a:endParaRPr lang="en-US" sz="1900" dirty="0"/>
          </a:p>
        </p:txBody>
      </p:sp>
      <p:sp>
        <p:nvSpPr>
          <p:cNvPr id="59" name="Text 56"/>
          <p:cNvSpPr txBox="1"/>
          <p:nvPr/>
        </p:nvSpPr>
        <p:spPr>
          <a:xfrm>
            <a:off x="10184130" y="4076700"/>
            <a:ext cx="1303020" cy="666750"/>
          </a:xfrm>
          <a:prstGeom prst="rect">
            <a:avLst/>
          </a:prstGeom>
          <a:noFill/>
          <a:ln/>
        </p:spPr>
        <p:txBody>
          <a:bodyPr wrap="square" lIns="0" tIns="0" rIns="0" bIns="0" rtlCol="0" anchor="ctr"/>
          <a:lstStyle/>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Prédictabilité</a:t>
            </a:r>
            <a:endParaRPr lang="en-US" sz="750" dirty="0"/>
          </a:p>
          <a:p>
            <a:pPr algn="r" indent="0" marL="0">
              <a:lnSpc>
                <a:spcPct val="115000"/>
              </a:lnSpc>
              <a:buNone/>
            </a:pPr>
            <a:r>
              <a:rPr lang="en-US" sz="750" b="1" dirty="0">
                <a:solidFill>
                  <a:srgbClr val="2A2016"/>
                </a:solidFill>
                <a:latin typeface="Consolas" pitchFamily="34" charset="0"/>
                <a:ea typeface="Consolas" pitchFamily="34" charset="-122"/>
                <a:cs typeface="Consolas" pitchFamily="34" charset="-120"/>
              </a:rPr>
              <a:t>44 sur 52</a:t>
            </a:r>
            <a:endParaRPr lang="en-US" sz="750" dirty="0"/>
          </a:p>
        </p:txBody>
      </p:sp>
      <p:sp>
        <p:nvSpPr>
          <p:cNvPr id="60" name="Shape 57"/>
          <p:cNvSpPr/>
          <p:nvPr/>
        </p:nvSpPr>
        <p:spPr>
          <a:xfrm>
            <a:off x="571500" y="5219700"/>
            <a:ext cx="28575" cy="647700"/>
          </a:xfrm>
          <a:prstGeom prst="rect">
            <a:avLst/>
          </a:prstGeom>
          <a:solidFill>
            <a:srgbClr val="D9A521"/>
          </a:solidFill>
          <a:ln/>
        </p:spPr>
      </p:sp>
      <p:sp>
        <p:nvSpPr>
          <p:cNvPr id="61" name="Text 58"/>
          <p:cNvSpPr txBox="1"/>
          <p:nvPr/>
        </p:nvSpPr>
        <p:spPr>
          <a:xfrm>
            <a:off x="723900" y="5219700"/>
            <a:ext cx="10896600" cy="647700"/>
          </a:xfrm>
          <a:prstGeom prst="rect">
            <a:avLst/>
          </a:prstGeom>
          <a:noFill/>
          <a:ln/>
        </p:spPr>
        <p:txBody>
          <a:bodyPr wrap="square" lIns="0" tIns="0" rIns="0" bIns="0" rtlCol="0" anchor="t"/>
          <a:lstStyle/>
          <a:p>
            <a:pPr indent="0" marL="0">
              <a:lnSpc>
                <a:spcPct val="125000"/>
              </a:lnSpc>
              <a:buNone/>
            </a:pPr>
            <a:r>
              <a:rPr lang="en-US" sz="1100" dirty="0">
                <a:solidFill>
                  <a:srgbClr val="E6DCBE"/>
                </a:solidFill>
                <a:latin typeface="Arial" pitchFamily="34" charset="0"/>
                <a:ea typeface="Arial" pitchFamily="34" charset="-122"/>
                <a:cs typeface="Arial" pitchFamily="34" charset="-120"/>
              </a:rPr>
              <a:t>Huit points de retard pris dès le premier après-midi — consacré au cadrage — et gardés jusqu'au bout. Le sprint se termine donc avec deux cartes non finies : elles repartent au Product Backlog. Corrello compte des cartes (vélocité 14), nous comptons des points (vélocité 44).</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09550" y="6610350"/>
            <a:ext cx="3429000" cy="190500"/>
          </a:xfrm>
          <a:prstGeom prst="rect">
            <a:avLst/>
          </a:prstGeom>
          <a:noFill/>
          <a:ln/>
        </p:spPr>
        <p:txBody>
          <a:bodyPr wrap="square" lIns="0" tIns="0" rIns="0" bIns="0" rtlCol="0" anchor="ctr"/>
          <a:lstStyle/>
          <a:p>
            <a:pPr indent="0" marL="0">
              <a:buNone/>
            </a:pPr>
            <a:r>
              <a:rPr lang="en-US" sz="750" spc="140" kern="0" dirty="0">
                <a:solidFill>
                  <a:srgbClr val="D9A521"/>
                </a:solidFill>
                <a:latin typeface="Consolas" pitchFamily="34" charset="0"/>
                <a:ea typeface="Consolas" pitchFamily="34" charset="-122"/>
                <a:cs typeface="Consolas" pitchFamily="34" charset="-120"/>
              </a:rPr>
              <a:t>NEIROUZ · PRODUCT OWNER</a:t>
            </a:r>
            <a:endParaRPr lang="en-US" sz="750" dirty="0"/>
          </a:p>
        </p:txBody>
      </p:sp>
      <p:sp>
        <p:nvSpPr>
          <p:cNvPr id="3" name="Text 1"/>
          <p:cNvSpPr txBox="1"/>
          <p:nvPr/>
        </p:nvSpPr>
        <p:spPr>
          <a:xfrm>
            <a:off x="4000500" y="6610350"/>
            <a:ext cx="4191000" cy="190500"/>
          </a:xfrm>
          <a:prstGeom prst="rect">
            <a:avLst/>
          </a:prstGeom>
          <a:noFill/>
          <a:ln/>
        </p:spPr>
        <p:txBody>
          <a:bodyPr wrap="square" lIns="0" tIns="0" rIns="0" bIns="0" rtlCol="0" anchor="ctr"/>
          <a:lstStyle/>
          <a:p>
            <a:pPr algn="ct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4" name="Text 2"/>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≈50 s · 7:15</a:t>
            </a:r>
            <a:endParaRPr lang="en-US" sz="750" dirty="0"/>
          </a:p>
        </p:txBody>
      </p:sp>
      <p:sp>
        <p:nvSpPr>
          <p:cNvPr id="5" name="Text 3"/>
          <p:cNvSpPr txBox="1"/>
          <p:nvPr/>
        </p:nvSpPr>
        <p:spPr>
          <a:xfrm>
            <a:off x="571500" y="323850"/>
            <a:ext cx="11049000" cy="190500"/>
          </a:xfrm>
          <a:prstGeom prst="rect">
            <a:avLst/>
          </a:prstGeom>
          <a:noFill/>
          <a:ln/>
        </p:spPr>
        <p:txBody>
          <a:bodyPr wrap="square" lIns="0" tIns="0" rIns="0" bIns="0" rtlCol="0" anchor="ctr"/>
          <a:lstStyle/>
          <a:p>
            <a:pPr algn="ctr" indent="0" marL="0">
              <a:buNone/>
            </a:pPr>
            <a:r>
              <a:rPr lang="en-US" sz="850" b="1" spc="400" kern="0" dirty="0">
                <a:solidFill>
                  <a:srgbClr val="D9A521"/>
                </a:solidFill>
                <a:latin typeface="Consolas" pitchFamily="34" charset="0"/>
                <a:ea typeface="Consolas" pitchFamily="34" charset="-122"/>
                <a:cs typeface="Consolas" pitchFamily="34" charset="-120"/>
              </a:rPr>
              <a:t>03 · ANALYSE MÉTIER</a:t>
            </a:r>
            <a:endParaRPr lang="en-US" sz="850" dirty="0"/>
          </a:p>
        </p:txBody>
      </p:sp>
      <p:sp>
        <p:nvSpPr>
          <p:cNvPr id="6" name="Text 4"/>
          <p:cNvSpPr txBox="1"/>
          <p:nvPr/>
        </p:nvSpPr>
        <p:spPr>
          <a:xfrm>
            <a:off x="571500" y="514350"/>
            <a:ext cx="11049000" cy="609600"/>
          </a:xfrm>
          <a:prstGeom prst="rect">
            <a:avLst/>
          </a:prstGeom>
          <a:noFill/>
          <a:ln/>
          <a:effectLst>
            <a:outerShdw sx="100000" sy="100000" kx="0" ky="0" algn="bl" rotWithShape="0" blurRad="101600" dist="38100" dir="2700000">
              <a:srgbClr val="A02C1E">
                <a:alpha val="100000"/>
              </a:srgbClr>
            </a:outerShdw>
          </a:effectLst>
        </p:spPr>
        <p:txBody>
          <a:bodyPr wrap="square" lIns="0" tIns="0" rIns="0" bIns="0" rtlCol="0" anchor="ctr"/>
          <a:lstStyle/>
          <a:p>
            <a:pPr algn="ctr" indent="0" marL="0">
              <a:buNone/>
            </a:pPr>
            <a:r>
              <a:rPr lang="en-US" sz="3400" dirty="0">
                <a:solidFill>
                  <a:srgbClr val="F3E4B0"/>
                </a:solidFill>
                <a:latin typeface="Impact" pitchFamily="34" charset="0"/>
                <a:ea typeface="Impact" pitchFamily="34" charset="-122"/>
                <a:cs typeface="Impact" pitchFamily="34" charset="-120"/>
              </a:rPr>
              <a:t>LE PRINCIPE</a:t>
            </a:r>
            <a:endParaRPr lang="en-US" sz="3400" dirty="0"/>
          </a:p>
        </p:txBody>
      </p:sp>
      <p:sp>
        <p:nvSpPr>
          <p:cNvPr id="7" name="Text 5"/>
          <p:cNvSpPr txBox="1"/>
          <p:nvPr/>
        </p:nvSpPr>
        <p:spPr>
          <a:xfrm>
            <a:off x="2000250" y="1143000"/>
            <a:ext cx="8191500" cy="438150"/>
          </a:xfrm>
          <a:prstGeom prst="rect">
            <a:avLst/>
          </a:prstGeom>
          <a:noFill/>
          <a:ln/>
        </p:spPr>
        <p:txBody>
          <a:bodyPr wrap="square" lIns="0" tIns="0" rIns="0" bIns="0" rtlCol="0" anchor="t"/>
          <a:lstStyle/>
          <a:p>
            <a:pPr algn="ctr" indent="0" marL="0">
              <a:buNone/>
            </a:pPr>
            <a:r>
              <a:rPr lang="en-US" sz="1350" dirty="0">
                <a:solidFill>
                  <a:srgbClr val="E6DCBE"/>
                </a:solidFill>
                <a:latin typeface="Arial" pitchFamily="34" charset="0"/>
                <a:ea typeface="Arial" pitchFamily="34" charset="-122"/>
                <a:cs typeface="Arial" pitchFamily="34" charset="-120"/>
              </a:rPr>
              <a:t>Un jeu où le patient parie sur son propre diagnostic — et où le diagnostic réel arrive par FHIR.</a:t>
            </a:r>
            <a:endParaRPr lang="en-US" sz="1350" dirty="0"/>
          </a:p>
        </p:txBody>
      </p:sp>
      <p:sp>
        <p:nvSpPr>
          <p:cNvPr id="9" name="Shape 6"/>
          <p:cNvSpPr/>
          <p:nvPr/>
        </p:nvSpPr>
        <p:spPr>
          <a:xfrm>
            <a:off x="571500" y="1905000"/>
            <a:ext cx="3530600" cy="1809750"/>
          </a:xfrm>
          <a:prstGeom prst="rect">
            <a:avLst/>
          </a:prstGeom>
          <a:solidFill>
            <a:srgbClr val="F4E3AB"/>
          </a:solidFill>
          <a:ln/>
          <a:effectLst>
            <a:outerShdw sx="100000" sy="100000" kx="0" ky="0" algn="bl" rotWithShape="0" blurRad="101600" dist="66675" dir="2700000">
              <a:srgbClr val="A02C1E">
                <a:alpha val="100000"/>
              </a:srgbClr>
            </a:outerShdw>
          </a:effectLst>
        </p:spPr>
      </p:sp>
      <p:sp>
        <p:nvSpPr>
          <p:cNvPr id="10" name="Text 7"/>
          <p:cNvSpPr txBox="1"/>
          <p:nvPr/>
        </p:nvSpPr>
        <p:spPr>
          <a:xfrm>
            <a:off x="762000" y="2038350"/>
            <a:ext cx="3149600" cy="323850"/>
          </a:xfrm>
          <a:prstGeom prst="rect">
            <a:avLst/>
          </a:prstGeom>
          <a:noFill/>
          <a:ln/>
        </p:spPr>
        <p:txBody>
          <a:bodyPr wrap="square" lIns="0" tIns="0" rIns="0" bIns="0" rtlCol="0" anchor="ctr"/>
          <a:lstStyle/>
          <a:p>
            <a:pPr indent="0" marL="0">
              <a:buNone/>
            </a:pPr>
            <a:r>
              <a:rPr lang="en-US" sz="2100" dirty="0">
                <a:solidFill>
                  <a:srgbClr val="C08B1E"/>
                </a:solidFill>
                <a:latin typeface="Impact" pitchFamily="34" charset="0"/>
                <a:ea typeface="Impact" pitchFamily="34" charset="-122"/>
                <a:cs typeface="Impact" pitchFamily="34" charset="-120"/>
              </a:rPr>
              <a:t>01</a:t>
            </a:r>
            <a:endParaRPr lang="en-US" sz="2100" dirty="0"/>
          </a:p>
        </p:txBody>
      </p:sp>
      <p:sp>
        <p:nvSpPr>
          <p:cNvPr id="11" name="Text 8"/>
          <p:cNvSpPr txBox="1"/>
          <p:nvPr/>
        </p:nvSpPr>
        <p:spPr>
          <a:xfrm>
            <a:off x="762000" y="2381250"/>
            <a:ext cx="3149600" cy="190500"/>
          </a:xfrm>
          <a:prstGeom prst="rect">
            <a:avLst/>
          </a:prstGeom>
          <a:noFill/>
          <a:ln/>
        </p:spPr>
        <p:txBody>
          <a:bodyPr wrap="square" lIns="0" tIns="0" rIns="0" bIns="0" rtlCol="0" anchor="ctr"/>
          <a:lstStyle/>
          <a:p>
            <a:pPr indent="0" marL="0">
              <a:buNone/>
            </a:pPr>
            <a:r>
              <a:rPr lang="en-US" sz="900" b="1" spc="100" kern="0" dirty="0">
                <a:solidFill>
                  <a:srgbClr val="A02C1E"/>
                </a:solidFill>
                <a:latin typeface="Consolas" pitchFamily="34" charset="0"/>
                <a:ea typeface="Consolas" pitchFamily="34" charset="-122"/>
                <a:cs typeface="Consolas" pitchFamily="34" charset="-120"/>
              </a:rPr>
              <a:t>LE PATIENT MISE</a:t>
            </a:r>
            <a:endParaRPr lang="en-US" sz="900" dirty="0"/>
          </a:p>
        </p:txBody>
      </p:sp>
      <p:sp>
        <p:nvSpPr>
          <p:cNvPr id="12" name="Text 9"/>
          <p:cNvSpPr txBox="1"/>
          <p:nvPr/>
        </p:nvSpPr>
        <p:spPr>
          <a:xfrm>
            <a:off x="762000" y="2609850"/>
            <a:ext cx="3149600" cy="971550"/>
          </a:xfrm>
          <a:prstGeom prst="rect">
            <a:avLst/>
          </a:prstGeom>
          <a:noFill/>
          <a:ln/>
        </p:spPr>
        <p:txBody>
          <a:bodyPr wrap="square" lIns="0" tIns="0" rIns="0" bIns="0" rtlCol="0" anchor="t"/>
          <a:lstStyle/>
          <a:p>
            <a:pPr indent="0" marL="0">
              <a:lnSpc>
                <a:spcPct val="120000"/>
              </a:lnSpc>
              <a:buNone/>
            </a:pPr>
            <a:r>
              <a:rPr lang="en-US" sz="1050" dirty="0">
                <a:solidFill>
                  <a:srgbClr val="2A2016"/>
                </a:solidFill>
                <a:latin typeface="Arial" pitchFamily="34" charset="0"/>
                <a:ea typeface="Arial" pitchFamily="34" charset="-122"/>
                <a:cs typeface="Arial" pitchFamily="34" charset="-120"/>
              </a:rPr>
              <a:t>Il décrit ses symptômes, l'application lui propose les diagnostics les plus probables avec une cote, il engage ses CoinPot sur l'un d'eux.</a:t>
            </a:r>
            <a:endParaRPr lang="en-US" sz="1050" dirty="0"/>
          </a:p>
        </p:txBody>
      </p:sp>
      <p:sp>
        <p:nvSpPr>
          <p:cNvPr id="13" name="Shape 10"/>
          <p:cNvSpPr/>
          <p:nvPr/>
        </p:nvSpPr>
        <p:spPr>
          <a:xfrm>
            <a:off x="4330700" y="1905000"/>
            <a:ext cx="3530600" cy="1809750"/>
          </a:xfrm>
          <a:prstGeom prst="rect">
            <a:avLst/>
          </a:prstGeom>
          <a:solidFill>
            <a:srgbClr val="F4E3AB"/>
          </a:solidFill>
          <a:ln/>
          <a:effectLst>
            <a:outerShdw sx="100000" sy="100000" kx="0" ky="0" algn="bl" rotWithShape="0" blurRad="101600" dist="66675" dir="2700000">
              <a:srgbClr val="A02C1E">
                <a:alpha val="100000"/>
              </a:srgbClr>
            </a:outerShdw>
          </a:effectLst>
        </p:spPr>
      </p:sp>
      <p:sp>
        <p:nvSpPr>
          <p:cNvPr id="14" name="Text 11"/>
          <p:cNvSpPr txBox="1"/>
          <p:nvPr/>
        </p:nvSpPr>
        <p:spPr>
          <a:xfrm>
            <a:off x="4521200" y="2038350"/>
            <a:ext cx="3149600" cy="323850"/>
          </a:xfrm>
          <a:prstGeom prst="rect">
            <a:avLst/>
          </a:prstGeom>
          <a:noFill/>
          <a:ln/>
        </p:spPr>
        <p:txBody>
          <a:bodyPr wrap="square" lIns="0" tIns="0" rIns="0" bIns="0" rtlCol="0" anchor="ctr"/>
          <a:lstStyle/>
          <a:p>
            <a:pPr indent="0" marL="0">
              <a:buNone/>
            </a:pPr>
            <a:r>
              <a:rPr lang="en-US" sz="2100" dirty="0">
                <a:solidFill>
                  <a:srgbClr val="C08B1E"/>
                </a:solidFill>
                <a:latin typeface="Impact" pitchFamily="34" charset="0"/>
                <a:ea typeface="Impact" pitchFamily="34" charset="-122"/>
                <a:cs typeface="Impact" pitchFamily="34" charset="-120"/>
              </a:rPr>
              <a:t>02</a:t>
            </a:r>
            <a:endParaRPr lang="en-US" sz="2100" dirty="0"/>
          </a:p>
        </p:txBody>
      </p:sp>
      <p:sp>
        <p:nvSpPr>
          <p:cNvPr id="15" name="Text 12"/>
          <p:cNvSpPr txBox="1"/>
          <p:nvPr/>
        </p:nvSpPr>
        <p:spPr>
          <a:xfrm>
            <a:off x="4521200" y="2381250"/>
            <a:ext cx="3149600" cy="190500"/>
          </a:xfrm>
          <a:prstGeom prst="rect">
            <a:avLst/>
          </a:prstGeom>
          <a:noFill/>
          <a:ln/>
        </p:spPr>
        <p:txBody>
          <a:bodyPr wrap="square" lIns="0" tIns="0" rIns="0" bIns="0" rtlCol="0" anchor="ctr"/>
          <a:lstStyle/>
          <a:p>
            <a:pPr indent="0" marL="0">
              <a:buNone/>
            </a:pPr>
            <a:r>
              <a:rPr lang="en-US" sz="900" b="1" spc="100" kern="0" dirty="0">
                <a:solidFill>
                  <a:srgbClr val="A02C1E"/>
                </a:solidFill>
                <a:latin typeface="Consolas" pitchFamily="34" charset="0"/>
                <a:ea typeface="Consolas" pitchFamily="34" charset="-122"/>
                <a:cs typeface="Consolas" pitchFamily="34" charset="-120"/>
              </a:rPr>
              <a:t>LE MÉDECIN PUBLIE</a:t>
            </a:r>
            <a:endParaRPr lang="en-US" sz="900" dirty="0"/>
          </a:p>
        </p:txBody>
      </p:sp>
      <p:sp>
        <p:nvSpPr>
          <p:cNvPr id="16" name="Text 13"/>
          <p:cNvSpPr txBox="1"/>
          <p:nvPr/>
        </p:nvSpPr>
        <p:spPr>
          <a:xfrm>
            <a:off x="4521200" y="2609850"/>
            <a:ext cx="3149600" cy="971550"/>
          </a:xfrm>
          <a:prstGeom prst="rect">
            <a:avLst/>
          </a:prstGeom>
          <a:noFill/>
          <a:ln/>
        </p:spPr>
        <p:txBody>
          <a:bodyPr wrap="square" lIns="0" tIns="0" rIns="0" bIns="0" rtlCol="0" anchor="t"/>
          <a:lstStyle/>
          <a:p>
            <a:pPr indent="0" marL="0">
              <a:lnSpc>
                <a:spcPct val="120000"/>
              </a:lnSpc>
              <a:buNone/>
            </a:pPr>
            <a:r>
              <a:rPr lang="en-US" sz="1050" dirty="0">
                <a:solidFill>
                  <a:srgbClr val="2A2016"/>
                </a:solidFill>
                <a:latin typeface="Arial" pitchFamily="34" charset="0"/>
                <a:ea typeface="Arial" pitchFamily="34" charset="-122"/>
                <a:cs typeface="Arial" pitchFamily="34" charset="-120"/>
              </a:rPr>
              <a:t>Sur une application totalement séparée, il pose le vrai diagnostic et l'écrit dans une ressource Observation FHIR.</a:t>
            </a:r>
            <a:endParaRPr lang="en-US" sz="1050" dirty="0"/>
          </a:p>
        </p:txBody>
      </p:sp>
      <p:sp>
        <p:nvSpPr>
          <p:cNvPr id="17" name="Shape 14"/>
          <p:cNvSpPr/>
          <p:nvPr/>
        </p:nvSpPr>
        <p:spPr>
          <a:xfrm>
            <a:off x="8089900" y="1905000"/>
            <a:ext cx="3530600" cy="1809750"/>
          </a:xfrm>
          <a:prstGeom prst="rect">
            <a:avLst/>
          </a:prstGeom>
          <a:solidFill>
            <a:srgbClr val="F4E3AB"/>
          </a:solidFill>
          <a:ln/>
          <a:effectLst>
            <a:outerShdw sx="100000" sy="100000" kx="0" ky="0" algn="bl" rotWithShape="0" blurRad="101600" dist="66675" dir="2700000">
              <a:srgbClr val="A02C1E">
                <a:alpha val="100000"/>
              </a:srgbClr>
            </a:outerShdw>
          </a:effectLst>
        </p:spPr>
      </p:sp>
      <p:sp>
        <p:nvSpPr>
          <p:cNvPr id="18" name="Text 15"/>
          <p:cNvSpPr txBox="1"/>
          <p:nvPr/>
        </p:nvSpPr>
        <p:spPr>
          <a:xfrm>
            <a:off x="8280400" y="2038350"/>
            <a:ext cx="3149600" cy="323850"/>
          </a:xfrm>
          <a:prstGeom prst="rect">
            <a:avLst/>
          </a:prstGeom>
          <a:noFill/>
          <a:ln/>
        </p:spPr>
        <p:txBody>
          <a:bodyPr wrap="square" lIns="0" tIns="0" rIns="0" bIns="0" rtlCol="0" anchor="ctr"/>
          <a:lstStyle/>
          <a:p>
            <a:pPr indent="0" marL="0">
              <a:buNone/>
            </a:pPr>
            <a:r>
              <a:rPr lang="en-US" sz="2100" dirty="0">
                <a:solidFill>
                  <a:srgbClr val="C08B1E"/>
                </a:solidFill>
                <a:latin typeface="Impact" pitchFamily="34" charset="0"/>
                <a:ea typeface="Impact" pitchFamily="34" charset="-122"/>
                <a:cs typeface="Impact" pitchFamily="34" charset="-120"/>
              </a:rPr>
              <a:t>03</a:t>
            </a:r>
            <a:endParaRPr lang="en-US" sz="2100" dirty="0"/>
          </a:p>
        </p:txBody>
      </p:sp>
      <p:sp>
        <p:nvSpPr>
          <p:cNvPr id="19" name="Text 16"/>
          <p:cNvSpPr txBox="1"/>
          <p:nvPr/>
        </p:nvSpPr>
        <p:spPr>
          <a:xfrm>
            <a:off x="8280400" y="2381250"/>
            <a:ext cx="3149600" cy="190500"/>
          </a:xfrm>
          <a:prstGeom prst="rect">
            <a:avLst/>
          </a:prstGeom>
          <a:noFill/>
          <a:ln/>
        </p:spPr>
        <p:txBody>
          <a:bodyPr wrap="square" lIns="0" tIns="0" rIns="0" bIns="0" rtlCol="0" anchor="ctr"/>
          <a:lstStyle/>
          <a:p>
            <a:pPr indent="0" marL="0">
              <a:buNone/>
            </a:pPr>
            <a:r>
              <a:rPr lang="en-US" sz="900" b="1" spc="100" kern="0" dirty="0">
                <a:solidFill>
                  <a:srgbClr val="A02C1E"/>
                </a:solidFill>
                <a:latin typeface="Consolas" pitchFamily="34" charset="0"/>
                <a:ea typeface="Consolas" pitchFamily="34" charset="-122"/>
                <a:cs typeface="Consolas" pitchFamily="34" charset="-120"/>
              </a:rPr>
              <a:t>MEDIBET RÉSOUT</a:t>
            </a:r>
            <a:endParaRPr lang="en-US" sz="900" dirty="0"/>
          </a:p>
        </p:txBody>
      </p:sp>
      <p:sp>
        <p:nvSpPr>
          <p:cNvPr id="20" name="Text 17"/>
          <p:cNvSpPr txBox="1"/>
          <p:nvPr/>
        </p:nvSpPr>
        <p:spPr>
          <a:xfrm>
            <a:off x="8280400" y="2609850"/>
            <a:ext cx="3149600" cy="971550"/>
          </a:xfrm>
          <a:prstGeom prst="rect">
            <a:avLst/>
          </a:prstGeom>
          <a:noFill/>
          <a:ln/>
        </p:spPr>
        <p:txBody>
          <a:bodyPr wrap="square" lIns="0" tIns="0" rIns="0" bIns="0" rtlCol="0" anchor="t"/>
          <a:lstStyle/>
          <a:p>
            <a:pPr indent="0" marL="0">
              <a:lnSpc>
                <a:spcPct val="120000"/>
              </a:lnSpc>
              <a:buNone/>
            </a:pPr>
            <a:r>
              <a:rPr lang="en-US" sz="1050" dirty="0">
                <a:solidFill>
                  <a:srgbClr val="2A2016"/>
                </a:solidFill>
                <a:latin typeface="Arial" pitchFamily="34" charset="0"/>
                <a:ea typeface="Arial" pitchFamily="34" charset="-122"/>
                <a:cs typeface="Arial" pitchFamily="34" charset="-120"/>
              </a:rPr>
              <a:t>L'application relit le diagnostic sur le serveur FHIR et résout le pari toute seule : gain ou perte.</a:t>
            </a:r>
            <a:endParaRPr lang="en-US" sz="1050" dirty="0"/>
          </a:p>
        </p:txBody>
      </p:sp>
      <p:sp>
        <p:nvSpPr>
          <p:cNvPr id="21" name="Text 18"/>
          <p:cNvSpPr txBox="1"/>
          <p:nvPr/>
        </p:nvSpPr>
        <p:spPr>
          <a:xfrm>
            <a:off x="1809750" y="4095750"/>
            <a:ext cx="8572500" cy="457200"/>
          </a:xfrm>
          <a:prstGeom prst="rect">
            <a:avLst/>
          </a:prstGeom>
          <a:noFill/>
          <a:ln/>
        </p:spPr>
        <p:txBody>
          <a:bodyPr wrap="square" lIns="0" tIns="0" rIns="0" bIns="0" rtlCol="0" anchor="t"/>
          <a:lstStyle/>
          <a:p>
            <a:pPr algn="ctr" indent="0" marL="0">
              <a:lnSpc>
                <a:spcPct val="120000"/>
              </a:lnSpc>
              <a:buNone/>
            </a:pPr>
            <a:r>
              <a:rPr lang="en-US" sz="1150" dirty="0">
                <a:solidFill>
                  <a:srgbClr val="E6DCBE"/>
                </a:solidFill>
                <a:latin typeface="Arial" pitchFamily="34" charset="0"/>
                <a:ea typeface="Arial" pitchFamily="34" charset="-122"/>
                <a:cs typeface="Arial" pitchFamily="34" charset="-120"/>
              </a:rPr>
              <a:t>Deux garde-fous assumés : l'application ne pose jamais de diagnostic, elle propose des probabilités ; et les CoinPot n'ont aucune valeur réelle.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09550" y="6610350"/>
            <a:ext cx="3429000" cy="190500"/>
          </a:xfrm>
          <a:prstGeom prst="rect">
            <a:avLst/>
          </a:prstGeom>
          <a:noFill/>
          <a:ln/>
        </p:spPr>
        <p:txBody>
          <a:bodyPr wrap="square" lIns="0" tIns="0" rIns="0" bIns="0" rtlCol="0" anchor="ctr"/>
          <a:lstStyle/>
          <a:p>
            <a:pPr indent="0" marL="0">
              <a:buNone/>
            </a:pPr>
            <a:r>
              <a:rPr lang="en-US" sz="750" spc="140" kern="0" dirty="0">
                <a:solidFill>
                  <a:srgbClr val="D9A521"/>
                </a:solidFill>
                <a:latin typeface="Consolas" pitchFamily="34" charset="0"/>
                <a:ea typeface="Consolas" pitchFamily="34" charset="-122"/>
                <a:cs typeface="Consolas" pitchFamily="34" charset="-120"/>
              </a:rPr>
              <a:t>NEIROUZ · PRODUCT OWNER</a:t>
            </a:r>
            <a:endParaRPr lang="en-US" sz="750" dirty="0"/>
          </a:p>
        </p:txBody>
      </p:sp>
      <p:sp>
        <p:nvSpPr>
          <p:cNvPr id="3" name="Text 1"/>
          <p:cNvSpPr txBox="1"/>
          <p:nvPr/>
        </p:nvSpPr>
        <p:spPr>
          <a:xfrm>
            <a:off x="4000500" y="6610350"/>
            <a:ext cx="4191000" cy="190500"/>
          </a:xfrm>
          <a:prstGeom prst="rect">
            <a:avLst/>
          </a:prstGeom>
          <a:noFill/>
          <a:ln/>
        </p:spPr>
        <p:txBody>
          <a:bodyPr wrap="square" lIns="0" tIns="0" rIns="0" bIns="0" rtlCol="0" anchor="ctr"/>
          <a:lstStyle/>
          <a:p>
            <a:pPr algn="ct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4" name="Text 2"/>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≈40 s · 7:55</a:t>
            </a:r>
            <a:endParaRPr lang="en-US" sz="750" dirty="0"/>
          </a:p>
        </p:txBody>
      </p:sp>
      <p:sp>
        <p:nvSpPr>
          <p:cNvPr id="5" name="Text 3"/>
          <p:cNvSpPr txBox="1"/>
          <p:nvPr/>
        </p:nvSpPr>
        <p:spPr>
          <a:xfrm>
            <a:off x="571500" y="323850"/>
            <a:ext cx="11049000" cy="190500"/>
          </a:xfrm>
          <a:prstGeom prst="rect">
            <a:avLst/>
          </a:prstGeom>
          <a:noFill/>
          <a:ln/>
        </p:spPr>
        <p:txBody>
          <a:bodyPr wrap="square" lIns="0" tIns="0" rIns="0" bIns="0" rtlCol="0" anchor="ctr"/>
          <a:lstStyle/>
          <a:p>
            <a:pPr algn="ctr" indent="0" marL="0">
              <a:buNone/>
            </a:pPr>
            <a:r>
              <a:rPr lang="en-US" sz="850" b="1" spc="400" kern="0" dirty="0">
                <a:solidFill>
                  <a:srgbClr val="D9A521"/>
                </a:solidFill>
                <a:latin typeface="Consolas" pitchFamily="34" charset="0"/>
                <a:ea typeface="Consolas" pitchFamily="34" charset="-122"/>
                <a:cs typeface="Consolas" pitchFamily="34" charset="-120"/>
              </a:rPr>
              <a:t>03 · ANALYSE MÉTIER</a:t>
            </a:r>
            <a:endParaRPr lang="en-US" sz="850" dirty="0"/>
          </a:p>
        </p:txBody>
      </p:sp>
      <p:sp>
        <p:nvSpPr>
          <p:cNvPr id="6" name="Text 4"/>
          <p:cNvSpPr txBox="1"/>
          <p:nvPr/>
        </p:nvSpPr>
        <p:spPr>
          <a:xfrm>
            <a:off x="571500" y="514350"/>
            <a:ext cx="11049000" cy="609600"/>
          </a:xfrm>
          <a:prstGeom prst="rect">
            <a:avLst/>
          </a:prstGeom>
          <a:noFill/>
          <a:ln/>
          <a:effectLst>
            <a:outerShdw sx="100000" sy="100000" kx="0" ky="0" algn="bl" rotWithShape="0" blurRad="101600" dist="38100" dir="2700000">
              <a:srgbClr val="A02C1E">
                <a:alpha val="100000"/>
              </a:srgbClr>
            </a:outerShdw>
          </a:effectLst>
        </p:spPr>
        <p:txBody>
          <a:bodyPr wrap="square" lIns="0" tIns="0" rIns="0" bIns="0" rtlCol="0" anchor="ctr"/>
          <a:lstStyle/>
          <a:p>
            <a:pPr algn="ctr" indent="0" marL="0">
              <a:buNone/>
            </a:pPr>
            <a:r>
              <a:rPr lang="en-US" sz="3400" dirty="0">
                <a:solidFill>
                  <a:srgbClr val="F3E4B0"/>
                </a:solidFill>
                <a:latin typeface="Impact" pitchFamily="34" charset="0"/>
                <a:ea typeface="Impact" pitchFamily="34" charset="-122"/>
                <a:cs typeface="Impact" pitchFamily="34" charset="-120"/>
              </a:rPr>
              <a:t>DIAGRAMME DE CAS D'USAGE</a:t>
            </a:r>
            <a:endParaRPr lang="en-US" sz="3400" dirty="0"/>
          </a:p>
        </p:txBody>
      </p:sp>
      <p:sp>
        <p:nvSpPr>
          <p:cNvPr id="7" name="Text 5"/>
          <p:cNvSpPr txBox="1"/>
          <p:nvPr/>
        </p:nvSpPr>
        <p:spPr>
          <a:xfrm>
            <a:off x="2000250" y="1143000"/>
            <a:ext cx="8191500" cy="438150"/>
          </a:xfrm>
          <a:prstGeom prst="rect">
            <a:avLst/>
          </a:prstGeom>
          <a:noFill/>
          <a:ln/>
        </p:spPr>
        <p:txBody>
          <a:bodyPr wrap="square" lIns="0" tIns="0" rIns="0" bIns="0" rtlCol="0" anchor="t"/>
          <a:lstStyle/>
          <a:p>
            <a:pPr algn="ctr" indent="0" marL="0">
              <a:buNone/>
            </a:pPr>
            <a:r>
              <a:rPr lang="en-US" sz="1350" dirty="0">
                <a:solidFill>
                  <a:srgbClr val="E6DCBE"/>
                </a:solidFill>
                <a:latin typeface="Arial" pitchFamily="34" charset="0"/>
                <a:ea typeface="Arial" pitchFamily="34" charset="-122"/>
                <a:cs typeface="Arial" pitchFamily="34" charset="-120"/>
              </a:rPr>
              <a:t>Trois acteurs, quatre cas d'usage, une frontière d'application.</a:t>
            </a:r>
            <a:endParaRPr lang="en-US" sz="1350" dirty="0"/>
          </a:p>
        </p:txBody>
      </p:sp>
      <p:sp>
        <p:nvSpPr>
          <p:cNvPr id="9" name="Shape 6"/>
          <p:cNvSpPr/>
          <p:nvPr/>
        </p:nvSpPr>
        <p:spPr>
          <a:xfrm>
            <a:off x="571500" y="1809750"/>
            <a:ext cx="6858000" cy="3143250"/>
          </a:xfrm>
          <a:prstGeom prst="rect">
            <a:avLst/>
          </a:prstGeom>
          <a:solidFill>
            <a:srgbClr val="F4E3AB"/>
          </a:solidFill>
          <a:ln/>
          <a:effectLst>
            <a:outerShdw sx="100000" sy="100000" kx="0" ky="0" algn="bl" rotWithShape="0" blurRad="101600" dist="57150" dir="2700000">
              <a:srgbClr val="A02C1E">
                <a:alpha val="100000"/>
              </a:srgbClr>
            </a:outerShdw>
          </a:effectLst>
        </p:spPr>
      </p:sp>
      <p:pic>
        <p:nvPicPr>
          <p:cNvPr id="10" name="Image 0" descr="usecase.jpg">    </p:cNvPr>
          <p:cNvPicPr>
            <a:picLocks noChangeAspect="1"/>
          </p:cNvPicPr>
          <p:nvPr/>
        </p:nvPicPr>
        <p:blipFill>
          <a:blip r:embed="rId2"/>
          <a:srcRect l="0" r="0" t="0" b="0"/>
          <a:stretch/>
        </p:blipFill>
        <p:spPr>
          <a:xfrm>
            <a:off x="647700" y="1885950"/>
            <a:ext cx="6705600" cy="2990850"/>
          </a:xfrm>
          <a:prstGeom prst="rect">
            <a:avLst/>
          </a:prstGeom>
        </p:spPr>
      </p:pic>
      <p:sp>
        <p:nvSpPr>
          <p:cNvPr id="11" name="Shape 7"/>
          <p:cNvSpPr/>
          <p:nvPr/>
        </p:nvSpPr>
        <p:spPr>
          <a:xfrm>
            <a:off x="7734300" y="2095500"/>
            <a:ext cx="3886200" cy="2571750"/>
          </a:xfrm>
          <a:prstGeom prst="rect">
            <a:avLst/>
          </a:prstGeom>
          <a:solidFill>
            <a:srgbClr val="0B2C22"/>
          </a:solidFill>
          <a:ln w="9525">
            <a:solidFill>
              <a:srgbClr val="D9A521">
                <a:alpha val="40000"/>
              </a:srgbClr>
            </a:solidFill>
            <a:prstDash val="solid"/>
          </a:ln>
        </p:spPr>
      </p:sp>
      <p:sp>
        <p:nvSpPr>
          <p:cNvPr id="12" name="Text 8"/>
          <p:cNvSpPr txBox="1"/>
          <p:nvPr/>
        </p:nvSpPr>
        <p:spPr>
          <a:xfrm>
            <a:off x="7924800" y="2228850"/>
            <a:ext cx="3505200" cy="171450"/>
          </a:xfrm>
          <a:prstGeom prst="rect">
            <a:avLst/>
          </a:prstGeom>
          <a:noFill/>
          <a:ln/>
        </p:spPr>
        <p:txBody>
          <a:bodyPr wrap="square" lIns="0" tIns="0" rIns="0" bIns="0" rtlCol="0" anchor="ctr"/>
          <a:lstStyle/>
          <a:p>
            <a:pPr indent="0" marL="0">
              <a:buNone/>
            </a:pPr>
            <a:r>
              <a:rPr lang="en-US" sz="850" b="1" spc="160" kern="0" dirty="0">
                <a:solidFill>
                  <a:srgbClr val="D9A521"/>
                </a:solidFill>
                <a:latin typeface="Consolas" pitchFamily="34" charset="0"/>
                <a:ea typeface="Consolas" pitchFamily="34" charset="-122"/>
                <a:cs typeface="Consolas" pitchFamily="34" charset="-120"/>
              </a:rPr>
              <a:t>CE QUE LE DIAGRAMME DIT</a:t>
            </a:r>
            <a:endParaRPr lang="en-US" sz="850" dirty="0"/>
          </a:p>
        </p:txBody>
      </p:sp>
      <p:sp>
        <p:nvSpPr>
          <p:cNvPr id="13" name="Text 9"/>
          <p:cNvSpPr txBox="1"/>
          <p:nvPr/>
        </p:nvSpPr>
        <p:spPr>
          <a:xfrm>
            <a:off x="7924800" y="2476500"/>
            <a:ext cx="3505200" cy="205740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Le Patient déclenche trois des quatre cas d'usage.</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Le Proche n'entre que par UC2, sans identité FHIR.</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Le Médecin est un acteur extérieur : il agit depuis une autre application.</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UC3 est le seul cas d'usage à cheval sur les deux applications.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09550" y="6610350"/>
            <a:ext cx="3429000" cy="190500"/>
          </a:xfrm>
          <a:prstGeom prst="rect">
            <a:avLst/>
          </a:prstGeom>
          <a:noFill/>
          <a:ln/>
        </p:spPr>
        <p:txBody>
          <a:bodyPr wrap="square" lIns="0" tIns="0" rIns="0" bIns="0" rtlCol="0" anchor="ctr"/>
          <a:lstStyle/>
          <a:p>
            <a:pPr indent="0" marL="0">
              <a:buNone/>
            </a:pPr>
            <a:r>
              <a:rPr lang="en-US" sz="750" spc="140" kern="0" dirty="0">
                <a:solidFill>
                  <a:srgbClr val="D9A521"/>
                </a:solidFill>
                <a:latin typeface="Consolas" pitchFamily="34" charset="0"/>
                <a:ea typeface="Consolas" pitchFamily="34" charset="-122"/>
                <a:cs typeface="Consolas" pitchFamily="34" charset="-120"/>
              </a:rPr>
              <a:t>NEIROUZ · PRODUCT OWNER</a:t>
            </a:r>
            <a:endParaRPr lang="en-US" sz="750" dirty="0"/>
          </a:p>
        </p:txBody>
      </p:sp>
      <p:sp>
        <p:nvSpPr>
          <p:cNvPr id="3" name="Text 1"/>
          <p:cNvSpPr txBox="1"/>
          <p:nvPr/>
        </p:nvSpPr>
        <p:spPr>
          <a:xfrm>
            <a:off x="4000500" y="6610350"/>
            <a:ext cx="4191000" cy="190500"/>
          </a:xfrm>
          <a:prstGeom prst="rect">
            <a:avLst/>
          </a:prstGeom>
          <a:noFill/>
          <a:ln/>
        </p:spPr>
        <p:txBody>
          <a:bodyPr wrap="square" lIns="0" tIns="0" rIns="0" bIns="0" rtlCol="0" anchor="ctr"/>
          <a:lstStyle/>
          <a:p>
            <a:pPr algn="ct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4" name="Text 2"/>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≈60 s · 8:55</a:t>
            </a:r>
            <a:endParaRPr lang="en-US" sz="750" dirty="0"/>
          </a:p>
        </p:txBody>
      </p:sp>
      <p:sp>
        <p:nvSpPr>
          <p:cNvPr id="5" name="Text 3"/>
          <p:cNvSpPr txBox="1"/>
          <p:nvPr/>
        </p:nvSpPr>
        <p:spPr>
          <a:xfrm>
            <a:off x="571500" y="323850"/>
            <a:ext cx="11049000" cy="190500"/>
          </a:xfrm>
          <a:prstGeom prst="rect">
            <a:avLst/>
          </a:prstGeom>
          <a:noFill/>
          <a:ln/>
        </p:spPr>
        <p:txBody>
          <a:bodyPr wrap="square" lIns="0" tIns="0" rIns="0" bIns="0" rtlCol="0" anchor="ctr"/>
          <a:lstStyle/>
          <a:p>
            <a:pPr algn="ctr" indent="0" marL="0">
              <a:buNone/>
            </a:pPr>
            <a:r>
              <a:rPr lang="en-US" sz="850" b="1" spc="400" kern="0" dirty="0">
                <a:solidFill>
                  <a:srgbClr val="D9A521"/>
                </a:solidFill>
                <a:latin typeface="Consolas" pitchFamily="34" charset="0"/>
                <a:ea typeface="Consolas" pitchFamily="34" charset="-122"/>
                <a:cs typeface="Consolas" pitchFamily="34" charset="-120"/>
              </a:rPr>
              <a:t>03 · ANALYSE MÉTIER</a:t>
            </a:r>
            <a:endParaRPr lang="en-US" sz="850" dirty="0"/>
          </a:p>
        </p:txBody>
      </p:sp>
      <p:sp>
        <p:nvSpPr>
          <p:cNvPr id="6" name="Text 4"/>
          <p:cNvSpPr txBox="1"/>
          <p:nvPr/>
        </p:nvSpPr>
        <p:spPr>
          <a:xfrm>
            <a:off x="571500" y="514350"/>
            <a:ext cx="11049000" cy="609600"/>
          </a:xfrm>
          <a:prstGeom prst="rect">
            <a:avLst/>
          </a:prstGeom>
          <a:noFill/>
          <a:ln/>
          <a:effectLst>
            <a:outerShdw sx="100000" sy="100000" kx="0" ky="0" algn="bl" rotWithShape="0" blurRad="101600" dist="38100" dir="2700000">
              <a:srgbClr val="A02C1E">
                <a:alpha val="100000"/>
              </a:srgbClr>
            </a:outerShdw>
          </a:effectLst>
        </p:spPr>
        <p:txBody>
          <a:bodyPr wrap="square" lIns="0" tIns="0" rIns="0" bIns="0" rtlCol="0" anchor="ctr"/>
          <a:lstStyle/>
          <a:p>
            <a:pPr algn="ctr" indent="0" marL="0">
              <a:buNone/>
            </a:pPr>
            <a:r>
              <a:rPr lang="en-US" sz="3400" dirty="0">
                <a:solidFill>
                  <a:srgbClr val="F3E4B0"/>
                </a:solidFill>
                <a:latin typeface="Impact" pitchFamily="34" charset="0"/>
                <a:ea typeface="Impact" pitchFamily="34" charset="-122"/>
                <a:cs typeface="Impact" pitchFamily="34" charset="-120"/>
              </a:rPr>
              <a:t>NOS QUATRE CAS D'USAGE</a:t>
            </a:r>
            <a:endParaRPr lang="en-US" sz="3400" dirty="0"/>
          </a:p>
        </p:txBody>
      </p:sp>
      <p:sp>
        <p:nvSpPr>
          <p:cNvPr id="7" name="Text 5"/>
          <p:cNvSpPr txBox="1"/>
          <p:nvPr/>
        </p:nvSpPr>
        <p:spPr>
          <a:xfrm>
            <a:off x="2000250" y="1143000"/>
            <a:ext cx="8191500" cy="438150"/>
          </a:xfrm>
          <a:prstGeom prst="rect">
            <a:avLst/>
          </a:prstGeom>
          <a:noFill/>
          <a:ln/>
        </p:spPr>
        <p:txBody>
          <a:bodyPr wrap="square" lIns="0" tIns="0" rIns="0" bIns="0" rtlCol="0" anchor="t"/>
          <a:lstStyle/>
          <a:p>
            <a:pPr algn="ctr" indent="0" marL="0">
              <a:buNone/>
            </a:pPr>
            <a:r>
              <a:rPr lang="en-US" sz="1350" dirty="0">
                <a:solidFill>
                  <a:srgbClr val="E6DCBE"/>
                </a:solidFill>
                <a:latin typeface="Arial" pitchFamily="34" charset="0"/>
                <a:ea typeface="Arial" pitchFamily="34" charset="-122"/>
                <a:cs typeface="Arial" pitchFamily="34" charset="-120"/>
              </a:rPr>
              <a:t>Numérotation propre au projet Patient : l'équipe Médecin a la sienne.</a:t>
            </a:r>
            <a:endParaRPr lang="en-US" sz="1350" dirty="0"/>
          </a:p>
        </p:txBody>
      </p:sp>
      <p:sp>
        <p:nvSpPr>
          <p:cNvPr id="9" name="Text 6"/>
          <p:cNvSpPr txBox="1"/>
          <p:nvPr/>
        </p:nvSpPr>
        <p:spPr>
          <a:xfrm>
            <a:off x="1455420" y="1866900"/>
            <a:ext cx="4065270" cy="190500"/>
          </a:xfrm>
          <a:prstGeom prst="rect">
            <a:avLst/>
          </a:prstGeom>
          <a:noFill/>
          <a:ln/>
        </p:spPr>
        <p:txBody>
          <a:bodyPr wrap="square" lIns="0" tIns="0" rIns="0" bIns="0" rtlCol="0" anchor="ctr"/>
          <a:lstStyle/>
          <a:p>
            <a:pPr indent="0" marL="0">
              <a:buNone/>
            </a:pPr>
            <a:r>
              <a:rPr lang="en-US" sz="800" b="1" spc="160" kern="0" dirty="0">
                <a:solidFill>
                  <a:srgbClr val="D9A521"/>
                </a:solidFill>
                <a:latin typeface="Consolas" pitchFamily="34" charset="0"/>
                <a:ea typeface="Consolas" pitchFamily="34" charset="-122"/>
                <a:cs typeface="Consolas" pitchFamily="34" charset="-120"/>
              </a:rPr>
              <a:t>CAS D'USAGE</a:t>
            </a:r>
            <a:endParaRPr lang="en-US" sz="800" dirty="0"/>
          </a:p>
        </p:txBody>
      </p:sp>
      <p:sp>
        <p:nvSpPr>
          <p:cNvPr id="10" name="Text 7"/>
          <p:cNvSpPr txBox="1"/>
          <p:nvPr/>
        </p:nvSpPr>
        <p:spPr>
          <a:xfrm>
            <a:off x="5654040" y="1866900"/>
            <a:ext cx="1303020" cy="190500"/>
          </a:xfrm>
          <a:prstGeom prst="rect">
            <a:avLst/>
          </a:prstGeom>
          <a:noFill/>
          <a:ln/>
        </p:spPr>
        <p:txBody>
          <a:bodyPr wrap="square" lIns="0" tIns="0" rIns="0" bIns="0" rtlCol="0" anchor="ctr"/>
          <a:lstStyle/>
          <a:p>
            <a:pPr indent="0" marL="0">
              <a:buNone/>
            </a:pPr>
            <a:r>
              <a:rPr lang="en-US" sz="800" b="1" spc="160" kern="0" dirty="0">
                <a:solidFill>
                  <a:srgbClr val="D9A521"/>
                </a:solidFill>
                <a:latin typeface="Consolas" pitchFamily="34" charset="0"/>
                <a:ea typeface="Consolas" pitchFamily="34" charset="-122"/>
                <a:cs typeface="Consolas" pitchFamily="34" charset="-120"/>
              </a:rPr>
              <a:t>ACTEUR</a:t>
            </a:r>
            <a:endParaRPr lang="en-US" sz="800" dirty="0"/>
          </a:p>
        </p:txBody>
      </p:sp>
      <p:sp>
        <p:nvSpPr>
          <p:cNvPr id="11" name="Text 8"/>
          <p:cNvSpPr txBox="1"/>
          <p:nvPr/>
        </p:nvSpPr>
        <p:spPr>
          <a:xfrm>
            <a:off x="7090410" y="1866900"/>
            <a:ext cx="2518410" cy="190500"/>
          </a:xfrm>
          <a:prstGeom prst="rect">
            <a:avLst/>
          </a:prstGeom>
          <a:noFill/>
          <a:ln/>
        </p:spPr>
        <p:txBody>
          <a:bodyPr wrap="square" lIns="0" tIns="0" rIns="0" bIns="0" rtlCol="0" anchor="ctr"/>
          <a:lstStyle/>
          <a:p>
            <a:pPr indent="0" marL="0">
              <a:buNone/>
            </a:pPr>
            <a:r>
              <a:rPr lang="en-US" sz="800" b="1" spc="160" kern="0" dirty="0">
                <a:solidFill>
                  <a:srgbClr val="D9A521"/>
                </a:solidFill>
                <a:latin typeface="Consolas" pitchFamily="34" charset="0"/>
                <a:ea typeface="Consolas" pitchFamily="34" charset="-122"/>
                <a:cs typeface="Consolas" pitchFamily="34" charset="-120"/>
              </a:rPr>
              <a:t>RESSOURCE FHIR</a:t>
            </a:r>
            <a:endParaRPr lang="en-US" sz="800" dirty="0"/>
          </a:p>
        </p:txBody>
      </p:sp>
      <p:sp>
        <p:nvSpPr>
          <p:cNvPr id="12" name="Text 9"/>
          <p:cNvSpPr txBox="1"/>
          <p:nvPr/>
        </p:nvSpPr>
        <p:spPr>
          <a:xfrm>
            <a:off x="9742170" y="1866900"/>
            <a:ext cx="1744980" cy="190500"/>
          </a:xfrm>
          <a:prstGeom prst="rect">
            <a:avLst/>
          </a:prstGeom>
          <a:noFill/>
          <a:ln/>
        </p:spPr>
        <p:txBody>
          <a:bodyPr wrap="square" lIns="0" tIns="0" rIns="0" bIns="0" rtlCol="0" anchor="ctr"/>
          <a:lstStyle/>
          <a:p>
            <a:pPr indent="0" marL="0">
              <a:buNone/>
            </a:pPr>
            <a:r>
              <a:rPr lang="en-US" sz="800" b="1" spc="160" kern="0" dirty="0">
                <a:solidFill>
                  <a:srgbClr val="D9A521"/>
                </a:solidFill>
                <a:latin typeface="Consolas" pitchFamily="34" charset="0"/>
                <a:ea typeface="Consolas" pitchFamily="34" charset="-122"/>
                <a:cs typeface="Consolas" pitchFamily="34" charset="-120"/>
              </a:rPr>
              <a:t>STORY</a:t>
            </a:r>
            <a:endParaRPr lang="en-US" sz="800" dirty="0"/>
          </a:p>
        </p:txBody>
      </p:sp>
      <p:sp>
        <p:nvSpPr>
          <p:cNvPr id="13" name="Shape 10"/>
          <p:cNvSpPr/>
          <p:nvPr/>
        </p:nvSpPr>
        <p:spPr>
          <a:xfrm>
            <a:off x="571500" y="2095500"/>
            <a:ext cx="11049000" cy="0"/>
          </a:xfrm>
          <a:prstGeom prst="line">
            <a:avLst/>
          </a:prstGeom>
          <a:noFill/>
          <a:ln w="9525">
            <a:solidFill>
              <a:srgbClr val="D9A521">
                <a:alpha val="55000"/>
              </a:srgbClr>
            </a:solidFill>
            <a:prstDash val="solid"/>
          </a:ln>
        </p:spPr>
      </p:sp>
      <p:sp>
        <p:nvSpPr>
          <p:cNvPr id="14" name="Text 11"/>
          <p:cNvSpPr txBox="1"/>
          <p:nvPr/>
        </p:nvSpPr>
        <p:spPr>
          <a:xfrm>
            <a:off x="676275" y="2152650"/>
            <a:ext cx="750570" cy="457200"/>
          </a:xfrm>
          <a:prstGeom prst="rect">
            <a:avLst/>
          </a:prstGeom>
          <a:noFill/>
          <a:ln/>
        </p:spPr>
        <p:txBody>
          <a:bodyPr wrap="square" lIns="0" tIns="0" rIns="0" bIns="0" rtlCol="0" anchor="ctr"/>
          <a:lstStyle/>
          <a:p>
            <a:pPr indent="0" marL="0">
              <a:lnSpc>
                <a:spcPct val="110000"/>
              </a:lnSpc>
              <a:buNone/>
            </a:pPr>
            <a:r>
              <a:rPr lang="en-US" sz="1100" dirty="0">
                <a:solidFill>
                  <a:srgbClr val="F3E4B0"/>
                </a:solidFill>
                <a:latin typeface="Impact" pitchFamily="34" charset="0"/>
                <a:ea typeface="Impact" pitchFamily="34" charset="-122"/>
                <a:cs typeface="Impact" pitchFamily="34" charset="-120"/>
              </a:rPr>
              <a:t>UC1</a:t>
            </a:r>
            <a:endParaRPr lang="en-US" sz="1100" dirty="0"/>
          </a:p>
        </p:txBody>
      </p:sp>
      <p:sp>
        <p:nvSpPr>
          <p:cNvPr id="15" name="Text 12"/>
          <p:cNvSpPr txBox="1"/>
          <p:nvPr/>
        </p:nvSpPr>
        <p:spPr>
          <a:xfrm>
            <a:off x="1455420" y="2152650"/>
            <a:ext cx="4065270" cy="457200"/>
          </a:xfrm>
          <a:prstGeom prst="rect">
            <a:avLst/>
          </a:prstGeom>
          <a:noFill/>
          <a:ln/>
        </p:spPr>
        <p:txBody>
          <a:bodyPr wrap="square" lIns="0" tIns="0" rIns="0" bIns="0" rtlCol="0" anchor="ctr"/>
          <a:lstStyle/>
          <a:p>
            <a:pPr indent="0" marL="0">
              <a:lnSpc>
                <a:spcPct val="110000"/>
              </a:lnSpc>
              <a:buNone/>
            </a:pPr>
            <a:r>
              <a:rPr lang="en-US" sz="1000" dirty="0">
                <a:solidFill>
                  <a:srgbClr val="CFDFD2"/>
                </a:solidFill>
                <a:latin typeface="Arial" pitchFamily="34" charset="0"/>
                <a:ea typeface="Arial" pitchFamily="34" charset="-122"/>
                <a:cs typeface="Arial" pitchFamily="34" charset="-120"/>
              </a:rPr>
              <a:t>Consulter son dossier et miser sur son pronostic</a:t>
            </a:r>
            <a:endParaRPr lang="en-US" sz="1000" dirty="0"/>
          </a:p>
        </p:txBody>
      </p:sp>
      <p:sp>
        <p:nvSpPr>
          <p:cNvPr id="16" name="Text 13"/>
          <p:cNvSpPr txBox="1"/>
          <p:nvPr/>
        </p:nvSpPr>
        <p:spPr>
          <a:xfrm>
            <a:off x="5654040" y="2152650"/>
            <a:ext cx="1303020" cy="457200"/>
          </a:xfrm>
          <a:prstGeom prst="rect">
            <a:avLst/>
          </a:prstGeom>
          <a:noFill/>
          <a:ln/>
        </p:spPr>
        <p:txBody>
          <a:bodyPr wrap="square" lIns="0" tIns="0" rIns="0" bIns="0" rtlCol="0" anchor="ctr"/>
          <a:lstStyle/>
          <a:p>
            <a:pPr indent="0" marL="0">
              <a:lnSpc>
                <a:spcPct val="110000"/>
              </a:lnSpc>
              <a:buNone/>
            </a:pPr>
            <a:r>
              <a:rPr lang="en-US" sz="1000" dirty="0">
                <a:solidFill>
                  <a:srgbClr val="CFDFD2"/>
                </a:solidFill>
                <a:latin typeface="Arial" pitchFamily="34" charset="0"/>
                <a:ea typeface="Arial" pitchFamily="34" charset="-122"/>
                <a:cs typeface="Arial" pitchFamily="34" charset="-120"/>
              </a:rPr>
              <a:t>Patient</a:t>
            </a:r>
            <a:endParaRPr lang="en-US" sz="1000" dirty="0"/>
          </a:p>
        </p:txBody>
      </p:sp>
      <p:sp>
        <p:nvSpPr>
          <p:cNvPr id="17" name="Text 14"/>
          <p:cNvSpPr txBox="1"/>
          <p:nvPr/>
        </p:nvSpPr>
        <p:spPr>
          <a:xfrm>
            <a:off x="7090410" y="2152650"/>
            <a:ext cx="2518410" cy="457200"/>
          </a:xfrm>
          <a:prstGeom prst="rect">
            <a:avLst/>
          </a:prstGeom>
          <a:noFill/>
          <a:ln/>
        </p:spPr>
        <p:txBody>
          <a:bodyPr wrap="square" lIns="0" tIns="0" rIns="0" bIns="0" rtlCol="0" anchor="ctr"/>
          <a:lstStyle/>
          <a:p>
            <a:pPr indent="0" marL="0">
              <a:lnSpc>
                <a:spcPct val="110000"/>
              </a:lnSpc>
              <a:buNone/>
            </a:pPr>
            <a:r>
              <a:rPr lang="en-US" sz="1000" dirty="0">
                <a:solidFill>
                  <a:srgbClr val="CFDFD2"/>
                </a:solidFill>
                <a:latin typeface="Arial" pitchFamily="34" charset="0"/>
                <a:ea typeface="Arial" pitchFamily="34" charset="-122"/>
                <a:cs typeface="Arial" pitchFamily="34" charset="-120"/>
              </a:rPr>
              <a:t>Patient — POST puis GET</a:t>
            </a:r>
            <a:endParaRPr lang="en-US" sz="1000" dirty="0"/>
          </a:p>
        </p:txBody>
      </p:sp>
      <p:sp>
        <p:nvSpPr>
          <p:cNvPr id="18" name="Text 15"/>
          <p:cNvSpPr txBox="1"/>
          <p:nvPr/>
        </p:nvSpPr>
        <p:spPr>
          <a:xfrm>
            <a:off x="9742170" y="2152650"/>
            <a:ext cx="1744980" cy="457200"/>
          </a:xfrm>
          <a:prstGeom prst="rect">
            <a:avLst/>
          </a:prstGeom>
          <a:noFill/>
          <a:ln/>
        </p:spPr>
        <p:txBody>
          <a:bodyPr wrap="square" lIns="0" tIns="0" rIns="0" bIns="0" rtlCol="0" anchor="ctr"/>
          <a:lstStyle/>
          <a:p>
            <a:pPr indent="0" marL="0">
              <a:lnSpc>
                <a:spcPct val="110000"/>
              </a:lnSpc>
              <a:buNone/>
            </a:pPr>
            <a:r>
              <a:rPr lang="en-US" sz="1000" dirty="0">
                <a:solidFill>
                  <a:srgbClr val="CFDFD2"/>
                </a:solidFill>
                <a:latin typeface="Arial" pitchFamily="34" charset="0"/>
                <a:ea typeface="Arial" pitchFamily="34" charset="-122"/>
                <a:cs typeface="Arial" pitchFamily="34" charset="-120"/>
              </a:rPr>
              <a:t>US-P1, US-P2</a:t>
            </a:r>
            <a:endParaRPr lang="en-US" sz="1000" dirty="0"/>
          </a:p>
        </p:txBody>
      </p:sp>
      <p:sp>
        <p:nvSpPr>
          <p:cNvPr id="19" name="Shape 16"/>
          <p:cNvSpPr/>
          <p:nvPr/>
        </p:nvSpPr>
        <p:spPr>
          <a:xfrm>
            <a:off x="571500" y="2609850"/>
            <a:ext cx="11049000" cy="0"/>
          </a:xfrm>
          <a:prstGeom prst="line">
            <a:avLst/>
          </a:prstGeom>
          <a:noFill/>
          <a:ln w="6350">
            <a:solidFill>
              <a:srgbClr val="FFFFFF">
                <a:alpha val="12000"/>
              </a:srgbClr>
            </a:solidFill>
            <a:prstDash val="solid"/>
          </a:ln>
        </p:spPr>
      </p:sp>
      <p:sp>
        <p:nvSpPr>
          <p:cNvPr id="20" name="Text 17"/>
          <p:cNvSpPr txBox="1"/>
          <p:nvPr/>
        </p:nvSpPr>
        <p:spPr>
          <a:xfrm>
            <a:off x="676275" y="2628900"/>
            <a:ext cx="750570" cy="457200"/>
          </a:xfrm>
          <a:prstGeom prst="rect">
            <a:avLst/>
          </a:prstGeom>
          <a:noFill/>
          <a:ln/>
        </p:spPr>
        <p:txBody>
          <a:bodyPr wrap="square" lIns="0" tIns="0" rIns="0" bIns="0" rtlCol="0" anchor="ctr"/>
          <a:lstStyle/>
          <a:p>
            <a:pPr indent="0" marL="0">
              <a:lnSpc>
                <a:spcPct val="110000"/>
              </a:lnSpc>
              <a:buNone/>
            </a:pPr>
            <a:r>
              <a:rPr lang="en-US" sz="1100" dirty="0">
                <a:solidFill>
                  <a:srgbClr val="F3E4B0"/>
                </a:solidFill>
                <a:latin typeface="Impact" pitchFamily="34" charset="0"/>
                <a:ea typeface="Impact" pitchFamily="34" charset="-122"/>
                <a:cs typeface="Impact" pitchFamily="34" charset="-120"/>
              </a:rPr>
              <a:t>UC2</a:t>
            </a:r>
            <a:endParaRPr lang="en-US" sz="1100" dirty="0"/>
          </a:p>
        </p:txBody>
      </p:sp>
      <p:sp>
        <p:nvSpPr>
          <p:cNvPr id="21" name="Text 18"/>
          <p:cNvSpPr txBox="1"/>
          <p:nvPr/>
        </p:nvSpPr>
        <p:spPr>
          <a:xfrm>
            <a:off x="1455420" y="2628900"/>
            <a:ext cx="4065270" cy="457200"/>
          </a:xfrm>
          <a:prstGeom prst="rect">
            <a:avLst/>
          </a:prstGeom>
          <a:noFill/>
          <a:ln/>
        </p:spPr>
        <p:txBody>
          <a:bodyPr wrap="square" lIns="0" tIns="0" rIns="0" bIns="0" rtlCol="0" anchor="ctr"/>
          <a:lstStyle/>
          <a:p>
            <a:pPr indent="0" marL="0">
              <a:lnSpc>
                <a:spcPct val="110000"/>
              </a:lnSpc>
              <a:buNone/>
            </a:pPr>
            <a:r>
              <a:rPr lang="en-US" sz="1000" dirty="0">
                <a:solidFill>
                  <a:srgbClr val="CFDFD2"/>
                </a:solidFill>
                <a:latin typeface="Arial" pitchFamily="34" charset="0"/>
                <a:ea typeface="Arial" pitchFamily="34" charset="-122"/>
                <a:cs typeface="Arial" pitchFamily="34" charset="-120"/>
              </a:rPr>
              <a:t>Un proche rejoint le pari à distance, avec un code</a:t>
            </a:r>
            <a:endParaRPr lang="en-US" sz="1000" dirty="0"/>
          </a:p>
        </p:txBody>
      </p:sp>
      <p:sp>
        <p:nvSpPr>
          <p:cNvPr id="22" name="Text 19"/>
          <p:cNvSpPr txBox="1"/>
          <p:nvPr/>
        </p:nvSpPr>
        <p:spPr>
          <a:xfrm>
            <a:off x="5654040" y="2628900"/>
            <a:ext cx="1303020" cy="457200"/>
          </a:xfrm>
          <a:prstGeom prst="rect">
            <a:avLst/>
          </a:prstGeom>
          <a:noFill/>
          <a:ln/>
        </p:spPr>
        <p:txBody>
          <a:bodyPr wrap="square" lIns="0" tIns="0" rIns="0" bIns="0" rtlCol="0" anchor="ctr"/>
          <a:lstStyle/>
          <a:p>
            <a:pPr indent="0" marL="0">
              <a:lnSpc>
                <a:spcPct val="110000"/>
              </a:lnSpc>
              <a:buNone/>
            </a:pPr>
            <a:r>
              <a:rPr lang="en-US" sz="1000" dirty="0">
                <a:solidFill>
                  <a:srgbClr val="CFDFD2"/>
                </a:solidFill>
                <a:latin typeface="Arial" pitchFamily="34" charset="0"/>
                <a:ea typeface="Arial" pitchFamily="34" charset="-122"/>
                <a:cs typeface="Arial" pitchFamily="34" charset="-120"/>
              </a:rPr>
              <a:t>Proche</a:t>
            </a:r>
            <a:endParaRPr lang="en-US" sz="1000" dirty="0"/>
          </a:p>
        </p:txBody>
      </p:sp>
      <p:sp>
        <p:nvSpPr>
          <p:cNvPr id="23" name="Text 20"/>
          <p:cNvSpPr txBox="1"/>
          <p:nvPr/>
        </p:nvSpPr>
        <p:spPr>
          <a:xfrm>
            <a:off x="7090410" y="2628900"/>
            <a:ext cx="2518410" cy="457200"/>
          </a:xfrm>
          <a:prstGeom prst="rect">
            <a:avLst/>
          </a:prstGeom>
          <a:noFill/>
          <a:ln/>
        </p:spPr>
        <p:txBody>
          <a:bodyPr wrap="square" lIns="0" tIns="0" rIns="0" bIns="0" rtlCol="0" anchor="ctr"/>
          <a:lstStyle/>
          <a:p>
            <a:pPr indent="0" marL="0">
              <a:lnSpc>
                <a:spcPct val="110000"/>
              </a:lnSpc>
              <a:buNone/>
            </a:pPr>
            <a:r>
              <a:rPr lang="en-US" sz="1000" dirty="0">
                <a:solidFill>
                  <a:srgbClr val="CFDFD2"/>
                </a:solidFill>
                <a:latin typeface="Arial" pitchFamily="34" charset="0"/>
                <a:ea typeface="Arial" pitchFamily="34" charset="-122"/>
                <a:cs typeface="Arial" pitchFamily="34" charset="-120"/>
              </a:rPr>
              <a:t>aucune — pari social</a:t>
            </a:r>
            <a:endParaRPr lang="en-US" sz="1000" dirty="0"/>
          </a:p>
        </p:txBody>
      </p:sp>
      <p:sp>
        <p:nvSpPr>
          <p:cNvPr id="24" name="Text 21"/>
          <p:cNvSpPr txBox="1"/>
          <p:nvPr/>
        </p:nvSpPr>
        <p:spPr>
          <a:xfrm>
            <a:off x="9742170" y="2628900"/>
            <a:ext cx="1744980" cy="457200"/>
          </a:xfrm>
          <a:prstGeom prst="rect">
            <a:avLst/>
          </a:prstGeom>
          <a:noFill/>
          <a:ln/>
        </p:spPr>
        <p:txBody>
          <a:bodyPr wrap="square" lIns="0" tIns="0" rIns="0" bIns="0" rtlCol="0" anchor="ctr"/>
          <a:lstStyle/>
          <a:p>
            <a:pPr indent="0" marL="0">
              <a:lnSpc>
                <a:spcPct val="110000"/>
              </a:lnSpc>
              <a:buNone/>
            </a:pPr>
            <a:r>
              <a:rPr lang="en-US" sz="1000" dirty="0">
                <a:solidFill>
                  <a:srgbClr val="CFDFD2"/>
                </a:solidFill>
                <a:latin typeface="Arial" pitchFamily="34" charset="0"/>
                <a:ea typeface="Arial" pitchFamily="34" charset="-122"/>
                <a:cs typeface="Arial" pitchFamily="34" charset="-120"/>
              </a:rPr>
              <a:t>US-P3</a:t>
            </a:r>
            <a:endParaRPr lang="en-US" sz="1000" dirty="0"/>
          </a:p>
        </p:txBody>
      </p:sp>
      <p:sp>
        <p:nvSpPr>
          <p:cNvPr id="25" name="Shape 22"/>
          <p:cNvSpPr/>
          <p:nvPr/>
        </p:nvSpPr>
        <p:spPr>
          <a:xfrm>
            <a:off x="571500" y="3086100"/>
            <a:ext cx="11049000" cy="0"/>
          </a:xfrm>
          <a:prstGeom prst="line">
            <a:avLst/>
          </a:prstGeom>
          <a:noFill/>
          <a:ln w="6350">
            <a:solidFill>
              <a:srgbClr val="FFFFFF">
                <a:alpha val="12000"/>
              </a:srgbClr>
            </a:solidFill>
            <a:prstDash val="solid"/>
          </a:ln>
        </p:spPr>
      </p:sp>
      <p:sp>
        <p:nvSpPr>
          <p:cNvPr id="26" name="Shape 23"/>
          <p:cNvSpPr/>
          <p:nvPr/>
        </p:nvSpPr>
        <p:spPr>
          <a:xfrm>
            <a:off x="571500" y="3105150"/>
            <a:ext cx="11049000" cy="457200"/>
          </a:xfrm>
          <a:prstGeom prst="rect">
            <a:avLst/>
          </a:prstGeom>
          <a:solidFill>
            <a:srgbClr val="F4E3AB">
              <a:alpha val="8000"/>
            </a:srgbClr>
          </a:solidFill>
          <a:ln/>
        </p:spPr>
      </p:sp>
      <p:sp>
        <p:nvSpPr>
          <p:cNvPr id="27" name="Shape 24"/>
          <p:cNvSpPr/>
          <p:nvPr/>
        </p:nvSpPr>
        <p:spPr>
          <a:xfrm>
            <a:off x="571500" y="3105150"/>
            <a:ext cx="28575" cy="457200"/>
          </a:xfrm>
          <a:prstGeom prst="rect">
            <a:avLst/>
          </a:prstGeom>
          <a:solidFill>
            <a:srgbClr val="D9A521"/>
          </a:solidFill>
          <a:ln/>
        </p:spPr>
      </p:sp>
      <p:sp>
        <p:nvSpPr>
          <p:cNvPr id="28" name="Text 25"/>
          <p:cNvSpPr txBox="1"/>
          <p:nvPr/>
        </p:nvSpPr>
        <p:spPr>
          <a:xfrm>
            <a:off x="676275" y="3105150"/>
            <a:ext cx="750570" cy="457200"/>
          </a:xfrm>
          <a:prstGeom prst="rect">
            <a:avLst/>
          </a:prstGeom>
          <a:noFill/>
          <a:ln/>
        </p:spPr>
        <p:txBody>
          <a:bodyPr wrap="square" lIns="0" tIns="0" rIns="0" bIns="0" rtlCol="0" anchor="ctr"/>
          <a:lstStyle/>
          <a:p>
            <a:pPr indent="0" marL="0">
              <a:lnSpc>
                <a:spcPct val="110000"/>
              </a:lnSpc>
              <a:buNone/>
            </a:pPr>
            <a:r>
              <a:rPr lang="en-US" sz="1100" dirty="0">
                <a:solidFill>
                  <a:srgbClr val="F3E4B0"/>
                </a:solidFill>
                <a:latin typeface="Impact" pitchFamily="34" charset="0"/>
                <a:ea typeface="Impact" pitchFamily="34" charset="-122"/>
                <a:cs typeface="Impact" pitchFamily="34" charset="-120"/>
              </a:rPr>
              <a:t>UC3</a:t>
            </a:r>
            <a:endParaRPr lang="en-US" sz="1100" dirty="0"/>
          </a:p>
        </p:txBody>
      </p:sp>
      <p:sp>
        <p:nvSpPr>
          <p:cNvPr id="29" name="Text 26"/>
          <p:cNvSpPr txBox="1"/>
          <p:nvPr/>
        </p:nvSpPr>
        <p:spPr>
          <a:xfrm>
            <a:off x="1455420" y="3105150"/>
            <a:ext cx="4065270" cy="457200"/>
          </a:xfrm>
          <a:prstGeom prst="rect">
            <a:avLst/>
          </a:prstGeom>
          <a:noFill/>
          <a:ln/>
        </p:spPr>
        <p:txBody>
          <a:bodyPr wrap="square" lIns="0" tIns="0" rIns="0" bIns="0" rtlCol="0" anchor="ctr"/>
          <a:lstStyle/>
          <a:p>
            <a:pPr indent="0" marL="0">
              <a:lnSpc>
                <a:spcPct val="110000"/>
              </a:lnSpc>
              <a:buNone/>
            </a:pPr>
            <a:r>
              <a:rPr lang="en-US" sz="1000" dirty="0">
                <a:solidFill>
                  <a:srgbClr val="CFDFD2"/>
                </a:solidFill>
                <a:latin typeface="Arial" pitchFamily="34" charset="0"/>
                <a:ea typeface="Arial" pitchFamily="34" charset="-122"/>
                <a:cs typeface="Arial" pitchFamily="34" charset="-120"/>
              </a:rPr>
              <a:t>Le pari se résout par une vraie lecture FHIR</a:t>
            </a:r>
            <a:endParaRPr lang="en-US" sz="1000" dirty="0"/>
          </a:p>
        </p:txBody>
      </p:sp>
      <p:sp>
        <p:nvSpPr>
          <p:cNvPr id="30" name="Text 27"/>
          <p:cNvSpPr txBox="1"/>
          <p:nvPr/>
        </p:nvSpPr>
        <p:spPr>
          <a:xfrm>
            <a:off x="5654040" y="3105150"/>
            <a:ext cx="1303020" cy="457200"/>
          </a:xfrm>
          <a:prstGeom prst="rect">
            <a:avLst/>
          </a:prstGeom>
          <a:noFill/>
          <a:ln/>
        </p:spPr>
        <p:txBody>
          <a:bodyPr wrap="square" lIns="0" tIns="0" rIns="0" bIns="0" rtlCol="0" anchor="ctr"/>
          <a:lstStyle/>
          <a:p>
            <a:pPr indent="0" marL="0">
              <a:lnSpc>
                <a:spcPct val="110000"/>
              </a:lnSpc>
              <a:buNone/>
            </a:pPr>
            <a:r>
              <a:rPr lang="en-US" sz="1000" dirty="0">
                <a:solidFill>
                  <a:srgbClr val="CFDFD2"/>
                </a:solidFill>
                <a:latin typeface="Arial" pitchFamily="34" charset="0"/>
                <a:ea typeface="Arial" pitchFamily="34" charset="-122"/>
                <a:cs typeface="Arial" pitchFamily="34" charset="-120"/>
              </a:rPr>
              <a:t>Patient</a:t>
            </a:r>
            <a:endParaRPr lang="en-US" sz="1000" dirty="0"/>
          </a:p>
        </p:txBody>
      </p:sp>
      <p:sp>
        <p:nvSpPr>
          <p:cNvPr id="31" name="Text 28"/>
          <p:cNvSpPr txBox="1"/>
          <p:nvPr/>
        </p:nvSpPr>
        <p:spPr>
          <a:xfrm>
            <a:off x="7090410" y="3105150"/>
            <a:ext cx="2518410" cy="457200"/>
          </a:xfrm>
          <a:prstGeom prst="rect">
            <a:avLst/>
          </a:prstGeom>
          <a:noFill/>
          <a:ln/>
        </p:spPr>
        <p:txBody>
          <a:bodyPr wrap="square" lIns="0" tIns="0" rIns="0" bIns="0" rtlCol="0" anchor="ctr"/>
          <a:lstStyle/>
          <a:p>
            <a:pPr indent="0" marL="0">
              <a:lnSpc>
                <a:spcPct val="110000"/>
              </a:lnSpc>
              <a:buNone/>
            </a:pPr>
            <a:r>
              <a:rPr lang="en-US" sz="1000" dirty="0">
                <a:solidFill>
                  <a:srgbClr val="CFDFD2"/>
                </a:solidFill>
                <a:latin typeface="Arial" pitchFamily="34" charset="0"/>
                <a:ea typeface="Arial" pitchFamily="34" charset="-122"/>
                <a:cs typeface="Arial" pitchFamily="34" charset="-120"/>
              </a:rPr>
              <a:t>Observation — GET</a:t>
            </a:r>
            <a:endParaRPr lang="en-US" sz="1000" dirty="0"/>
          </a:p>
        </p:txBody>
      </p:sp>
      <p:sp>
        <p:nvSpPr>
          <p:cNvPr id="32" name="Text 29"/>
          <p:cNvSpPr txBox="1"/>
          <p:nvPr/>
        </p:nvSpPr>
        <p:spPr>
          <a:xfrm>
            <a:off x="9742170" y="3105150"/>
            <a:ext cx="1744980" cy="457200"/>
          </a:xfrm>
          <a:prstGeom prst="rect">
            <a:avLst/>
          </a:prstGeom>
          <a:noFill/>
          <a:ln/>
        </p:spPr>
        <p:txBody>
          <a:bodyPr wrap="square" lIns="0" tIns="0" rIns="0" bIns="0" rtlCol="0" anchor="ctr"/>
          <a:lstStyle/>
          <a:p>
            <a:pPr indent="0" marL="0">
              <a:lnSpc>
                <a:spcPct val="110000"/>
              </a:lnSpc>
              <a:buNone/>
            </a:pPr>
            <a:r>
              <a:rPr lang="en-US" sz="1000" dirty="0">
                <a:solidFill>
                  <a:srgbClr val="CFDFD2"/>
                </a:solidFill>
                <a:latin typeface="Arial" pitchFamily="34" charset="0"/>
                <a:ea typeface="Arial" pitchFamily="34" charset="-122"/>
                <a:cs typeface="Arial" pitchFamily="34" charset="-120"/>
              </a:rPr>
              <a:t>US-P4</a:t>
            </a:r>
            <a:endParaRPr lang="en-US" sz="1000" dirty="0"/>
          </a:p>
        </p:txBody>
      </p:sp>
      <p:sp>
        <p:nvSpPr>
          <p:cNvPr id="33" name="Shape 30"/>
          <p:cNvSpPr/>
          <p:nvPr/>
        </p:nvSpPr>
        <p:spPr>
          <a:xfrm>
            <a:off x="571500" y="3562350"/>
            <a:ext cx="11049000" cy="0"/>
          </a:xfrm>
          <a:prstGeom prst="line">
            <a:avLst/>
          </a:prstGeom>
          <a:noFill/>
          <a:ln w="6350">
            <a:solidFill>
              <a:srgbClr val="FFFFFF">
                <a:alpha val="12000"/>
              </a:srgbClr>
            </a:solidFill>
            <a:prstDash val="solid"/>
          </a:ln>
        </p:spPr>
      </p:sp>
      <p:sp>
        <p:nvSpPr>
          <p:cNvPr id="34" name="Text 31"/>
          <p:cNvSpPr txBox="1"/>
          <p:nvPr/>
        </p:nvSpPr>
        <p:spPr>
          <a:xfrm>
            <a:off x="676275" y="3581400"/>
            <a:ext cx="750570" cy="457200"/>
          </a:xfrm>
          <a:prstGeom prst="rect">
            <a:avLst/>
          </a:prstGeom>
          <a:noFill/>
          <a:ln/>
        </p:spPr>
        <p:txBody>
          <a:bodyPr wrap="square" lIns="0" tIns="0" rIns="0" bIns="0" rtlCol="0" anchor="ctr"/>
          <a:lstStyle/>
          <a:p>
            <a:pPr indent="0" marL="0">
              <a:lnSpc>
                <a:spcPct val="110000"/>
              </a:lnSpc>
              <a:buNone/>
            </a:pPr>
            <a:r>
              <a:rPr lang="en-US" sz="1100" dirty="0">
                <a:solidFill>
                  <a:srgbClr val="F3E4B0"/>
                </a:solidFill>
                <a:latin typeface="Impact" pitchFamily="34" charset="0"/>
                <a:ea typeface="Impact" pitchFamily="34" charset="-122"/>
                <a:cs typeface="Impact" pitchFamily="34" charset="-120"/>
              </a:rPr>
              <a:t>UC4</a:t>
            </a:r>
            <a:endParaRPr lang="en-US" sz="1100" dirty="0"/>
          </a:p>
        </p:txBody>
      </p:sp>
      <p:sp>
        <p:nvSpPr>
          <p:cNvPr id="35" name="Text 32"/>
          <p:cNvSpPr txBox="1"/>
          <p:nvPr/>
        </p:nvSpPr>
        <p:spPr>
          <a:xfrm>
            <a:off x="1455420" y="3581400"/>
            <a:ext cx="4065270" cy="457200"/>
          </a:xfrm>
          <a:prstGeom prst="rect">
            <a:avLst/>
          </a:prstGeom>
          <a:noFill/>
          <a:ln/>
        </p:spPr>
        <p:txBody>
          <a:bodyPr wrap="square" lIns="0" tIns="0" rIns="0" bIns="0" rtlCol="0" anchor="ctr"/>
          <a:lstStyle/>
          <a:p>
            <a:pPr indent="0" marL="0">
              <a:lnSpc>
                <a:spcPct val="110000"/>
              </a:lnSpc>
              <a:buNone/>
            </a:pPr>
            <a:r>
              <a:rPr lang="en-US" sz="1000" dirty="0">
                <a:solidFill>
                  <a:srgbClr val="CFDFD2"/>
                </a:solidFill>
                <a:latin typeface="Arial" pitchFamily="34" charset="0"/>
                <a:ea typeface="Arial" pitchFamily="34" charset="-122"/>
                <a:cs typeface="Arial" pitchFamily="34" charset="-120"/>
              </a:rPr>
              <a:t>Le patient demande son rendez-vous de suivi</a:t>
            </a:r>
            <a:endParaRPr lang="en-US" sz="1000" dirty="0"/>
          </a:p>
        </p:txBody>
      </p:sp>
      <p:sp>
        <p:nvSpPr>
          <p:cNvPr id="36" name="Text 33"/>
          <p:cNvSpPr txBox="1"/>
          <p:nvPr/>
        </p:nvSpPr>
        <p:spPr>
          <a:xfrm>
            <a:off x="5654040" y="3581400"/>
            <a:ext cx="1303020" cy="457200"/>
          </a:xfrm>
          <a:prstGeom prst="rect">
            <a:avLst/>
          </a:prstGeom>
          <a:noFill/>
          <a:ln/>
        </p:spPr>
        <p:txBody>
          <a:bodyPr wrap="square" lIns="0" tIns="0" rIns="0" bIns="0" rtlCol="0" anchor="ctr"/>
          <a:lstStyle/>
          <a:p>
            <a:pPr indent="0" marL="0">
              <a:lnSpc>
                <a:spcPct val="110000"/>
              </a:lnSpc>
              <a:buNone/>
            </a:pPr>
            <a:r>
              <a:rPr lang="en-US" sz="1000" dirty="0">
                <a:solidFill>
                  <a:srgbClr val="CFDFD2"/>
                </a:solidFill>
                <a:latin typeface="Arial" pitchFamily="34" charset="0"/>
                <a:ea typeface="Arial" pitchFamily="34" charset="-122"/>
                <a:cs typeface="Arial" pitchFamily="34" charset="-120"/>
              </a:rPr>
              <a:t>Patient</a:t>
            </a:r>
            <a:endParaRPr lang="en-US" sz="1000" dirty="0"/>
          </a:p>
        </p:txBody>
      </p:sp>
      <p:sp>
        <p:nvSpPr>
          <p:cNvPr id="37" name="Text 34"/>
          <p:cNvSpPr txBox="1"/>
          <p:nvPr/>
        </p:nvSpPr>
        <p:spPr>
          <a:xfrm>
            <a:off x="7090410" y="3581400"/>
            <a:ext cx="2518410" cy="457200"/>
          </a:xfrm>
          <a:prstGeom prst="rect">
            <a:avLst/>
          </a:prstGeom>
          <a:noFill/>
          <a:ln/>
        </p:spPr>
        <p:txBody>
          <a:bodyPr wrap="square" lIns="0" tIns="0" rIns="0" bIns="0" rtlCol="0" anchor="ctr"/>
          <a:lstStyle/>
          <a:p>
            <a:pPr indent="0" marL="0">
              <a:lnSpc>
                <a:spcPct val="110000"/>
              </a:lnSpc>
              <a:buNone/>
            </a:pPr>
            <a:r>
              <a:rPr lang="en-US" sz="1000" dirty="0">
                <a:solidFill>
                  <a:srgbClr val="CFDFD2"/>
                </a:solidFill>
                <a:latin typeface="Arial" pitchFamily="34" charset="0"/>
                <a:ea typeface="Arial" pitchFamily="34" charset="-122"/>
                <a:cs typeface="Arial" pitchFamily="34" charset="-120"/>
              </a:rPr>
              <a:t>Appointment — POST</a:t>
            </a:r>
            <a:endParaRPr lang="en-US" sz="1000" dirty="0"/>
          </a:p>
        </p:txBody>
      </p:sp>
      <p:sp>
        <p:nvSpPr>
          <p:cNvPr id="38" name="Text 35"/>
          <p:cNvSpPr txBox="1"/>
          <p:nvPr/>
        </p:nvSpPr>
        <p:spPr>
          <a:xfrm>
            <a:off x="9742170" y="3581400"/>
            <a:ext cx="1744980" cy="457200"/>
          </a:xfrm>
          <a:prstGeom prst="rect">
            <a:avLst/>
          </a:prstGeom>
          <a:noFill/>
          <a:ln/>
        </p:spPr>
        <p:txBody>
          <a:bodyPr wrap="square" lIns="0" tIns="0" rIns="0" bIns="0" rtlCol="0" anchor="ctr"/>
          <a:lstStyle/>
          <a:p>
            <a:pPr indent="0" marL="0">
              <a:lnSpc>
                <a:spcPct val="110000"/>
              </a:lnSpc>
              <a:buNone/>
            </a:pPr>
            <a:r>
              <a:rPr lang="en-US" sz="1000" dirty="0">
                <a:solidFill>
                  <a:srgbClr val="CFDFD2"/>
                </a:solidFill>
                <a:latin typeface="Arial" pitchFamily="34" charset="0"/>
                <a:ea typeface="Arial" pitchFamily="34" charset="-122"/>
                <a:cs typeface="Arial" pitchFamily="34" charset="-120"/>
              </a:rPr>
              <a:t>US-P5</a:t>
            </a:r>
            <a:endParaRPr lang="en-US" sz="1000" dirty="0"/>
          </a:p>
        </p:txBody>
      </p:sp>
      <p:sp>
        <p:nvSpPr>
          <p:cNvPr id="39" name="Shape 36"/>
          <p:cNvSpPr/>
          <p:nvPr/>
        </p:nvSpPr>
        <p:spPr>
          <a:xfrm>
            <a:off x="571500" y="4038600"/>
            <a:ext cx="11049000" cy="0"/>
          </a:xfrm>
          <a:prstGeom prst="line">
            <a:avLst/>
          </a:prstGeom>
          <a:noFill/>
          <a:ln w="6350">
            <a:solidFill>
              <a:srgbClr val="FFFFFF">
                <a:alpha val="12000"/>
              </a:srgbClr>
            </a:solidFill>
            <a:prstDash val="solid"/>
          </a:ln>
        </p:spPr>
      </p:sp>
      <p:sp>
        <p:nvSpPr>
          <p:cNvPr id="40" name="Shape 37"/>
          <p:cNvSpPr/>
          <p:nvPr/>
        </p:nvSpPr>
        <p:spPr>
          <a:xfrm>
            <a:off x="571500" y="4114800"/>
            <a:ext cx="28575" cy="685800"/>
          </a:xfrm>
          <a:prstGeom prst="rect">
            <a:avLst/>
          </a:prstGeom>
          <a:solidFill>
            <a:srgbClr val="D9A521"/>
          </a:solidFill>
          <a:ln/>
        </p:spPr>
      </p:sp>
      <p:sp>
        <p:nvSpPr>
          <p:cNvPr id="41" name="Text 38"/>
          <p:cNvSpPr txBox="1"/>
          <p:nvPr/>
        </p:nvSpPr>
        <p:spPr>
          <a:xfrm>
            <a:off x="723900" y="4114800"/>
            <a:ext cx="10896600" cy="685800"/>
          </a:xfrm>
          <a:prstGeom prst="rect">
            <a:avLst/>
          </a:prstGeom>
          <a:noFill/>
          <a:ln/>
        </p:spPr>
        <p:txBody>
          <a:bodyPr wrap="square" lIns="0" tIns="0" rIns="0" bIns="0" rtlCol="0" anchor="t"/>
          <a:lstStyle/>
          <a:p>
            <a:pPr indent="0" marL="0">
              <a:lnSpc>
                <a:spcPct val="125000"/>
              </a:lnSpc>
              <a:buNone/>
            </a:pPr>
            <a:r>
              <a:rPr lang="en-US" sz="1100" dirty="0">
                <a:solidFill>
                  <a:srgbClr val="E6DCBE"/>
                </a:solidFill>
                <a:latin typeface="Arial" pitchFamily="34" charset="0"/>
                <a:ea typeface="Arial" pitchFamily="34" charset="-122"/>
                <a:cs typeface="Arial" pitchFamily="34" charset="-120"/>
              </a:rPr>
              <a:t>UC3 est notre cas d'usage vitrine : le seul qui exige deux applications, sur deux postes, sans aucun canal direct entre elles. Chaque cas d'usage est rédigé en détail dans le Drive : préconditions, scénario nominal, exceptions, postcondition.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09550" y="6610350"/>
            <a:ext cx="3429000" cy="190500"/>
          </a:xfrm>
          <a:prstGeom prst="rect">
            <a:avLst/>
          </a:prstGeom>
          <a:noFill/>
          <a:ln/>
        </p:spPr>
        <p:txBody>
          <a:bodyPr wrap="square" lIns="0" tIns="0" rIns="0" bIns="0" rtlCol="0" anchor="ctr"/>
          <a:lstStyle/>
          <a:p>
            <a:pPr indent="0" marL="0">
              <a:buNone/>
            </a:pPr>
            <a:r>
              <a:rPr lang="en-US" sz="750" spc="140" kern="0" dirty="0">
                <a:solidFill>
                  <a:srgbClr val="D9A521"/>
                </a:solidFill>
                <a:latin typeface="Consolas" pitchFamily="34" charset="0"/>
                <a:ea typeface="Consolas" pitchFamily="34" charset="-122"/>
                <a:cs typeface="Consolas" pitchFamily="34" charset="-120"/>
              </a:rPr>
              <a:t>NEIROUZ · PRODUCT OWNER</a:t>
            </a:r>
            <a:endParaRPr lang="en-US" sz="750" dirty="0"/>
          </a:p>
        </p:txBody>
      </p:sp>
      <p:sp>
        <p:nvSpPr>
          <p:cNvPr id="3" name="Text 1"/>
          <p:cNvSpPr txBox="1"/>
          <p:nvPr/>
        </p:nvSpPr>
        <p:spPr>
          <a:xfrm>
            <a:off x="4000500" y="6610350"/>
            <a:ext cx="4191000" cy="190500"/>
          </a:xfrm>
          <a:prstGeom prst="rect">
            <a:avLst/>
          </a:prstGeom>
          <a:noFill/>
          <a:ln/>
        </p:spPr>
        <p:txBody>
          <a:bodyPr wrap="square" lIns="0" tIns="0" rIns="0" bIns="0" rtlCol="0" anchor="ctr"/>
          <a:lstStyle/>
          <a:p>
            <a:pPr algn="ct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4" name="Text 2"/>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≈55 s · 9:50</a:t>
            </a:r>
            <a:endParaRPr lang="en-US" sz="750" dirty="0"/>
          </a:p>
        </p:txBody>
      </p:sp>
      <p:sp>
        <p:nvSpPr>
          <p:cNvPr id="5" name="Text 3"/>
          <p:cNvSpPr txBox="1"/>
          <p:nvPr/>
        </p:nvSpPr>
        <p:spPr>
          <a:xfrm>
            <a:off x="571500" y="323850"/>
            <a:ext cx="11049000" cy="190500"/>
          </a:xfrm>
          <a:prstGeom prst="rect">
            <a:avLst/>
          </a:prstGeom>
          <a:noFill/>
          <a:ln/>
        </p:spPr>
        <p:txBody>
          <a:bodyPr wrap="square" lIns="0" tIns="0" rIns="0" bIns="0" rtlCol="0" anchor="ctr"/>
          <a:lstStyle/>
          <a:p>
            <a:pPr algn="ctr" indent="0" marL="0">
              <a:buNone/>
            </a:pPr>
            <a:r>
              <a:rPr lang="en-US" sz="850" b="1" spc="400" kern="0" dirty="0">
                <a:solidFill>
                  <a:srgbClr val="D9A521"/>
                </a:solidFill>
                <a:latin typeface="Consolas" pitchFamily="34" charset="0"/>
                <a:ea typeface="Consolas" pitchFamily="34" charset="-122"/>
                <a:cs typeface="Consolas" pitchFamily="34" charset="-120"/>
              </a:rPr>
              <a:t>03 · ANALYSE MÉTIER</a:t>
            </a:r>
            <a:endParaRPr lang="en-US" sz="850" dirty="0"/>
          </a:p>
        </p:txBody>
      </p:sp>
      <p:sp>
        <p:nvSpPr>
          <p:cNvPr id="6" name="Text 4"/>
          <p:cNvSpPr txBox="1"/>
          <p:nvPr/>
        </p:nvSpPr>
        <p:spPr>
          <a:xfrm>
            <a:off x="571500" y="514350"/>
            <a:ext cx="11049000" cy="609600"/>
          </a:xfrm>
          <a:prstGeom prst="rect">
            <a:avLst/>
          </a:prstGeom>
          <a:noFill/>
          <a:ln/>
          <a:effectLst>
            <a:outerShdw sx="100000" sy="100000" kx="0" ky="0" algn="bl" rotWithShape="0" blurRad="101600" dist="38100" dir="2700000">
              <a:srgbClr val="A02C1E">
                <a:alpha val="100000"/>
              </a:srgbClr>
            </a:outerShdw>
          </a:effectLst>
        </p:spPr>
        <p:txBody>
          <a:bodyPr wrap="square" lIns="0" tIns="0" rIns="0" bIns="0" rtlCol="0" anchor="ctr"/>
          <a:lstStyle/>
          <a:p>
            <a:pPr algn="ctr" indent="0" marL="0">
              <a:buNone/>
            </a:pPr>
            <a:r>
              <a:rPr lang="en-US" sz="3400" dirty="0">
                <a:solidFill>
                  <a:srgbClr val="F3E4B0"/>
                </a:solidFill>
                <a:latin typeface="Impact" pitchFamily="34" charset="0"/>
                <a:ea typeface="Impact" pitchFamily="34" charset="-122"/>
                <a:cs typeface="Impact" pitchFamily="34" charset="-120"/>
              </a:rPr>
              <a:t>LE PROCESSUS MÉTIER</a:t>
            </a:r>
            <a:endParaRPr lang="en-US" sz="3400" dirty="0"/>
          </a:p>
        </p:txBody>
      </p:sp>
      <p:sp>
        <p:nvSpPr>
          <p:cNvPr id="7" name="Text 5"/>
          <p:cNvSpPr txBox="1"/>
          <p:nvPr/>
        </p:nvSpPr>
        <p:spPr>
          <a:xfrm>
            <a:off x="2000250" y="1143000"/>
            <a:ext cx="8191500" cy="438150"/>
          </a:xfrm>
          <a:prstGeom prst="rect">
            <a:avLst/>
          </a:prstGeom>
          <a:noFill/>
          <a:ln/>
        </p:spPr>
        <p:txBody>
          <a:bodyPr wrap="square" lIns="0" tIns="0" rIns="0" bIns="0" rtlCol="0" anchor="t"/>
          <a:lstStyle/>
          <a:p>
            <a:pPr algn="ctr" indent="0" marL="0">
              <a:buNone/>
            </a:pPr>
            <a:r>
              <a:rPr lang="en-US" sz="1350" dirty="0">
                <a:solidFill>
                  <a:srgbClr val="E6DCBE"/>
                </a:solidFill>
                <a:latin typeface="Arial" pitchFamily="34" charset="0"/>
                <a:ea typeface="Arial" pitchFamily="34" charset="-122"/>
                <a:cs typeface="Arial" pitchFamily="34" charset="-120"/>
              </a:rPr>
              <a:t>Le parcours complet, et l'endroit précis où il sort de notre application.</a:t>
            </a:r>
            <a:endParaRPr lang="en-US" sz="1350" dirty="0"/>
          </a:p>
        </p:txBody>
      </p:sp>
      <p:sp>
        <p:nvSpPr>
          <p:cNvPr id="9" name="Shape 6"/>
          <p:cNvSpPr/>
          <p:nvPr/>
        </p:nvSpPr>
        <p:spPr>
          <a:xfrm>
            <a:off x="571500" y="1771650"/>
            <a:ext cx="6667500" cy="3238500"/>
          </a:xfrm>
          <a:prstGeom prst="rect">
            <a:avLst/>
          </a:prstGeom>
          <a:solidFill>
            <a:srgbClr val="F4E3AB"/>
          </a:solidFill>
          <a:ln/>
          <a:effectLst>
            <a:outerShdw sx="100000" sy="100000" kx="0" ky="0" algn="bl" rotWithShape="0" blurRad="101600" dist="57150" dir="2700000">
              <a:srgbClr val="A02C1E">
                <a:alpha val="100000"/>
              </a:srgbClr>
            </a:outerShdw>
          </a:effectLst>
        </p:spPr>
      </p:sp>
      <p:pic>
        <p:nvPicPr>
          <p:cNvPr id="10" name="Image 0" descr="bpmn.jpg">    </p:cNvPr>
          <p:cNvPicPr>
            <a:picLocks noChangeAspect="1"/>
          </p:cNvPicPr>
          <p:nvPr/>
        </p:nvPicPr>
        <p:blipFill>
          <a:blip r:embed="rId2"/>
          <a:srcRect l="0" r="0" t="0" b="0"/>
          <a:stretch/>
        </p:blipFill>
        <p:spPr>
          <a:xfrm>
            <a:off x="647700" y="1847850"/>
            <a:ext cx="6515100" cy="3086100"/>
          </a:xfrm>
          <a:prstGeom prst="rect">
            <a:avLst/>
          </a:prstGeom>
        </p:spPr>
      </p:pic>
      <p:sp>
        <p:nvSpPr>
          <p:cNvPr id="11" name="Shape 7"/>
          <p:cNvSpPr/>
          <p:nvPr/>
        </p:nvSpPr>
        <p:spPr>
          <a:xfrm>
            <a:off x="7543800" y="1771650"/>
            <a:ext cx="4076700" cy="1524000"/>
          </a:xfrm>
          <a:prstGeom prst="rect">
            <a:avLst/>
          </a:prstGeom>
          <a:solidFill>
            <a:srgbClr val="0B2C22"/>
          </a:solidFill>
          <a:ln w="9525">
            <a:solidFill>
              <a:srgbClr val="D9A521">
                <a:alpha val="40000"/>
              </a:srgbClr>
            </a:solidFill>
            <a:prstDash val="solid"/>
          </a:ln>
        </p:spPr>
      </p:sp>
      <p:sp>
        <p:nvSpPr>
          <p:cNvPr id="12" name="Text 8"/>
          <p:cNvSpPr txBox="1"/>
          <p:nvPr/>
        </p:nvSpPr>
        <p:spPr>
          <a:xfrm>
            <a:off x="7734300" y="1905000"/>
            <a:ext cx="3695700" cy="171450"/>
          </a:xfrm>
          <a:prstGeom prst="rect">
            <a:avLst/>
          </a:prstGeom>
          <a:noFill/>
          <a:ln/>
        </p:spPr>
        <p:txBody>
          <a:bodyPr wrap="square" lIns="0" tIns="0" rIns="0" bIns="0" rtlCol="0" anchor="ctr"/>
          <a:lstStyle/>
          <a:p>
            <a:pPr indent="0" marL="0">
              <a:buNone/>
            </a:pPr>
            <a:r>
              <a:rPr lang="en-US" sz="850" b="1" spc="160" kern="0" dirty="0">
                <a:solidFill>
                  <a:srgbClr val="D9A521"/>
                </a:solidFill>
                <a:latin typeface="Consolas" pitchFamily="34" charset="0"/>
                <a:ea typeface="Consolas" pitchFamily="34" charset="-122"/>
                <a:cs typeface="Consolas" pitchFamily="34" charset="-120"/>
              </a:rPr>
              <a:t>CE QUI EST À NOUS</a:t>
            </a:r>
            <a:endParaRPr lang="en-US" sz="850" dirty="0"/>
          </a:p>
        </p:txBody>
      </p:sp>
      <p:sp>
        <p:nvSpPr>
          <p:cNvPr id="13" name="Text 9"/>
          <p:cNvSpPr txBox="1"/>
          <p:nvPr/>
        </p:nvSpPr>
        <p:spPr>
          <a:xfrm>
            <a:off x="7734300" y="2152650"/>
            <a:ext cx="3695700" cy="100965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Le dossier, les cotes, la mise, la résolution, la demande de rendez-vous.</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Aucune décision médicale : nous proposons des probabilités.</a:t>
            </a:r>
            <a:endParaRPr lang="en-US" sz="1050" dirty="0"/>
          </a:p>
        </p:txBody>
      </p:sp>
      <p:sp>
        <p:nvSpPr>
          <p:cNvPr id="14" name="Shape 10"/>
          <p:cNvSpPr/>
          <p:nvPr/>
        </p:nvSpPr>
        <p:spPr>
          <a:xfrm>
            <a:off x="7543800" y="3486150"/>
            <a:ext cx="4076700" cy="1524000"/>
          </a:xfrm>
          <a:prstGeom prst="rect">
            <a:avLst/>
          </a:prstGeom>
          <a:solidFill>
            <a:srgbClr val="0B2C22"/>
          </a:solidFill>
          <a:ln w="9525">
            <a:solidFill>
              <a:srgbClr val="D9A521">
                <a:alpha val="40000"/>
              </a:srgbClr>
            </a:solidFill>
            <a:prstDash val="solid"/>
          </a:ln>
        </p:spPr>
      </p:sp>
      <p:sp>
        <p:nvSpPr>
          <p:cNvPr id="15" name="Text 11"/>
          <p:cNvSpPr txBox="1"/>
          <p:nvPr/>
        </p:nvSpPr>
        <p:spPr>
          <a:xfrm>
            <a:off x="7734300" y="3619500"/>
            <a:ext cx="3695700" cy="171450"/>
          </a:xfrm>
          <a:prstGeom prst="rect">
            <a:avLst/>
          </a:prstGeom>
          <a:noFill/>
          <a:ln/>
        </p:spPr>
        <p:txBody>
          <a:bodyPr wrap="square" lIns="0" tIns="0" rIns="0" bIns="0" rtlCol="0" anchor="ctr"/>
          <a:lstStyle/>
          <a:p>
            <a:pPr indent="0" marL="0">
              <a:buNone/>
            </a:pPr>
            <a:r>
              <a:rPr lang="en-US" sz="850" b="1" spc="160" kern="0" dirty="0">
                <a:solidFill>
                  <a:srgbClr val="D9A521"/>
                </a:solidFill>
                <a:latin typeface="Consolas" pitchFamily="34" charset="0"/>
                <a:ea typeface="Consolas" pitchFamily="34" charset="-122"/>
                <a:cs typeface="Consolas" pitchFamily="34" charset="-120"/>
              </a:rPr>
              <a:t>CE QUI NE L'EST PAS</a:t>
            </a:r>
            <a:endParaRPr lang="en-US" sz="850" dirty="0"/>
          </a:p>
        </p:txBody>
      </p:sp>
      <p:sp>
        <p:nvSpPr>
          <p:cNvPr id="16" name="Text 12"/>
          <p:cNvSpPr txBox="1"/>
          <p:nvPr/>
        </p:nvSpPr>
        <p:spPr>
          <a:xfrm>
            <a:off x="7734300" y="3867150"/>
            <a:ext cx="3695700" cy="100965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Le diagnostic officiel : l'acte du médecin, sur son application.</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Nous ne savons pas quand il arrive — nous interrogeons le serveur.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09550" y="6610350"/>
            <a:ext cx="3429000" cy="190500"/>
          </a:xfrm>
          <a:prstGeom prst="rect">
            <a:avLst/>
          </a:prstGeom>
          <a:noFill/>
          <a:ln/>
        </p:spPr>
        <p:txBody>
          <a:bodyPr wrap="square" lIns="0" tIns="0" rIns="0" bIns="0" rtlCol="0" anchor="ctr"/>
          <a:lstStyle/>
          <a:p>
            <a:pPr indent="0" marL="0">
              <a:buNone/>
            </a:pPr>
            <a:r>
              <a:rPr lang="en-US" sz="750" spc="140" kern="0" dirty="0">
                <a:solidFill>
                  <a:srgbClr val="D9A521"/>
                </a:solidFill>
                <a:latin typeface="Consolas" pitchFamily="34" charset="0"/>
                <a:ea typeface="Consolas" pitchFamily="34" charset="-122"/>
                <a:cs typeface="Consolas" pitchFamily="34" charset="-120"/>
              </a:rPr>
              <a:t>ROMANE · DÉVELOPPEUSE</a:t>
            </a:r>
            <a:endParaRPr lang="en-US" sz="750" dirty="0"/>
          </a:p>
        </p:txBody>
      </p:sp>
      <p:sp>
        <p:nvSpPr>
          <p:cNvPr id="3" name="Text 1"/>
          <p:cNvSpPr txBox="1"/>
          <p:nvPr/>
        </p:nvSpPr>
        <p:spPr>
          <a:xfrm>
            <a:off x="4000500" y="6610350"/>
            <a:ext cx="4191000" cy="190500"/>
          </a:xfrm>
          <a:prstGeom prst="rect">
            <a:avLst/>
          </a:prstGeom>
          <a:noFill/>
          <a:ln/>
        </p:spPr>
        <p:txBody>
          <a:bodyPr wrap="square" lIns="0" tIns="0" rIns="0" bIns="0" rtlCol="0" anchor="ctr"/>
          <a:lstStyle/>
          <a:p>
            <a:pPr algn="ct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4" name="Text 2"/>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≈55 s · 10:45</a:t>
            </a:r>
            <a:endParaRPr lang="en-US" sz="750" dirty="0"/>
          </a:p>
        </p:txBody>
      </p:sp>
      <p:sp>
        <p:nvSpPr>
          <p:cNvPr id="5" name="Text 3"/>
          <p:cNvSpPr txBox="1"/>
          <p:nvPr/>
        </p:nvSpPr>
        <p:spPr>
          <a:xfrm>
            <a:off x="571500" y="323850"/>
            <a:ext cx="11049000" cy="190500"/>
          </a:xfrm>
          <a:prstGeom prst="rect">
            <a:avLst/>
          </a:prstGeom>
          <a:noFill/>
          <a:ln/>
        </p:spPr>
        <p:txBody>
          <a:bodyPr wrap="square" lIns="0" tIns="0" rIns="0" bIns="0" rtlCol="0" anchor="ctr"/>
          <a:lstStyle/>
          <a:p>
            <a:pPr algn="ctr" indent="0" marL="0">
              <a:buNone/>
            </a:pPr>
            <a:r>
              <a:rPr lang="en-US" sz="850" b="1" spc="400" kern="0" dirty="0">
                <a:solidFill>
                  <a:srgbClr val="D9A521"/>
                </a:solidFill>
                <a:latin typeface="Consolas" pitchFamily="34" charset="0"/>
                <a:ea typeface="Consolas" pitchFamily="34" charset="-122"/>
                <a:cs typeface="Consolas" pitchFamily="34" charset="-120"/>
              </a:rPr>
              <a:t>04 · UTILISATION DE FHIR</a:t>
            </a:r>
            <a:endParaRPr lang="en-US" sz="850" dirty="0"/>
          </a:p>
        </p:txBody>
      </p:sp>
      <p:sp>
        <p:nvSpPr>
          <p:cNvPr id="6" name="Text 4"/>
          <p:cNvSpPr txBox="1"/>
          <p:nvPr/>
        </p:nvSpPr>
        <p:spPr>
          <a:xfrm>
            <a:off x="571500" y="514350"/>
            <a:ext cx="11049000" cy="609600"/>
          </a:xfrm>
          <a:prstGeom prst="rect">
            <a:avLst/>
          </a:prstGeom>
          <a:noFill/>
          <a:ln/>
          <a:effectLst>
            <a:outerShdw sx="100000" sy="100000" kx="0" ky="0" algn="bl" rotWithShape="0" blurRad="101600" dist="38100" dir="2700000">
              <a:srgbClr val="A02C1E">
                <a:alpha val="100000"/>
              </a:srgbClr>
            </a:outerShdw>
          </a:effectLst>
        </p:spPr>
        <p:txBody>
          <a:bodyPr wrap="square" lIns="0" tIns="0" rIns="0" bIns="0" rtlCol="0" anchor="ctr"/>
          <a:lstStyle/>
          <a:p>
            <a:pPr algn="ctr" indent="0" marL="0">
              <a:buNone/>
            </a:pPr>
            <a:r>
              <a:rPr lang="en-US" sz="3400" dirty="0">
                <a:solidFill>
                  <a:srgbClr val="F3E4B0"/>
                </a:solidFill>
                <a:latin typeface="Impact" pitchFamily="34" charset="0"/>
                <a:ea typeface="Impact" pitchFamily="34" charset="-122"/>
                <a:cs typeface="Impact" pitchFamily="34" charset="-120"/>
              </a:rPr>
              <a:t>DEUX APPLICATIONS, UN SERVEUR</a:t>
            </a:r>
            <a:endParaRPr lang="en-US" sz="3400" dirty="0"/>
          </a:p>
        </p:txBody>
      </p:sp>
      <p:sp>
        <p:nvSpPr>
          <p:cNvPr id="7" name="Text 5"/>
          <p:cNvSpPr txBox="1"/>
          <p:nvPr/>
        </p:nvSpPr>
        <p:spPr>
          <a:xfrm>
            <a:off x="2000250" y="1143000"/>
            <a:ext cx="8191500" cy="438150"/>
          </a:xfrm>
          <a:prstGeom prst="rect">
            <a:avLst/>
          </a:prstGeom>
          <a:noFill/>
          <a:ln/>
        </p:spPr>
        <p:txBody>
          <a:bodyPr wrap="square" lIns="0" tIns="0" rIns="0" bIns="0" rtlCol="0" anchor="t"/>
          <a:lstStyle/>
          <a:p>
            <a:pPr algn="ctr" indent="0" marL="0">
              <a:buNone/>
            </a:pPr>
            <a:r>
              <a:rPr lang="en-US" sz="1350" dirty="0">
                <a:solidFill>
                  <a:srgbClr val="E6DCBE"/>
                </a:solidFill>
                <a:latin typeface="Arial" pitchFamily="34" charset="0"/>
                <a:ea typeface="Arial" pitchFamily="34" charset="-122"/>
                <a:cs typeface="Arial" pitchFamily="34" charset="-120"/>
              </a:rPr>
              <a:t>Deux dépôts, deux déploiements, deux postes. Aucun canal direct.</a:t>
            </a:r>
            <a:endParaRPr lang="en-US" sz="1350" dirty="0"/>
          </a:p>
        </p:txBody>
      </p:sp>
      <p:sp>
        <p:nvSpPr>
          <p:cNvPr id="9" name="Shape 6"/>
          <p:cNvSpPr/>
          <p:nvPr/>
        </p:nvSpPr>
        <p:spPr>
          <a:xfrm>
            <a:off x="571500" y="1905000"/>
            <a:ext cx="2857500" cy="1428750"/>
          </a:xfrm>
          <a:prstGeom prst="rect">
            <a:avLst/>
          </a:prstGeom>
          <a:solidFill>
            <a:srgbClr val="F4E3AB"/>
          </a:solidFill>
          <a:ln w="19050">
            <a:solidFill>
              <a:srgbClr val="A02C1E"/>
            </a:solidFill>
            <a:prstDash val="solid"/>
          </a:ln>
        </p:spPr>
      </p:sp>
      <p:sp>
        <p:nvSpPr>
          <p:cNvPr id="10" name="Text 7"/>
          <p:cNvSpPr txBox="1"/>
          <p:nvPr/>
        </p:nvSpPr>
        <p:spPr>
          <a:xfrm>
            <a:off x="571500" y="2057400"/>
            <a:ext cx="2857500" cy="247650"/>
          </a:xfrm>
          <a:prstGeom prst="rect">
            <a:avLst/>
          </a:prstGeom>
          <a:noFill/>
          <a:ln/>
        </p:spPr>
        <p:txBody>
          <a:bodyPr wrap="square" lIns="0" tIns="0" rIns="0" bIns="0" rtlCol="0" anchor="ctr"/>
          <a:lstStyle/>
          <a:p>
            <a:pPr algn="ctr" indent="0" marL="0">
              <a:buNone/>
            </a:pPr>
            <a:r>
              <a:rPr lang="en-US" sz="1300" dirty="0">
                <a:solidFill>
                  <a:srgbClr val="A02C1E"/>
                </a:solidFill>
                <a:latin typeface="Impact" pitchFamily="34" charset="0"/>
                <a:ea typeface="Impact" pitchFamily="34" charset="-122"/>
                <a:cs typeface="Impact" pitchFamily="34" charset="-120"/>
              </a:rPr>
              <a:t>APPLICATION PATIENT</a:t>
            </a:r>
            <a:endParaRPr lang="en-US" sz="1300" dirty="0"/>
          </a:p>
        </p:txBody>
      </p:sp>
      <p:sp>
        <p:nvSpPr>
          <p:cNvPr id="11" name="Text 8"/>
          <p:cNvSpPr txBox="1"/>
          <p:nvPr/>
        </p:nvSpPr>
        <p:spPr>
          <a:xfrm>
            <a:off x="571500" y="2324100"/>
            <a:ext cx="2857500" cy="190500"/>
          </a:xfrm>
          <a:prstGeom prst="rect">
            <a:avLst/>
          </a:prstGeom>
          <a:noFill/>
          <a:ln/>
        </p:spPr>
        <p:txBody>
          <a:bodyPr wrap="square" lIns="0" tIns="0" rIns="0" bIns="0" rtlCol="0" anchor="ctr"/>
          <a:lstStyle/>
          <a:p>
            <a:pPr algn="ctr" indent="0" marL="0">
              <a:buNone/>
            </a:pPr>
            <a:r>
              <a:rPr lang="en-US" sz="900" dirty="0">
                <a:solidFill>
                  <a:srgbClr val="6B5A3E"/>
                </a:solidFill>
                <a:latin typeface="Consolas" pitchFamily="34" charset="0"/>
                <a:ea typeface="Consolas" pitchFamily="34" charset="-122"/>
                <a:cs typeface="Consolas" pitchFamily="34" charset="-120"/>
              </a:rPr>
              <a:t>medibet-fhir</a:t>
            </a:r>
            <a:endParaRPr lang="en-US" sz="900" dirty="0"/>
          </a:p>
        </p:txBody>
      </p:sp>
      <p:sp>
        <p:nvSpPr>
          <p:cNvPr id="12" name="Text 9"/>
          <p:cNvSpPr txBox="1"/>
          <p:nvPr/>
        </p:nvSpPr>
        <p:spPr>
          <a:xfrm>
            <a:off x="685800" y="2571750"/>
            <a:ext cx="2628900" cy="457200"/>
          </a:xfrm>
          <a:prstGeom prst="rect">
            <a:avLst/>
          </a:prstGeom>
          <a:noFill/>
          <a:ln/>
        </p:spPr>
        <p:txBody>
          <a:bodyPr wrap="square" lIns="0" tIns="0" rIns="0" bIns="0" rtlCol="0" anchor="t"/>
          <a:lstStyle/>
          <a:p>
            <a:pPr algn="ctr" indent="0" marL="0">
              <a:lnSpc>
                <a:spcPct val="115000"/>
              </a:lnSpc>
              <a:buNone/>
            </a:pPr>
            <a:r>
              <a:rPr lang="en-US" sz="1050" dirty="0">
                <a:solidFill>
                  <a:srgbClr val="2A2016"/>
                </a:solidFill>
                <a:latin typeface="Arial" pitchFamily="34" charset="0"/>
                <a:ea typeface="Arial" pitchFamily="34" charset="-122"/>
                <a:cs typeface="Arial" pitchFamily="34" charset="-120"/>
              </a:rPr>
              <a:t>Crée le Patient, place le pari,</a:t>
            </a:r>
            <a:endParaRPr lang="en-US" sz="1050" dirty="0"/>
          </a:p>
          <a:p>
            <a:pPr algn="ctr" indent="0" marL="0">
              <a:lnSpc>
                <a:spcPct val="115000"/>
              </a:lnSpc>
              <a:buNone/>
            </a:pPr>
            <a:r>
              <a:rPr lang="en-US" sz="1050" dirty="0">
                <a:solidFill>
                  <a:srgbClr val="2A2016"/>
                </a:solidFill>
                <a:latin typeface="Arial" pitchFamily="34" charset="0"/>
                <a:ea typeface="Arial" pitchFamily="34" charset="-122"/>
                <a:cs typeface="Arial" pitchFamily="34" charset="-120"/>
              </a:rPr>
              <a:t>lit l'Observation, demande le RDV</a:t>
            </a:r>
            <a:endParaRPr lang="en-US" sz="1050" dirty="0"/>
          </a:p>
        </p:txBody>
      </p:sp>
      <p:sp>
        <p:nvSpPr>
          <p:cNvPr id="13" name="Shape 10"/>
          <p:cNvSpPr/>
          <p:nvPr/>
        </p:nvSpPr>
        <p:spPr>
          <a:xfrm>
            <a:off x="4667250" y="1733550"/>
            <a:ext cx="2857500" cy="1771650"/>
          </a:xfrm>
          <a:prstGeom prst="rect">
            <a:avLst/>
          </a:prstGeom>
          <a:solidFill>
            <a:srgbClr val="061711"/>
          </a:solidFill>
          <a:ln w="19050">
            <a:solidFill>
              <a:srgbClr val="D9A521"/>
            </a:solidFill>
            <a:prstDash val="solid"/>
          </a:ln>
        </p:spPr>
      </p:sp>
      <p:sp>
        <p:nvSpPr>
          <p:cNvPr id="14" name="Text 11"/>
          <p:cNvSpPr txBox="1"/>
          <p:nvPr/>
        </p:nvSpPr>
        <p:spPr>
          <a:xfrm>
            <a:off x="4667250" y="1885950"/>
            <a:ext cx="2857500" cy="247650"/>
          </a:xfrm>
          <a:prstGeom prst="rect">
            <a:avLst/>
          </a:prstGeom>
          <a:noFill/>
          <a:ln/>
        </p:spPr>
        <p:txBody>
          <a:bodyPr wrap="square" lIns="0" tIns="0" rIns="0" bIns="0" rtlCol="0" anchor="ctr"/>
          <a:lstStyle/>
          <a:p>
            <a:pPr algn="ctr" indent="0" marL="0">
              <a:buNone/>
            </a:pPr>
            <a:r>
              <a:rPr lang="en-US" sz="1300" dirty="0">
                <a:solidFill>
                  <a:srgbClr val="F3E4B0"/>
                </a:solidFill>
                <a:latin typeface="Impact" pitchFamily="34" charset="0"/>
                <a:ea typeface="Impact" pitchFamily="34" charset="-122"/>
                <a:cs typeface="Impact" pitchFamily="34" charset="-120"/>
              </a:rPr>
              <a:t>SERVEUR FHIR DU TP</a:t>
            </a:r>
            <a:endParaRPr lang="en-US" sz="1300" dirty="0"/>
          </a:p>
        </p:txBody>
      </p:sp>
      <p:sp>
        <p:nvSpPr>
          <p:cNvPr id="15" name="Text 12"/>
          <p:cNvSpPr txBox="1"/>
          <p:nvPr/>
        </p:nvSpPr>
        <p:spPr>
          <a:xfrm>
            <a:off x="4667250" y="2152650"/>
            <a:ext cx="2857500" cy="190500"/>
          </a:xfrm>
          <a:prstGeom prst="rect">
            <a:avLst/>
          </a:prstGeom>
          <a:noFill/>
          <a:ln/>
        </p:spPr>
        <p:txBody>
          <a:bodyPr wrap="square" lIns="0" tIns="0" rIns="0" bIns="0" rtlCol="0" anchor="ctr"/>
          <a:lstStyle/>
          <a:p>
            <a:pPr algn="ctr" indent="0" marL="0">
              <a:buNone/>
            </a:pPr>
            <a:r>
              <a:rPr lang="en-US" sz="900" dirty="0">
                <a:solidFill>
                  <a:srgbClr val="D9A521"/>
                </a:solidFill>
                <a:latin typeface="Consolas" pitchFamily="34" charset="0"/>
                <a:ea typeface="Consolas" pitchFamily="34" charset="-122"/>
                <a:cs typeface="Consolas" pitchFamily="34" charset="-120"/>
              </a:rPr>
              <a:t>fhir.alliance4u.io</a:t>
            </a:r>
            <a:endParaRPr lang="en-US" sz="900" dirty="0"/>
          </a:p>
        </p:txBody>
      </p:sp>
      <p:sp>
        <p:nvSpPr>
          <p:cNvPr id="16" name="Text 13"/>
          <p:cNvSpPr txBox="1"/>
          <p:nvPr/>
        </p:nvSpPr>
        <p:spPr>
          <a:xfrm>
            <a:off x="4781550" y="2400300"/>
            <a:ext cx="2628900" cy="457200"/>
          </a:xfrm>
          <a:prstGeom prst="rect">
            <a:avLst/>
          </a:prstGeom>
          <a:noFill/>
          <a:ln/>
        </p:spPr>
        <p:txBody>
          <a:bodyPr wrap="square" lIns="0" tIns="0" rIns="0" bIns="0" rtlCol="0" anchor="t"/>
          <a:lstStyle/>
          <a:p>
            <a:pPr algn="ctr" indent="0" marL="0">
              <a:lnSpc>
                <a:spcPct val="115000"/>
              </a:lnSpc>
              <a:buNone/>
            </a:pPr>
            <a:r>
              <a:rPr lang="en-US" sz="1050" dirty="0">
                <a:solidFill>
                  <a:srgbClr val="CFDFD2"/>
                </a:solidFill>
                <a:latin typeface="Arial" pitchFamily="34" charset="0"/>
                <a:ea typeface="Arial" pitchFamily="34" charset="-122"/>
                <a:cs typeface="Arial" pitchFamily="34" charset="-120"/>
              </a:rPr>
              <a:t>Patient · Practitioner</a:t>
            </a:r>
            <a:endParaRPr lang="en-US" sz="1050" dirty="0"/>
          </a:p>
          <a:p>
            <a:pPr algn="ctr" indent="0" marL="0">
              <a:lnSpc>
                <a:spcPct val="115000"/>
              </a:lnSpc>
              <a:buNone/>
            </a:pPr>
            <a:r>
              <a:rPr lang="en-US" sz="1050" dirty="0">
                <a:solidFill>
                  <a:srgbClr val="CFDFD2"/>
                </a:solidFill>
                <a:latin typeface="Arial" pitchFamily="34" charset="0"/>
                <a:ea typeface="Arial" pitchFamily="34" charset="-122"/>
                <a:cs typeface="Arial" pitchFamily="34" charset="-120"/>
              </a:rPr>
              <a:t>Observation · Appointment</a:t>
            </a:r>
            <a:endParaRPr lang="en-US" sz="1050" dirty="0"/>
          </a:p>
        </p:txBody>
      </p:sp>
      <p:sp>
        <p:nvSpPr>
          <p:cNvPr id="17" name="Shape 14"/>
          <p:cNvSpPr/>
          <p:nvPr/>
        </p:nvSpPr>
        <p:spPr>
          <a:xfrm>
            <a:off x="8763000" y="1905000"/>
            <a:ext cx="2857500" cy="1428750"/>
          </a:xfrm>
          <a:prstGeom prst="rect">
            <a:avLst/>
          </a:prstGeom>
          <a:solidFill>
            <a:srgbClr val="F4E3AB"/>
          </a:solidFill>
          <a:ln w="19050">
            <a:solidFill>
              <a:srgbClr val="A02C1E"/>
            </a:solidFill>
            <a:prstDash val="solid"/>
          </a:ln>
        </p:spPr>
      </p:sp>
      <p:sp>
        <p:nvSpPr>
          <p:cNvPr id="18" name="Text 15"/>
          <p:cNvSpPr txBox="1"/>
          <p:nvPr/>
        </p:nvSpPr>
        <p:spPr>
          <a:xfrm>
            <a:off x="8763000" y="2057400"/>
            <a:ext cx="2857500" cy="247650"/>
          </a:xfrm>
          <a:prstGeom prst="rect">
            <a:avLst/>
          </a:prstGeom>
          <a:noFill/>
          <a:ln/>
        </p:spPr>
        <p:txBody>
          <a:bodyPr wrap="square" lIns="0" tIns="0" rIns="0" bIns="0" rtlCol="0" anchor="ctr"/>
          <a:lstStyle/>
          <a:p>
            <a:pPr algn="ctr" indent="0" marL="0">
              <a:buNone/>
            </a:pPr>
            <a:r>
              <a:rPr lang="en-US" sz="1300" dirty="0">
                <a:solidFill>
                  <a:srgbClr val="A02C1E"/>
                </a:solidFill>
                <a:latin typeface="Impact" pitchFamily="34" charset="0"/>
                <a:ea typeface="Impact" pitchFamily="34" charset="-122"/>
                <a:cs typeface="Impact" pitchFamily="34" charset="-120"/>
              </a:rPr>
              <a:t>APPLICATION MÉDECIN</a:t>
            </a:r>
            <a:endParaRPr lang="en-US" sz="1300" dirty="0"/>
          </a:p>
        </p:txBody>
      </p:sp>
      <p:sp>
        <p:nvSpPr>
          <p:cNvPr id="19" name="Text 16"/>
          <p:cNvSpPr txBox="1"/>
          <p:nvPr/>
        </p:nvSpPr>
        <p:spPr>
          <a:xfrm>
            <a:off x="8763000" y="2324100"/>
            <a:ext cx="2857500" cy="190500"/>
          </a:xfrm>
          <a:prstGeom prst="rect">
            <a:avLst/>
          </a:prstGeom>
          <a:noFill/>
          <a:ln/>
        </p:spPr>
        <p:txBody>
          <a:bodyPr wrap="square" lIns="0" tIns="0" rIns="0" bIns="0" rtlCol="0" anchor="ctr"/>
          <a:lstStyle/>
          <a:p>
            <a:pPr algn="ctr" indent="0" marL="0">
              <a:buNone/>
            </a:pPr>
            <a:r>
              <a:rPr lang="en-US" sz="900" dirty="0">
                <a:solidFill>
                  <a:srgbClr val="6B5A3E"/>
                </a:solidFill>
                <a:latin typeface="Consolas" pitchFamily="34" charset="0"/>
                <a:ea typeface="Consolas" pitchFamily="34" charset="-122"/>
                <a:cs typeface="Consolas" pitchFamily="34" charset="-120"/>
              </a:rPr>
              <a:t>medibet-medecin-fhir</a:t>
            </a:r>
            <a:endParaRPr lang="en-US" sz="900" dirty="0"/>
          </a:p>
        </p:txBody>
      </p:sp>
      <p:sp>
        <p:nvSpPr>
          <p:cNvPr id="20" name="Text 17"/>
          <p:cNvSpPr txBox="1"/>
          <p:nvPr/>
        </p:nvSpPr>
        <p:spPr>
          <a:xfrm>
            <a:off x="8877300" y="2571750"/>
            <a:ext cx="2628900" cy="457200"/>
          </a:xfrm>
          <a:prstGeom prst="rect">
            <a:avLst/>
          </a:prstGeom>
          <a:noFill/>
          <a:ln/>
        </p:spPr>
        <p:txBody>
          <a:bodyPr wrap="square" lIns="0" tIns="0" rIns="0" bIns="0" rtlCol="0" anchor="t"/>
          <a:lstStyle/>
          <a:p>
            <a:pPr algn="ctr" indent="0" marL="0">
              <a:lnSpc>
                <a:spcPct val="115000"/>
              </a:lnSpc>
              <a:buNone/>
            </a:pPr>
            <a:r>
              <a:rPr lang="en-US" sz="1050" dirty="0">
                <a:solidFill>
                  <a:srgbClr val="2A2016"/>
                </a:solidFill>
                <a:latin typeface="Arial" pitchFamily="34" charset="0"/>
                <a:ea typeface="Arial" pitchFamily="34" charset="-122"/>
                <a:cs typeface="Arial" pitchFamily="34" charset="-120"/>
              </a:rPr>
              <a:t>Lit le dossier, publie</a:t>
            </a:r>
            <a:endParaRPr lang="en-US" sz="1050" dirty="0"/>
          </a:p>
          <a:p>
            <a:pPr algn="ctr" indent="0" marL="0">
              <a:lnSpc>
                <a:spcPct val="115000"/>
              </a:lnSpc>
              <a:buNone/>
            </a:pPr>
            <a:r>
              <a:rPr lang="en-US" sz="1050" dirty="0">
                <a:solidFill>
                  <a:srgbClr val="2A2016"/>
                </a:solidFill>
                <a:latin typeface="Arial" pitchFamily="34" charset="0"/>
                <a:ea typeface="Arial" pitchFamily="34" charset="-122"/>
                <a:cs typeface="Arial" pitchFamily="34" charset="-120"/>
              </a:rPr>
              <a:t>l'Observation du diagnostic</a:t>
            </a:r>
            <a:endParaRPr lang="en-US" sz="1050" dirty="0"/>
          </a:p>
        </p:txBody>
      </p:sp>
      <p:sp>
        <p:nvSpPr>
          <p:cNvPr id="21" name="Text 18"/>
          <p:cNvSpPr txBox="1"/>
          <p:nvPr/>
        </p:nvSpPr>
        <p:spPr>
          <a:xfrm>
            <a:off x="4667250" y="3200400"/>
            <a:ext cx="2857500" cy="190500"/>
          </a:xfrm>
          <a:prstGeom prst="rect">
            <a:avLst/>
          </a:prstGeom>
          <a:noFill/>
          <a:ln/>
        </p:spPr>
        <p:txBody>
          <a:bodyPr wrap="square" lIns="0" tIns="0" rIns="0" bIns="0" rtlCol="0" anchor="ctr"/>
          <a:lstStyle/>
          <a:p>
            <a:pPr algn="ctr" indent="0" marL="0">
              <a:buNone/>
            </a:pPr>
            <a:r>
              <a:rPr lang="en-US" sz="950" dirty="0">
                <a:solidFill>
                  <a:srgbClr val="8FAE95"/>
                </a:solidFill>
                <a:latin typeface="Arial" pitchFamily="34" charset="0"/>
                <a:ea typeface="Arial" pitchFamily="34" charset="-122"/>
                <a:cs typeface="Arial" pitchFamily="34" charset="-120"/>
              </a:rPr>
              <a:t>seul canal d'échange</a:t>
            </a:r>
            <a:endParaRPr lang="en-US" sz="950" dirty="0"/>
          </a:p>
        </p:txBody>
      </p:sp>
      <p:sp>
        <p:nvSpPr>
          <p:cNvPr id="22" name="Shape 19"/>
          <p:cNvSpPr/>
          <p:nvPr/>
        </p:nvSpPr>
        <p:spPr>
          <a:xfrm>
            <a:off x="3486150" y="2619375"/>
            <a:ext cx="1123950" cy="0"/>
          </a:xfrm>
          <a:prstGeom prst="line">
            <a:avLst/>
          </a:prstGeom>
          <a:noFill/>
          <a:ln w="25400">
            <a:solidFill>
              <a:srgbClr val="D9A521"/>
            </a:solidFill>
            <a:prstDash val="solid"/>
            <a:headEnd type="triangle"/>
            <a:tailEnd type="triangle"/>
          </a:ln>
        </p:spPr>
      </p:sp>
      <p:sp>
        <p:nvSpPr>
          <p:cNvPr id="23" name="Shape 20"/>
          <p:cNvSpPr/>
          <p:nvPr/>
        </p:nvSpPr>
        <p:spPr>
          <a:xfrm>
            <a:off x="7581900" y="2619375"/>
            <a:ext cx="1123950" cy="0"/>
          </a:xfrm>
          <a:prstGeom prst="line">
            <a:avLst/>
          </a:prstGeom>
          <a:noFill/>
          <a:ln w="25400">
            <a:solidFill>
              <a:srgbClr val="D9A521"/>
            </a:solidFill>
            <a:prstDash val="solid"/>
            <a:headEnd type="triangle"/>
            <a:tailEnd type="triangle"/>
          </a:ln>
        </p:spPr>
      </p:sp>
      <p:sp>
        <p:nvSpPr>
          <p:cNvPr id="24" name="Shape 21"/>
          <p:cNvSpPr/>
          <p:nvPr/>
        </p:nvSpPr>
        <p:spPr>
          <a:xfrm>
            <a:off x="571500" y="3810000"/>
            <a:ext cx="11049000" cy="1219200"/>
          </a:xfrm>
          <a:prstGeom prst="rect">
            <a:avLst/>
          </a:prstGeom>
          <a:solidFill>
            <a:srgbClr val="0B2C22"/>
          </a:solidFill>
          <a:ln w="9525">
            <a:solidFill>
              <a:srgbClr val="D9A521">
                <a:alpha val="40000"/>
              </a:srgbClr>
            </a:solidFill>
            <a:prstDash val="solid"/>
          </a:ln>
        </p:spPr>
      </p:sp>
      <p:sp>
        <p:nvSpPr>
          <p:cNvPr id="25" name="Text 22"/>
          <p:cNvSpPr txBox="1"/>
          <p:nvPr/>
        </p:nvSpPr>
        <p:spPr>
          <a:xfrm>
            <a:off x="762000" y="3943350"/>
            <a:ext cx="10668000" cy="171450"/>
          </a:xfrm>
          <a:prstGeom prst="rect">
            <a:avLst/>
          </a:prstGeom>
          <a:noFill/>
          <a:ln/>
        </p:spPr>
        <p:txBody>
          <a:bodyPr wrap="square" lIns="0" tIns="0" rIns="0" bIns="0" rtlCol="0" anchor="ctr"/>
          <a:lstStyle/>
          <a:p>
            <a:pPr indent="0" marL="0">
              <a:buNone/>
            </a:pPr>
            <a:r>
              <a:rPr lang="en-US" sz="850" b="1" spc="160" kern="0" dirty="0">
                <a:solidFill>
                  <a:srgbClr val="D9A521"/>
                </a:solidFill>
                <a:latin typeface="Consolas" pitchFamily="34" charset="0"/>
                <a:ea typeface="Consolas" pitchFamily="34" charset="-122"/>
                <a:cs typeface="Consolas" pitchFamily="34" charset="-120"/>
              </a:rPr>
              <a:t>NOTRE PRINCIPALE CORRECTION DU SPRINT</a:t>
            </a:r>
            <a:endParaRPr lang="en-US" sz="850" dirty="0"/>
          </a:p>
        </p:txBody>
      </p:sp>
      <p:sp>
        <p:nvSpPr>
          <p:cNvPr id="26" name="Text 23"/>
          <p:cNvSpPr txBox="1"/>
          <p:nvPr/>
        </p:nvSpPr>
        <p:spPr>
          <a:xfrm>
            <a:off x="762000" y="4191000"/>
            <a:ext cx="10668000" cy="70485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Au départ, les deux rôles vivaient dans le même fichier : l'application marchait, mais elle ne démontrait rien.</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Nous avons séparé les deux codebases en cours de sprint — ça se voit sur le burndown, et c'est notre meilleure décision.</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Test de bout en bout passé : un dossier créé chez nous apparaît dans la file du médecin.</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09550" y="6610350"/>
            <a:ext cx="3429000" cy="190500"/>
          </a:xfrm>
          <a:prstGeom prst="rect">
            <a:avLst/>
          </a:prstGeom>
          <a:noFill/>
          <a:ln/>
        </p:spPr>
        <p:txBody>
          <a:bodyPr wrap="square" lIns="0" tIns="0" rIns="0" bIns="0" rtlCol="0" anchor="ctr"/>
          <a:lstStyle/>
          <a:p>
            <a:pPr indent="0" marL="0">
              <a:buNone/>
            </a:pPr>
            <a:r>
              <a:rPr lang="en-US" sz="750" spc="140" kern="0" dirty="0">
                <a:solidFill>
                  <a:srgbClr val="D9A521"/>
                </a:solidFill>
                <a:latin typeface="Consolas" pitchFamily="34" charset="0"/>
                <a:ea typeface="Consolas" pitchFamily="34" charset="-122"/>
                <a:cs typeface="Consolas" pitchFamily="34" charset="-120"/>
              </a:rPr>
              <a:t>ROMANE · DÉVELOPPEUSE</a:t>
            </a:r>
            <a:endParaRPr lang="en-US" sz="750" dirty="0"/>
          </a:p>
        </p:txBody>
      </p:sp>
      <p:sp>
        <p:nvSpPr>
          <p:cNvPr id="3" name="Text 1"/>
          <p:cNvSpPr txBox="1"/>
          <p:nvPr/>
        </p:nvSpPr>
        <p:spPr>
          <a:xfrm>
            <a:off x="4000500" y="6610350"/>
            <a:ext cx="4191000" cy="190500"/>
          </a:xfrm>
          <a:prstGeom prst="rect">
            <a:avLst/>
          </a:prstGeom>
          <a:noFill/>
          <a:ln/>
        </p:spPr>
        <p:txBody>
          <a:bodyPr wrap="square" lIns="0" tIns="0" rIns="0" bIns="0" rtlCol="0" anchor="ctr"/>
          <a:lstStyle/>
          <a:p>
            <a:pPr algn="ct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4" name="Text 2"/>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≈65 s · 11:50</a:t>
            </a:r>
            <a:endParaRPr lang="en-US" sz="750" dirty="0"/>
          </a:p>
        </p:txBody>
      </p:sp>
      <p:sp>
        <p:nvSpPr>
          <p:cNvPr id="5" name="Text 3"/>
          <p:cNvSpPr txBox="1"/>
          <p:nvPr/>
        </p:nvSpPr>
        <p:spPr>
          <a:xfrm>
            <a:off x="571500" y="323850"/>
            <a:ext cx="11049000" cy="190500"/>
          </a:xfrm>
          <a:prstGeom prst="rect">
            <a:avLst/>
          </a:prstGeom>
          <a:noFill/>
          <a:ln/>
        </p:spPr>
        <p:txBody>
          <a:bodyPr wrap="square" lIns="0" tIns="0" rIns="0" bIns="0" rtlCol="0" anchor="ctr"/>
          <a:lstStyle/>
          <a:p>
            <a:pPr algn="ctr" indent="0" marL="0">
              <a:buNone/>
            </a:pPr>
            <a:r>
              <a:rPr lang="en-US" sz="850" b="1" spc="400" kern="0" dirty="0">
                <a:solidFill>
                  <a:srgbClr val="D9A521"/>
                </a:solidFill>
                <a:latin typeface="Consolas" pitchFamily="34" charset="0"/>
                <a:ea typeface="Consolas" pitchFamily="34" charset="-122"/>
                <a:cs typeface="Consolas" pitchFamily="34" charset="-120"/>
              </a:rPr>
              <a:t>04 · UTILISATION DE FHIR</a:t>
            </a:r>
            <a:endParaRPr lang="en-US" sz="850" dirty="0"/>
          </a:p>
        </p:txBody>
      </p:sp>
      <p:sp>
        <p:nvSpPr>
          <p:cNvPr id="6" name="Text 4"/>
          <p:cNvSpPr txBox="1"/>
          <p:nvPr/>
        </p:nvSpPr>
        <p:spPr>
          <a:xfrm>
            <a:off x="571500" y="514350"/>
            <a:ext cx="11049000" cy="609600"/>
          </a:xfrm>
          <a:prstGeom prst="rect">
            <a:avLst/>
          </a:prstGeom>
          <a:noFill/>
          <a:ln/>
          <a:effectLst>
            <a:outerShdw sx="100000" sy="100000" kx="0" ky="0" algn="bl" rotWithShape="0" blurRad="101600" dist="38100" dir="2700000">
              <a:srgbClr val="A02C1E">
                <a:alpha val="100000"/>
              </a:srgbClr>
            </a:outerShdw>
          </a:effectLst>
        </p:spPr>
        <p:txBody>
          <a:bodyPr wrap="square" lIns="0" tIns="0" rIns="0" bIns="0" rtlCol="0" anchor="ctr"/>
          <a:lstStyle/>
          <a:p>
            <a:pPr algn="ctr" indent="0" marL="0">
              <a:buNone/>
            </a:pPr>
            <a:r>
              <a:rPr lang="en-US" sz="3400" dirty="0">
                <a:solidFill>
                  <a:srgbClr val="F3E4B0"/>
                </a:solidFill>
                <a:latin typeface="Impact" pitchFamily="34" charset="0"/>
                <a:ea typeface="Impact" pitchFamily="34" charset="-122"/>
                <a:cs typeface="Impact" pitchFamily="34" charset="-120"/>
              </a:rPr>
              <a:t>LES TROIS ÉTAPES DU TP</a:t>
            </a:r>
            <a:endParaRPr lang="en-US" sz="3400" dirty="0"/>
          </a:p>
        </p:txBody>
      </p:sp>
      <p:sp>
        <p:nvSpPr>
          <p:cNvPr id="7" name="Text 5"/>
          <p:cNvSpPr txBox="1"/>
          <p:nvPr/>
        </p:nvSpPr>
        <p:spPr>
          <a:xfrm>
            <a:off x="2000250" y="1143000"/>
            <a:ext cx="8191500" cy="438150"/>
          </a:xfrm>
          <a:prstGeom prst="rect">
            <a:avLst/>
          </a:prstGeom>
          <a:noFill/>
          <a:ln/>
        </p:spPr>
        <p:txBody>
          <a:bodyPr wrap="square" lIns="0" tIns="0" rIns="0" bIns="0" rtlCol="0" anchor="t"/>
          <a:lstStyle/>
          <a:p>
            <a:pPr algn="ctr" indent="0" marL="0">
              <a:buNone/>
            </a:pPr>
            <a:r>
              <a:rPr lang="en-US" sz="1350" dirty="0">
                <a:solidFill>
                  <a:srgbClr val="E6DCBE"/>
                </a:solidFill>
                <a:latin typeface="Arial" pitchFamily="34" charset="0"/>
                <a:ea typeface="Arial" pitchFamily="34" charset="-122"/>
                <a:cs typeface="Arial" pitchFamily="34" charset="-120"/>
              </a:rPr>
              <a:t>L'énoncé demandait trois échanges. Voici comment chacun se traduit chez nous.</a:t>
            </a:r>
            <a:endParaRPr lang="en-US" sz="1350" dirty="0"/>
          </a:p>
        </p:txBody>
      </p:sp>
      <p:sp>
        <p:nvSpPr>
          <p:cNvPr id="9" name="Text 6"/>
          <p:cNvSpPr txBox="1"/>
          <p:nvPr/>
        </p:nvSpPr>
        <p:spPr>
          <a:xfrm>
            <a:off x="676275" y="1866900"/>
            <a:ext cx="1082040" cy="190500"/>
          </a:xfrm>
          <a:prstGeom prst="rect">
            <a:avLst/>
          </a:prstGeom>
          <a:noFill/>
          <a:ln/>
        </p:spPr>
        <p:txBody>
          <a:bodyPr wrap="square" lIns="0" tIns="0" rIns="0" bIns="0" rtlCol="0" anchor="ctr"/>
          <a:lstStyle/>
          <a:p>
            <a:pPr indent="0" marL="0">
              <a:buNone/>
            </a:pPr>
            <a:r>
              <a:rPr lang="en-US" sz="800" b="1" spc="160" kern="0" dirty="0">
                <a:solidFill>
                  <a:srgbClr val="D9A521"/>
                </a:solidFill>
                <a:latin typeface="Consolas" pitchFamily="34" charset="0"/>
                <a:ea typeface="Consolas" pitchFamily="34" charset="-122"/>
                <a:cs typeface="Consolas" pitchFamily="34" charset="-120"/>
              </a:rPr>
              <a:t>ÉTAPE</a:t>
            </a:r>
            <a:endParaRPr lang="en-US" sz="800" dirty="0"/>
          </a:p>
        </p:txBody>
      </p:sp>
      <p:sp>
        <p:nvSpPr>
          <p:cNvPr id="10" name="Text 7"/>
          <p:cNvSpPr txBox="1"/>
          <p:nvPr/>
        </p:nvSpPr>
        <p:spPr>
          <a:xfrm>
            <a:off x="1786890" y="1866900"/>
            <a:ext cx="1855470" cy="190500"/>
          </a:xfrm>
          <a:prstGeom prst="rect">
            <a:avLst/>
          </a:prstGeom>
          <a:noFill/>
          <a:ln/>
        </p:spPr>
        <p:txBody>
          <a:bodyPr wrap="square" lIns="0" tIns="0" rIns="0" bIns="0" rtlCol="0" anchor="ctr"/>
          <a:lstStyle/>
          <a:p>
            <a:pPr indent="0" marL="0">
              <a:buNone/>
            </a:pPr>
            <a:r>
              <a:rPr lang="en-US" sz="800" b="1" spc="160" kern="0" dirty="0">
                <a:solidFill>
                  <a:srgbClr val="D9A521"/>
                </a:solidFill>
                <a:latin typeface="Consolas" pitchFamily="34" charset="0"/>
                <a:ea typeface="Consolas" pitchFamily="34" charset="-122"/>
                <a:cs typeface="Consolas" pitchFamily="34" charset="-120"/>
              </a:rPr>
              <a:t>RESSOURCE</a:t>
            </a:r>
            <a:endParaRPr lang="en-US" sz="800" dirty="0"/>
          </a:p>
        </p:txBody>
      </p:sp>
      <p:sp>
        <p:nvSpPr>
          <p:cNvPr id="11" name="Text 8"/>
          <p:cNvSpPr txBox="1"/>
          <p:nvPr/>
        </p:nvSpPr>
        <p:spPr>
          <a:xfrm>
            <a:off x="3775710" y="1866900"/>
            <a:ext cx="2297430" cy="190500"/>
          </a:xfrm>
          <a:prstGeom prst="rect">
            <a:avLst/>
          </a:prstGeom>
          <a:noFill/>
          <a:ln/>
        </p:spPr>
        <p:txBody>
          <a:bodyPr wrap="square" lIns="0" tIns="0" rIns="0" bIns="0" rtlCol="0" anchor="ctr"/>
          <a:lstStyle/>
          <a:p>
            <a:pPr indent="0" marL="0">
              <a:buNone/>
            </a:pPr>
            <a:r>
              <a:rPr lang="en-US" sz="800" b="1" spc="160" kern="0" dirty="0">
                <a:solidFill>
                  <a:srgbClr val="D9A521"/>
                </a:solidFill>
                <a:latin typeface="Consolas" pitchFamily="34" charset="0"/>
                <a:ea typeface="Consolas" pitchFamily="34" charset="-122"/>
                <a:cs typeface="Consolas" pitchFamily="34" charset="-120"/>
              </a:rPr>
              <a:t>MÉTHODE</a:t>
            </a:r>
            <a:endParaRPr lang="en-US" sz="800" dirty="0"/>
          </a:p>
        </p:txBody>
      </p:sp>
      <p:sp>
        <p:nvSpPr>
          <p:cNvPr id="12" name="Text 9"/>
          <p:cNvSpPr txBox="1"/>
          <p:nvPr/>
        </p:nvSpPr>
        <p:spPr>
          <a:xfrm>
            <a:off x="6206490" y="1866900"/>
            <a:ext cx="5280660" cy="190500"/>
          </a:xfrm>
          <a:prstGeom prst="rect">
            <a:avLst/>
          </a:prstGeom>
          <a:noFill/>
          <a:ln/>
        </p:spPr>
        <p:txBody>
          <a:bodyPr wrap="square" lIns="0" tIns="0" rIns="0" bIns="0" rtlCol="0" anchor="ctr"/>
          <a:lstStyle/>
          <a:p>
            <a:pPr indent="0" marL="0">
              <a:buNone/>
            </a:pPr>
            <a:r>
              <a:rPr lang="en-US" sz="800" b="1" spc="160" kern="0" dirty="0">
                <a:solidFill>
                  <a:srgbClr val="D9A521"/>
                </a:solidFill>
                <a:latin typeface="Consolas" pitchFamily="34" charset="0"/>
                <a:ea typeface="Consolas" pitchFamily="34" charset="-122"/>
                <a:cs typeface="Consolas" pitchFamily="34" charset="-120"/>
              </a:rPr>
              <a:t>CE QUE ÇA FAIT CHEZ NOUS</a:t>
            </a:r>
            <a:endParaRPr lang="en-US" sz="800" dirty="0"/>
          </a:p>
        </p:txBody>
      </p:sp>
      <p:sp>
        <p:nvSpPr>
          <p:cNvPr id="13" name="Shape 10"/>
          <p:cNvSpPr/>
          <p:nvPr/>
        </p:nvSpPr>
        <p:spPr>
          <a:xfrm>
            <a:off x="571500" y="2095500"/>
            <a:ext cx="11049000" cy="0"/>
          </a:xfrm>
          <a:prstGeom prst="line">
            <a:avLst/>
          </a:prstGeom>
          <a:noFill/>
          <a:ln w="9525">
            <a:solidFill>
              <a:srgbClr val="D9A521">
                <a:alpha val="55000"/>
              </a:srgbClr>
            </a:solidFill>
            <a:prstDash val="solid"/>
          </a:ln>
        </p:spPr>
      </p:sp>
      <p:sp>
        <p:nvSpPr>
          <p:cNvPr id="14" name="Text 11"/>
          <p:cNvSpPr txBox="1"/>
          <p:nvPr/>
        </p:nvSpPr>
        <p:spPr>
          <a:xfrm>
            <a:off x="676275" y="2152650"/>
            <a:ext cx="1082040" cy="438150"/>
          </a:xfrm>
          <a:prstGeom prst="rect">
            <a:avLst/>
          </a:prstGeom>
          <a:noFill/>
          <a:ln/>
        </p:spPr>
        <p:txBody>
          <a:bodyPr wrap="square" lIns="0" tIns="0" rIns="0" bIns="0" rtlCol="0" anchor="ctr"/>
          <a:lstStyle/>
          <a:p>
            <a:pPr indent="0" marL="0">
              <a:lnSpc>
                <a:spcPct val="110000"/>
              </a:lnSpc>
              <a:buNone/>
            </a:pPr>
            <a:r>
              <a:rPr lang="en-US" sz="1150" dirty="0">
                <a:solidFill>
                  <a:srgbClr val="F3E4B0"/>
                </a:solidFill>
                <a:latin typeface="Impact" pitchFamily="34" charset="0"/>
                <a:ea typeface="Impact" pitchFamily="34" charset="-122"/>
                <a:cs typeface="Impact" pitchFamily="34" charset="-120"/>
              </a:rPr>
              <a:t>Step 1</a:t>
            </a:r>
            <a:endParaRPr lang="en-US" sz="1150" dirty="0"/>
          </a:p>
        </p:txBody>
      </p:sp>
      <p:sp>
        <p:nvSpPr>
          <p:cNvPr id="15" name="Text 12"/>
          <p:cNvSpPr txBox="1"/>
          <p:nvPr/>
        </p:nvSpPr>
        <p:spPr>
          <a:xfrm>
            <a:off x="1786890" y="2152650"/>
            <a:ext cx="1855470" cy="4381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Patient</a:t>
            </a:r>
            <a:endParaRPr lang="en-US" sz="1050" dirty="0"/>
          </a:p>
        </p:txBody>
      </p:sp>
      <p:sp>
        <p:nvSpPr>
          <p:cNvPr id="16" name="Text 13"/>
          <p:cNvSpPr txBox="1"/>
          <p:nvPr/>
        </p:nvSpPr>
        <p:spPr>
          <a:xfrm>
            <a:off x="3775710" y="2152650"/>
            <a:ext cx="2297430" cy="4381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POST puis GET</a:t>
            </a:r>
            <a:endParaRPr lang="en-US" sz="1050" dirty="0"/>
          </a:p>
        </p:txBody>
      </p:sp>
      <p:sp>
        <p:nvSpPr>
          <p:cNvPr id="17" name="Text 14"/>
          <p:cNvSpPr txBox="1"/>
          <p:nvPr/>
        </p:nvSpPr>
        <p:spPr>
          <a:xfrm>
            <a:off x="6206490" y="2152650"/>
            <a:ext cx="5280660" cy="4381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L'identité FHIR du joueur, créée une fois puis relue à chaque mise</a:t>
            </a:r>
            <a:endParaRPr lang="en-US" sz="1050" dirty="0"/>
          </a:p>
        </p:txBody>
      </p:sp>
      <p:sp>
        <p:nvSpPr>
          <p:cNvPr id="18" name="Shape 15"/>
          <p:cNvSpPr/>
          <p:nvPr/>
        </p:nvSpPr>
        <p:spPr>
          <a:xfrm>
            <a:off x="571500" y="2590800"/>
            <a:ext cx="11049000" cy="0"/>
          </a:xfrm>
          <a:prstGeom prst="line">
            <a:avLst/>
          </a:prstGeom>
          <a:noFill/>
          <a:ln w="6350">
            <a:solidFill>
              <a:srgbClr val="FFFFFF">
                <a:alpha val="12000"/>
              </a:srgbClr>
            </a:solidFill>
            <a:prstDash val="solid"/>
          </a:ln>
        </p:spPr>
      </p:sp>
      <p:sp>
        <p:nvSpPr>
          <p:cNvPr id="19" name="Text 16"/>
          <p:cNvSpPr txBox="1"/>
          <p:nvPr/>
        </p:nvSpPr>
        <p:spPr>
          <a:xfrm>
            <a:off x="676275" y="2609850"/>
            <a:ext cx="1082040" cy="438150"/>
          </a:xfrm>
          <a:prstGeom prst="rect">
            <a:avLst/>
          </a:prstGeom>
          <a:noFill/>
          <a:ln/>
        </p:spPr>
        <p:txBody>
          <a:bodyPr wrap="square" lIns="0" tIns="0" rIns="0" bIns="0" rtlCol="0" anchor="ctr"/>
          <a:lstStyle/>
          <a:p>
            <a:pPr indent="0" marL="0">
              <a:lnSpc>
                <a:spcPct val="110000"/>
              </a:lnSpc>
              <a:buNone/>
            </a:pPr>
            <a:r>
              <a:rPr lang="en-US" sz="1150" dirty="0">
                <a:solidFill>
                  <a:srgbClr val="F3E4B0"/>
                </a:solidFill>
                <a:latin typeface="Impact" pitchFamily="34" charset="0"/>
                <a:ea typeface="Impact" pitchFamily="34" charset="-122"/>
                <a:cs typeface="Impact" pitchFamily="34" charset="-120"/>
              </a:rPr>
              <a:t>Step 1</a:t>
            </a:r>
            <a:endParaRPr lang="en-US" sz="1150" dirty="0"/>
          </a:p>
        </p:txBody>
      </p:sp>
      <p:sp>
        <p:nvSpPr>
          <p:cNvPr id="20" name="Text 17"/>
          <p:cNvSpPr txBox="1"/>
          <p:nvPr/>
        </p:nvSpPr>
        <p:spPr>
          <a:xfrm>
            <a:off x="1786890" y="2609850"/>
            <a:ext cx="1855470" cy="4381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Practitioner</a:t>
            </a:r>
            <a:endParaRPr lang="en-US" sz="1050" dirty="0"/>
          </a:p>
        </p:txBody>
      </p:sp>
      <p:sp>
        <p:nvSpPr>
          <p:cNvPr id="21" name="Text 18"/>
          <p:cNvSpPr txBox="1"/>
          <p:nvPr/>
        </p:nvSpPr>
        <p:spPr>
          <a:xfrm>
            <a:off x="3775710" y="2609850"/>
            <a:ext cx="2297430" cy="4381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GET</a:t>
            </a:r>
            <a:endParaRPr lang="en-US" sz="1050" dirty="0"/>
          </a:p>
        </p:txBody>
      </p:sp>
      <p:sp>
        <p:nvSpPr>
          <p:cNvPr id="22" name="Text 19"/>
          <p:cNvSpPr txBox="1"/>
          <p:nvPr/>
        </p:nvSpPr>
        <p:spPr>
          <a:xfrm>
            <a:off x="6206490" y="2609850"/>
            <a:ext cx="5280660" cy="4381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Le médecin, lu par son application avant de statuer</a:t>
            </a:r>
            <a:endParaRPr lang="en-US" sz="1050" dirty="0"/>
          </a:p>
        </p:txBody>
      </p:sp>
      <p:sp>
        <p:nvSpPr>
          <p:cNvPr id="23" name="Shape 20"/>
          <p:cNvSpPr/>
          <p:nvPr/>
        </p:nvSpPr>
        <p:spPr>
          <a:xfrm>
            <a:off x="571500" y="3048000"/>
            <a:ext cx="11049000" cy="0"/>
          </a:xfrm>
          <a:prstGeom prst="line">
            <a:avLst/>
          </a:prstGeom>
          <a:noFill/>
          <a:ln w="6350">
            <a:solidFill>
              <a:srgbClr val="FFFFFF">
                <a:alpha val="12000"/>
              </a:srgbClr>
            </a:solidFill>
            <a:prstDash val="solid"/>
          </a:ln>
        </p:spPr>
      </p:sp>
      <p:sp>
        <p:nvSpPr>
          <p:cNvPr id="24" name="Text 21"/>
          <p:cNvSpPr txBox="1"/>
          <p:nvPr/>
        </p:nvSpPr>
        <p:spPr>
          <a:xfrm>
            <a:off x="676275" y="3067050"/>
            <a:ext cx="1082040" cy="438150"/>
          </a:xfrm>
          <a:prstGeom prst="rect">
            <a:avLst/>
          </a:prstGeom>
          <a:noFill/>
          <a:ln/>
        </p:spPr>
        <p:txBody>
          <a:bodyPr wrap="square" lIns="0" tIns="0" rIns="0" bIns="0" rtlCol="0" anchor="ctr"/>
          <a:lstStyle/>
          <a:p>
            <a:pPr indent="0" marL="0">
              <a:lnSpc>
                <a:spcPct val="110000"/>
              </a:lnSpc>
              <a:buNone/>
            </a:pPr>
            <a:r>
              <a:rPr lang="en-US" sz="1150" dirty="0">
                <a:solidFill>
                  <a:srgbClr val="F3E4B0"/>
                </a:solidFill>
                <a:latin typeface="Impact" pitchFamily="34" charset="0"/>
                <a:ea typeface="Impact" pitchFamily="34" charset="-122"/>
                <a:cs typeface="Impact" pitchFamily="34" charset="-120"/>
              </a:rPr>
              <a:t>Step 2</a:t>
            </a:r>
            <a:endParaRPr lang="en-US" sz="1150" dirty="0"/>
          </a:p>
        </p:txBody>
      </p:sp>
      <p:sp>
        <p:nvSpPr>
          <p:cNvPr id="25" name="Text 22"/>
          <p:cNvSpPr txBox="1"/>
          <p:nvPr/>
        </p:nvSpPr>
        <p:spPr>
          <a:xfrm>
            <a:off x="1786890" y="3067050"/>
            <a:ext cx="1855470" cy="4381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Observation</a:t>
            </a:r>
            <a:endParaRPr lang="en-US" sz="1050" dirty="0"/>
          </a:p>
        </p:txBody>
      </p:sp>
      <p:sp>
        <p:nvSpPr>
          <p:cNvPr id="26" name="Text 23"/>
          <p:cNvSpPr txBox="1"/>
          <p:nvPr/>
        </p:nvSpPr>
        <p:spPr>
          <a:xfrm>
            <a:off x="3775710" y="3067050"/>
            <a:ext cx="2297430" cy="4381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POST côté Médecin</a:t>
            </a:r>
            <a:endParaRPr lang="en-US" sz="1050" dirty="0"/>
          </a:p>
        </p:txBody>
      </p:sp>
      <p:sp>
        <p:nvSpPr>
          <p:cNvPr id="27" name="Text 24"/>
          <p:cNvSpPr txBox="1"/>
          <p:nvPr/>
        </p:nvSpPr>
        <p:spPr>
          <a:xfrm>
            <a:off x="6206490" y="3067050"/>
            <a:ext cx="5280660" cy="4381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Le diagnostic officiel, écrit sur le serveur</a:t>
            </a:r>
            <a:endParaRPr lang="en-US" sz="1050" dirty="0"/>
          </a:p>
        </p:txBody>
      </p:sp>
      <p:sp>
        <p:nvSpPr>
          <p:cNvPr id="28" name="Shape 25"/>
          <p:cNvSpPr/>
          <p:nvPr/>
        </p:nvSpPr>
        <p:spPr>
          <a:xfrm>
            <a:off x="571500" y="3505200"/>
            <a:ext cx="11049000" cy="0"/>
          </a:xfrm>
          <a:prstGeom prst="line">
            <a:avLst/>
          </a:prstGeom>
          <a:noFill/>
          <a:ln w="6350">
            <a:solidFill>
              <a:srgbClr val="FFFFFF">
                <a:alpha val="12000"/>
              </a:srgbClr>
            </a:solidFill>
            <a:prstDash val="solid"/>
          </a:ln>
        </p:spPr>
      </p:sp>
      <p:sp>
        <p:nvSpPr>
          <p:cNvPr id="29" name="Shape 26"/>
          <p:cNvSpPr/>
          <p:nvPr/>
        </p:nvSpPr>
        <p:spPr>
          <a:xfrm>
            <a:off x="571500" y="3524250"/>
            <a:ext cx="11049000" cy="438150"/>
          </a:xfrm>
          <a:prstGeom prst="rect">
            <a:avLst/>
          </a:prstGeom>
          <a:solidFill>
            <a:srgbClr val="F4E3AB">
              <a:alpha val="8000"/>
            </a:srgbClr>
          </a:solidFill>
          <a:ln/>
        </p:spPr>
      </p:sp>
      <p:sp>
        <p:nvSpPr>
          <p:cNvPr id="30" name="Shape 27"/>
          <p:cNvSpPr/>
          <p:nvPr/>
        </p:nvSpPr>
        <p:spPr>
          <a:xfrm>
            <a:off x="571500" y="3524250"/>
            <a:ext cx="28575" cy="438150"/>
          </a:xfrm>
          <a:prstGeom prst="rect">
            <a:avLst/>
          </a:prstGeom>
          <a:solidFill>
            <a:srgbClr val="D9A521"/>
          </a:solidFill>
          <a:ln/>
        </p:spPr>
      </p:sp>
      <p:sp>
        <p:nvSpPr>
          <p:cNvPr id="31" name="Text 28"/>
          <p:cNvSpPr txBox="1"/>
          <p:nvPr/>
        </p:nvSpPr>
        <p:spPr>
          <a:xfrm>
            <a:off x="676275" y="3524250"/>
            <a:ext cx="1082040" cy="438150"/>
          </a:xfrm>
          <a:prstGeom prst="rect">
            <a:avLst/>
          </a:prstGeom>
          <a:noFill/>
          <a:ln/>
        </p:spPr>
        <p:txBody>
          <a:bodyPr wrap="square" lIns="0" tIns="0" rIns="0" bIns="0" rtlCol="0" anchor="ctr"/>
          <a:lstStyle/>
          <a:p>
            <a:pPr indent="0" marL="0">
              <a:lnSpc>
                <a:spcPct val="110000"/>
              </a:lnSpc>
              <a:buNone/>
            </a:pPr>
            <a:r>
              <a:rPr lang="en-US" sz="1150" dirty="0">
                <a:solidFill>
                  <a:srgbClr val="F3E4B0"/>
                </a:solidFill>
                <a:latin typeface="Impact" pitchFamily="34" charset="0"/>
                <a:ea typeface="Impact" pitchFamily="34" charset="-122"/>
                <a:cs typeface="Impact" pitchFamily="34" charset="-120"/>
              </a:rPr>
              <a:t>Step 2</a:t>
            </a:r>
            <a:endParaRPr lang="en-US" sz="1150" dirty="0"/>
          </a:p>
        </p:txBody>
      </p:sp>
      <p:sp>
        <p:nvSpPr>
          <p:cNvPr id="32" name="Text 29"/>
          <p:cNvSpPr txBox="1"/>
          <p:nvPr/>
        </p:nvSpPr>
        <p:spPr>
          <a:xfrm>
            <a:off x="1786890" y="3524250"/>
            <a:ext cx="1855470" cy="4381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Observation</a:t>
            </a:r>
            <a:endParaRPr lang="en-US" sz="1050" dirty="0"/>
          </a:p>
        </p:txBody>
      </p:sp>
      <p:sp>
        <p:nvSpPr>
          <p:cNvPr id="33" name="Text 30"/>
          <p:cNvSpPr txBox="1"/>
          <p:nvPr/>
        </p:nvSpPr>
        <p:spPr>
          <a:xfrm>
            <a:off x="3775710" y="3524250"/>
            <a:ext cx="2297430" cy="4381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GET côté Patient</a:t>
            </a:r>
            <a:endParaRPr lang="en-US" sz="1050" dirty="0"/>
          </a:p>
        </p:txBody>
      </p:sp>
      <p:sp>
        <p:nvSpPr>
          <p:cNvPr id="34" name="Text 31"/>
          <p:cNvSpPr txBox="1"/>
          <p:nvPr/>
        </p:nvSpPr>
        <p:spPr>
          <a:xfrm>
            <a:off x="6206490" y="3524250"/>
            <a:ext cx="5280660" cy="4381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La relecture qui résout notre pari, depuis un autre poste</a:t>
            </a:r>
            <a:endParaRPr lang="en-US" sz="1050" dirty="0"/>
          </a:p>
        </p:txBody>
      </p:sp>
      <p:sp>
        <p:nvSpPr>
          <p:cNvPr id="35" name="Shape 32"/>
          <p:cNvSpPr/>
          <p:nvPr/>
        </p:nvSpPr>
        <p:spPr>
          <a:xfrm>
            <a:off x="571500" y="3962400"/>
            <a:ext cx="11049000" cy="0"/>
          </a:xfrm>
          <a:prstGeom prst="line">
            <a:avLst/>
          </a:prstGeom>
          <a:noFill/>
          <a:ln w="6350">
            <a:solidFill>
              <a:srgbClr val="FFFFFF">
                <a:alpha val="12000"/>
              </a:srgbClr>
            </a:solidFill>
            <a:prstDash val="solid"/>
          </a:ln>
        </p:spPr>
      </p:sp>
      <p:sp>
        <p:nvSpPr>
          <p:cNvPr id="36" name="Text 33"/>
          <p:cNvSpPr txBox="1"/>
          <p:nvPr/>
        </p:nvSpPr>
        <p:spPr>
          <a:xfrm>
            <a:off x="676275" y="3981450"/>
            <a:ext cx="1082040" cy="438150"/>
          </a:xfrm>
          <a:prstGeom prst="rect">
            <a:avLst/>
          </a:prstGeom>
          <a:noFill/>
          <a:ln/>
        </p:spPr>
        <p:txBody>
          <a:bodyPr wrap="square" lIns="0" tIns="0" rIns="0" bIns="0" rtlCol="0" anchor="ctr"/>
          <a:lstStyle/>
          <a:p>
            <a:pPr indent="0" marL="0">
              <a:lnSpc>
                <a:spcPct val="110000"/>
              </a:lnSpc>
              <a:buNone/>
            </a:pPr>
            <a:r>
              <a:rPr lang="en-US" sz="1150" dirty="0">
                <a:solidFill>
                  <a:srgbClr val="F3E4B0"/>
                </a:solidFill>
                <a:latin typeface="Impact" pitchFamily="34" charset="0"/>
                <a:ea typeface="Impact" pitchFamily="34" charset="-122"/>
                <a:cs typeface="Impact" pitchFamily="34" charset="-120"/>
              </a:rPr>
              <a:t>Step 3</a:t>
            </a:r>
            <a:endParaRPr lang="en-US" sz="1150" dirty="0"/>
          </a:p>
        </p:txBody>
      </p:sp>
      <p:sp>
        <p:nvSpPr>
          <p:cNvPr id="37" name="Text 34"/>
          <p:cNvSpPr txBox="1"/>
          <p:nvPr/>
        </p:nvSpPr>
        <p:spPr>
          <a:xfrm>
            <a:off x="1786890" y="3981450"/>
            <a:ext cx="1855470" cy="4381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Appointment</a:t>
            </a:r>
            <a:endParaRPr lang="en-US" sz="1050" dirty="0"/>
          </a:p>
        </p:txBody>
      </p:sp>
      <p:sp>
        <p:nvSpPr>
          <p:cNvPr id="38" name="Text 35"/>
          <p:cNvSpPr txBox="1"/>
          <p:nvPr/>
        </p:nvSpPr>
        <p:spPr>
          <a:xfrm>
            <a:off x="3775710" y="3981450"/>
            <a:ext cx="2297430" cy="4381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POST</a:t>
            </a:r>
            <a:endParaRPr lang="en-US" sz="1050" dirty="0"/>
          </a:p>
        </p:txBody>
      </p:sp>
      <p:sp>
        <p:nvSpPr>
          <p:cNvPr id="39" name="Text 36"/>
          <p:cNvSpPr txBox="1"/>
          <p:nvPr/>
        </p:nvSpPr>
        <p:spPr>
          <a:xfrm>
            <a:off x="6206490" y="3981450"/>
            <a:ext cx="5280660" cy="438150"/>
          </a:xfrm>
          <a:prstGeom prst="rect">
            <a:avLst/>
          </a:prstGeom>
          <a:noFill/>
          <a:ln/>
        </p:spPr>
        <p:txBody>
          <a:bodyPr wrap="square" lIns="0" tIns="0" rIns="0" bIns="0" rtlCol="0" anchor="ctr"/>
          <a:lstStyle/>
          <a:p>
            <a:pPr indent="0" marL="0">
              <a:lnSpc>
                <a:spcPct val="110000"/>
              </a:lnSpc>
              <a:buNone/>
            </a:pPr>
            <a:r>
              <a:rPr lang="en-US" sz="1050" dirty="0">
                <a:solidFill>
                  <a:srgbClr val="CFDFD2"/>
                </a:solidFill>
                <a:latin typeface="Arial" pitchFamily="34" charset="0"/>
                <a:ea typeface="Arial" pitchFamily="34" charset="-122"/>
                <a:cs typeface="Arial" pitchFamily="34" charset="-120"/>
              </a:rPr>
              <a:t>La demande de rendez-vous de suivi, après le verdict</a:t>
            </a:r>
            <a:endParaRPr lang="en-US" sz="1050" dirty="0"/>
          </a:p>
        </p:txBody>
      </p:sp>
      <p:sp>
        <p:nvSpPr>
          <p:cNvPr id="40" name="Shape 37"/>
          <p:cNvSpPr/>
          <p:nvPr/>
        </p:nvSpPr>
        <p:spPr>
          <a:xfrm>
            <a:off x="571500" y="4419600"/>
            <a:ext cx="11049000" cy="0"/>
          </a:xfrm>
          <a:prstGeom prst="line">
            <a:avLst/>
          </a:prstGeom>
          <a:noFill/>
          <a:ln w="6350">
            <a:solidFill>
              <a:srgbClr val="FFFFFF">
                <a:alpha val="12000"/>
              </a:srgbClr>
            </a:solidFill>
            <a:prstDash val="solid"/>
          </a:ln>
        </p:spPr>
      </p:sp>
      <p:sp>
        <p:nvSpPr>
          <p:cNvPr id="41" name="Text 38"/>
          <p:cNvSpPr txBox="1"/>
          <p:nvPr/>
        </p:nvSpPr>
        <p:spPr>
          <a:xfrm>
            <a:off x="571500" y="4591050"/>
            <a:ext cx="11049000" cy="419100"/>
          </a:xfrm>
          <a:prstGeom prst="rect">
            <a:avLst/>
          </a:prstGeom>
          <a:noFill/>
          <a:ln/>
        </p:spPr>
        <p:txBody>
          <a:bodyPr wrap="square" lIns="0" tIns="0" rIns="0" bIns="0" rtlCol="0" anchor="t"/>
          <a:lstStyle/>
          <a:p>
            <a:pPr indent="0" marL="0">
              <a:lnSpc>
                <a:spcPct val="120000"/>
              </a:lnSpc>
              <a:buNone/>
            </a:pPr>
            <a:r>
              <a:rPr lang="en-US" sz="1050" dirty="0">
                <a:solidFill>
                  <a:srgbClr val="8FAE95"/>
                </a:solidFill>
                <a:latin typeface="Arial" pitchFamily="34" charset="0"/>
                <a:ea typeface="Arial" pitchFamily="34" charset="-122"/>
                <a:cs typeface="Arial" pitchFamily="34" charset="-120"/>
              </a:rPr>
              <a:t>Aucune autre ressource clinique n'est appelée. L'état de jeu — dossiers, paris, CoinPot — passe par la ressource générique Basic, prévue par le standard pour ce qui n'a pas de type dédié.</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09550" y="6610350"/>
            <a:ext cx="3429000" cy="190500"/>
          </a:xfrm>
          <a:prstGeom prst="rect">
            <a:avLst/>
          </a:prstGeom>
          <a:noFill/>
          <a:ln/>
        </p:spPr>
        <p:txBody>
          <a:bodyPr wrap="square" lIns="0" tIns="0" rIns="0" bIns="0" rtlCol="0" anchor="ctr"/>
          <a:lstStyle/>
          <a:p>
            <a:pPr indent="0" marL="0">
              <a:buNone/>
            </a:pPr>
            <a:r>
              <a:rPr lang="en-US" sz="750" spc="140" kern="0" dirty="0">
                <a:solidFill>
                  <a:srgbClr val="D9A521"/>
                </a:solidFill>
                <a:latin typeface="Consolas" pitchFamily="34" charset="0"/>
                <a:ea typeface="Consolas" pitchFamily="34" charset="-122"/>
                <a:cs typeface="Consolas" pitchFamily="34" charset="-120"/>
              </a:rPr>
              <a:t>ROMANE · DÉVELOPPEUSE</a:t>
            </a:r>
            <a:endParaRPr lang="en-US" sz="750" dirty="0"/>
          </a:p>
        </p:txBody>
      </p:sp>
      <p:sp>
        <p:nvSpPr>
          <p:cNvPr id="3" name="Text 1"/>
          <p:cNvSpPr txBox="1"/>
          <p:nvPr/>
        </p:nvSpPr>
        <p:spPr>
          <a:xfrm>
            <a:off x="4000500" y="6610350"/>
            <a:ext cx="4191000" cy="190500"/>
          </a:xfrm>
          <a:prstGeom prst="rect">
            <a:avLst/>
          </a:prstGeom>
          <a:noFill/>
          <a:ln/>
        </p:spPr>
        <p:txBody>
          <a:bodyPr wrap="square" lIns="0" tIns="0" rIns="0" bIns="0" rtlCol="0" anchor="ctr"/>
          <a:lstStyle/>
          <a:p>
            <a:pPr algn="ct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4" name="Text 2"/>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≈80 s · 13:10</a:t>
            </a:r>
            <a:endParaRPr lang="en-US" sz="750" dirty="0"/>
          </a:p>
        </p:txBody>
      </p:sp>
      <p:sp>
        <p:nvSpPr>
          <p:cNvPr id="5" name="Text 3"/>
          <p:cNvSpPr txBox="1"/>
          <p:nvPr/>
        </p:nvSpPr>
        <p:spPr>
          <a:xfrm>
            <a:off x="571500" y="323850"/>
            <a:ext cx="11049000" cy="190500"/>
          </a:xfrm>
          <a:prstGeom prst="rect">
            <a:avLst/>
          </a:prstGeom>
          <a:noFill/>
          <a:ln/>
        </p:spPr>
        <p:txBody>
          <a:bodyPr wrap="square" lIns="0" tIns="0" rIns="0" bIns="0" rtlCol="0" anchor="ctr"/>
          <a:lstStyle/>
          <a:p>
            <a:pPr algn="ctr" indent="0" marL="0">
              <a:buNone/>
            </a:pPr>
            <a:r>
              <a:rPr lang="en-US" sz="850" b="1" spc="400" kern="0" dirty="0">
                <a:solidFill>
                  <a:srgbClr val="D9A521"/>
                </a:solidFill>
                <a:latin typeface="Consolas" pitchFamily="34" charset="0"/>
                <a:ea typeface="Consolas" pitchFamily="34" charset="-122"/>
                <a:cs typeface="Consolas" pitchFamily="34" charset="-120"/>
              </a:rPr>
              <a:t>04 · UTILISATION DE FHIR</a:t>
            </a:r>
            <a:endParaRPr lang="en-US" sz="850" dirty="0"/>
          </a:p>
        </p:txBody>
      </p:sp>
      <p:sp>
        <p:nvSpPr>
          <p:cNvPr id="6" name="Text 4"/>
          <p:cNvSpPr txBox="1"/>
          <p:nvPr/>
        </p:nvSpPr>
        <p:spPr>
          <a:xfrm>
            <a:off x="571500" y="514350"/>
            <a:ext cx="11049000" cy="609600"/>
          </a:xfrm>
          <a:prstGeom prst="rect">
            <a:avLst/>
          </a:prstGeom>
          <a:noFill/>
          <a:ln/>
          <a:effectLst>
            <a:outerShdw sx="100000" sy="100000" kx="0" ky="0" algn="bl" rotWithShape="0" blurRad="101600" dist="38100" dir="2700000">
              <a:srgbClr val="A02C1E">
                <a:alpha val="100000"/>
              </a:srgbClr>
            </a:outerShdw>
          </a:effectLst>
        </p:spPr>
        <p:txBody>
          <a:bodyPr wrap="square" lIns="0" tIns="0" rIns="0" bIns="0" rtlCol="0" anchor="ctr"/>
          <a:lstStyle/>
          <a:p>
            <a:pPr algn="ctr" indent="0" marL="0">
              <a:buNone/>
            </a:pPr>
            <a:r>
              <a:rPr lang="en-US" sz="3400" dirty="0">
                <a:solidFill>
                  <a:srgbClr val="F3E4B0"/>
                </a:solidFill>
                <a:latin typeface="Impact" pitchFamily="34" charset="0"/>
                <a:ea typeface="Impact" pitchFamily="34" charset="-122"/>
                <a:cs typeface="Impact" pitchFamily="34" charset="-120"/>
              </a:rPr>
              <a:t>L'OBSERVATION, ATTRIBUT PAR ATTRIBUT</a:t>
            </a:r>
            <a:endParaRPr lang="en-US" sz="3400" dirty="0"/>
          </a:p>
        </p:txBody>
      </p:sp>
      <p:sp>
        <p:nvSpPr>
          <p:cNvPr id="7" name="Text 5"/>
          <p:cNvSpPr txBox="1"/>
          <p:nvPr/>
        </p:nvSpPr>
        <p:spPr>
          <a:xfrm>
            <a:off x="2000250" y="1143000"/>
            <a:ext cx="8191500" cy="438150"/>
          </a:xfrm>
          <a:prstGeom prst="rect">
            <a:avLst/>
          </a:prstGeom>
          <a:noFill/>
          <a:ln/>
        </p:spPr>
        <p:txBody>
          <a:bodyPr wrap="square" lIns="0" tIns="0" rIns="0" bIns="0" rtlCol="0" anchor="t"/>
          <a:lstStyle/>
          <a:p>
            <a:pPr algn="ctr" indent="0" marL="0">
              <a:buNone/>
            </a:pPr>
            <a:r>
              <a:rPr lang="en-US" sz="1350" dirty="0">
                <a:solidFill>
                  <a:srgbClr val="E6DCBE"/>
                </a:solidFill>
                <a:latin typeface="Arial" pitchFamily="34" charset="0"/>
                <a:ea typeface="Arial" pitchFamily="34" charset="-122"/>
                <a:cs typeface="Arial" pitchFamily="34" charset="-120"/>
              </a:rPr>
              <a:t>La ressource centrale du projet : le diagnostic qui fait autorité.</a:t>
            </a:r>
            <a:endParaRPr lang="en-US" sz="1350" dirty="0"/>
          </a:p>
        </p:txBody>
      </p:sp>
      <p:sp>
        <p:nvSpPr>
          <p:cNvPr id="9" name="Shape 6"/>
          <p:cNvSpPr/>
          <p:nvPr/>
        </p:nvSpPr>
        <p:spPr>
          <a:xfrm>
            <a:off x="571500" y="1809750"/>
            <a:ext cx="5105400" cy="3009900"/>
          </a:xfrm>
          <a:prstGeom prst="rect">
            <a:avLst/>
          </a:prstGeom>
          <a:solidFill>
            <a:srgbClr val="061711"/>
          </a:solidFill>
          <a:ln w="9525">
            <a:solidFill>
              <a:srgbClr val="D9A521">
                <a:alpha val="40000"/>
              </a:srgbClr>
            </a:solidFill>
            <a:prstDash val="solid"/>
          </a:ln>
        </p:spPr>
      </p:sp>
      <p:sp>
        <p:nvSpPr>
          <p:cNvPr id="10" name="Text 7"/>
          <p:cNvSpPr txBox="1"/>
          <p:nvPr/>
        </p:nvSpPr>
        <p:spPr>
          <a:xfrm>
            <a:off x="723900" y="1924050"/>
            <a:ext cx="4800600" cy="2781300"/>
          </a:xfrm>
          <a:prstGeom prst="rect">
            <a:avLst/>
          </a:prstGeom>
          <a:noFill/>
          <a:ln/>
        </p:spPr>
        <p:txBody>
          <a:bodyPr wrap="square" lIns="0" tIns="0" rIns="0" bIns="0" rtlCol="0" anchor="t"/>
          <a:lstStyle/>
          <a:p>
            <a:pPr indent="0" marL="0">
              <a:lnSpc>
                <a:spcPct val="125000"/>
              </a:lnSpc>
              <a:buNone/>
            </a:pPr>
            <a:r>
              <a:rPr lang="en-US" sz="850" dirty="0">
                <a:solidFill>
                  <a:srgbClr val="CFDFD2"/>
                </a:solidFill>
                <a:latin typeface="Consolas" pitchFamily="34" charset="0"/>
                <a:ea typeface="Consolas" pitchFamily="34" charset="-122"/>
                <a:cs typeface="Consolas" pitchFamily="34" charset="-120"/>
              </a:rPr>
              <a:t>{</a:t>
            </a:r>
            <a:endParaRPr lang="en-US" sz="850" dirty="0"/>
          </a:p>
          <a:p>
            <a:pPr indent="0" marL="0">
              <a:lnSpc>
                <a:spcPct val="125000"/>
              </a:lnSpc>
              <a:buNone/>
            </a:pPr>
            <a:r>
              <a:rPr lang="en-US" sz="850" dirty="0">
                <a:solidFill>
                  <a:srgbClr val="CFDFD2"/>
                </a:solidFill>
                <a:latin typeface="Consolas" pitchFamily="34" charset="0"/>
                <a:ea typeface="Consolas" pitchFamily="34" charset="-122"/>
                <a:cs typeface="Consolas" pitchFamily="34" charset="-120"/>
              </a:rPr>
              <a:t>  "resourceType": "Observation",</a:t>
            </a:r>
            <a:endParaRPr lang="en-US" sz="850" dirty="0"/>
          </a:p>
          <a:p>
            <a:pPr indent="0" marL="0">
              <a:lnSpc>
                <a:spcPct val="125000"/>
              </a:lnSpc>
              <a:buNone/>
            </a:pPr>
            <a:r>
              <a:rPr lang="en-US" sz="850" dirty="0">
                <a:solidFill>
                  <a:srgbClr val="CFDFD2"/>
                </a:solidFill>
                <a:latin typeface="Consolas" pitchFamily="34" charset="0"/>
                <a:ea typeface="Consolas" pitchFamily="34" charset="-122"/>
                <a:cs typeface="Consolas" pitchFamily="34" charset="-120"/>
              </a:rPr>
              <a:t>  "status": "final",</a:t>
            </a:r>
            <a:endParaRPr lang="en-US" sz="850" dirty="0"/>
          </a:p>
          <a:p>
            <a:pPr indent="0" marL="0">
              <a:lnSpc>
                <a:spcPct val="125000"/>
              </a:lnSpc>
              <a:buNone/>
            </a:pPr>
            <a:r>
              <a:rPr lang="en-US" sz="850" dirty="0">
                <a:solidFill>
                  <a:srgbClr val="CFDFD2"/>
                </a:solidFill>
                <a:latin typeface="Consolas" pitchFamily="34" charset="0"/>
                <a:ea typeface="Consolas" pitchFamily="34" charset="-122"/>
                <a:cs typeface="Consolas" pitchFamily="34" charset="-120"/>
              </a:rPr>
              <a:t>  "code": { "coding": [{</a:t>
            </a:r>
            <a:endParaRPr lang="en-US" sz="850" dirty="0"/>
          </a:p>
          <a:p>
            <a:pPr indent="0" marL="0">
              <a:lnSpc>
                <a:spcPct val="125000"/>
              </a:lnSpc>
              <a:buNone/>
            </a:pPr>
            <a:r>
              <a:rPr lang="en-US" sz="850" dirty="0">
                <a:solidFill>
                  <a:srgbClr val="CFDFD2"/>
                </a:solidFill>
                <a:latin typeface="Consolas" pitchFamily="34" charset="0"/>
                <a:ea typeface="Consolas" pitchFamily="34" charset="-122"/>
                <a:cs typeface="Consolas" pitchFamily="34" charset="-120"/>
              </a:rPr>
              <a:t>      "system": "http://medibet.local/diagnostics",</a:t>
            </a:r>
            <a:endParaRPr lang="en-US" sz="850" dirty="0"/>
          </a:p>
          <a:p>
            <a:pPr indent="0" marL="0">
              <a:lnSpc>
                <a:spcPct val="125000"/>
              </a:lnSpc>
              <a:buNone/>
            </a:pPr>
            <a:r>
              <a:rPr lang="en-US" sz="850" dirty="0">
                <a:solidFill>
                  <a:srgbClr val="CFDFD2"/>
                </a:solidFill>
                <a:latin typeface="Consolas" pitchFamily="34" charset="0"/>
                <a:ea typeface="Consolas" pitchFamily="34" charset="-122"/>
                <a:cs typeface="Consolas" pitchFamily="34" charset="-120"/>
              </a:rPr>
              <a:t>      "code": "angine",</a:t>
            </a:r>
            <a:endParaRPr lang="en-US" sz="850" dirty="0"/>
          </a:p>
          <a:p>
            <a:pPr indent="0" marL="0">
              <a:lnSpc>
                <a:spcPct val="125000"/>
              </a:lnSpc>
              <a:buNone/>
            </a:pPr>
            <a:r>
              <a:rPr lang="en-US" sz="850" dirty="0">
                <a:solidFill>
                  <a:srgbClr val="CFDFD2"/>
                </a:solidFill>
                <a:latin typeface="Consolas" pitchFamily="34" charset="0"/>
                <a:ea typeface="Consolas" pitchFamily="34" charset="-122"/>
                <a:cs typeface="Consolas" pitchFamily="34" charset="-120"/>
              </a:rPr>
              <a:t>      "display": "Angine" }],</a:t>
            </a:r>
            <a:endParaRPr lang="en-US" sz="850" dirty="0"/>
          </a:p>
          <a:p>
            <a:pPr indent="0" marL="0">
              <a:lnSpc>
                <a:spcPct val="125000"/>
              </a:lnSpc>
              <a:buNone/>
            </a:pPr>
            <a:r>
              <a:rPr lang="en-US" sz="850" dirty="0">
                <a:solidFill>
                  <a:srgbClr val="CFDFD2"/>
                </a:solidFill>
                <a:latin typeface="Consolas" pitchFamily="34" charset="0"/>
                <a:ea typeface="Consolas" pitchFamily="34" charset="-122"/>
                <a:cs typeface="Consolas" pitchFamily="34" charset="-120"/>
              </a:rPr>
              <a:t>    "text": "Angine" },</a:t>
            </a:r>
            <a:endParaRPr lang="en-US" sz="850" dirty="0"/>
          </a:p>
          <a:p>
            <a:pPr indent="0" marL="0">
              <a:lnSpc>
                <a:spcPct val="125000"/>
              </a:lnSpc>
              <a:buNone/>
            </a:pPr>
            <a:r>
              <a:rPr lang="en-US" sz="850" dirty="0">
                <a:solidFill>
                  <a:srgbClr val="CFDFD2"/>
                </a:solidFill>
                <a:latin typeface="Consolas" pitchFamily="34" charset="0"/>
                <a:ea typeface="Consolas" pitchFamily="34" charset="-122"/>
                <a:cs typeface="Consolas" pitchFamily="34" charset="-120"/>
              </a:rPr>
              <a:t>  "subject": { "reference": "Patient/6a9ec7b5…" },</a:t>
            </a:r>
            <a:endParaRPr lang="en-US" sz="850" dirty="0"/>
          </a:p>
          <a:p>
            <a:pPr indent="0" marL="0">
              <a:lnSpc>
                <a:spcPct val="125000"/>
              </a:lnSpc>
              <a:buNone/>
            </a:pPr>
            <a:r>
              <a:rPr lang="en-US" sz="850" dirty="0">
                <a:solidFill>
                  <a:srgbClr val="CFDFD2"/>
                </a:solidFill>
                <a:latin typeface="Consolas" pitchFamily="34" charset="0"/>
                <a:ea typeface="Consolas" pitchFamily="34" charset="-122"/>
                <a:cs typeface="Consolas" pitchFamily="34" charset="-120"/>
              </a:rPr>
              <a:t>  "effectiveDateTime": "2026-09-09T13:11:04Z",</a:t>
            </a:r>
            <a:endParaRPr lang="en-US" sz="850" dirty="0"/>
          </a:p>
          <a:p>
            <a:pPr indent="0" marL="0">
              <a:lnSpc>
                <a:spcPct val="125000"/>
              </a:lnSpc>
              <a:buNone/>
            </a:pPr>
            <a:r>
              <a:rPr lang="en-US" sz="850" dirty="0">
                <a:solidFill>
                  <a:srgbClr val="CFDFD2"/>
                </a:solidFill>
                <a:latin typeface="Consolas" pitchFamily="34" charset="0"/>
                <a:ea typeface="Consolas" pitchFamily="34" charset="-122"/>
                <a:cs typeface="Consolas" pitchFamily="34" charset="-120"/>
              </a:rPr>
              <a:t>  "performer": [{ "reference": "Practitioner/6a9eb9f8…",</a:t>
            </a:r>
            <a:endParaRPr lang="en-US" sz="850" dirty="0"/>
          </a:p>
          <a:p>
            <a:pPr indent="0" marL="0">
              <a:lnSpc>
                <a:spcPct val="125000"/>
              </a:lnSpc>
              <a:buNone/>
            </a:pPr>
            <a:r>
              <a:rPr lang="en-US" sz="850" dirty="0">
                <a:solidFill>
                  <a:srgbClr val="CFDFD2"/>
                </a:solidFill>
                <a:latin typeface="Consolas" pitchFamily="34" charset="0"/>
                <a:ea typeface="Consolas" pitchFamily="34" charset="-122"/>
                <a:cs typeface="Consolas" pitchFamily="34" charset="-120"/>
              </a:rPr>
              <a:t>      "display": "Alexandre Desoutter" }],</a:t>
            </a:r>
            <a:endParaRPr lang="en-US" sz="850" dirty="0"/>
          </a:p>
          <a:p>
            <a:pPr indent="0" marL="0">
              <a:lnSpc>
                <a:spcPct val="125000"/>
              </a:lnSpc>
              <a:buNone/>
            </a:pPr>
            <a:r>
              <a:rPr lang="en-US" sz="850" dirty="0">
                <a:solidFill>
                  <a:srgbClr val="CFDFD2"/>
                </a:solidFill>
                <a:latin typeface="Consolas" pitchFamily="34" charset="0"/>
                <a:ea typeface="Consolas" pitchFamily="34" charset="-122"/>
                <a:cs typeface="Consolas" pitchFamily="34" charset="-120"/>
              </a:rPr>
              <a:t>  "valueCodeableConcept": { "text": "Angine" }</a:t>
            </a:r>
            <a:endParaRPr lang="en-US" sz="850" dirty="0"/>
          </a:p>
          <a:p>
            <a:pPr indent="0" marL="0">
              <a:lnSpc>
                <a:spcPct val="125000"/>
              </a:lnSpc>
              <a:buNone/>
            </a:pPr>
            <a:r>
              <a:rPr lang="en-US" sz="850" dirty="0">
                <a:solidFill>
                  <a:srgbClr val="CFDFD2"/>
                </a:solidFill>
                <a:latin typeface="Consolas" pitchFamily="34" charset="0"/>
                <a:ea typeface="Consolas" pitchFamily="34" charset="-122"/>
                <a:cs typeface="Consolas" pitchFamily="34" charset="-120"/>
              </a:rPr>
              <a:t>}</a:t>
            </a:r>
            <a:endParaRPr lang="en-US" sz="850" dirty="0"/>
          </a:p>
        </p:txBody>
      </p:sp>
      <p:sp>
        <p:nvSpPr>
          <p:cNvPr id="11" name="Text 8"/>
          <p:cNvSpPr txBox="1"/>
          <p:nvPr/>
        </p:nvSpPr>
        <p:spPr>
          <a:xfrm>
            <a:off x="5981700" y="1809750"/>
            <a:ext cx="5638800" cy="171450"/>
          </a:xfrm>
          <a:prstGeom prst="rect">
            <a:avLst/>
          </a:prstGeom>
          <a:noFill/>
          <a:ln/>
        </p:spPr>
        <p:txBody>
          <a:bodyPr wrap="square" lIns="0" tIns="0" rIns="0" bIns="0" rtlCol="0" anchor="ctr"/>
          <a:lstStyle/>
          <a:p>
            <a:pPr indent="0" marL="0">
              <a:buNone/>
            </a:pPr>
            <a:r>
              <a:rPr lang="en-US" sz="950" b="1" dirty="0">
                <a:solidFill>
                  <a:srgbClr val="F3E4B0"/>
                </a:solidFill>
                <a:latin typeface="Consolas" pitchFamily="34" charset="0"/>
                <a:ea typeface="Consolas" pitchFamily="34" charset="-122"/>
                <a:cs typeface="Consolas" pitchFamily="34" charset="-120"/>
              </a:rPr>
              <a:t>status : final</a:t>
            </a:r>
            <a:endParaRPr lang="en-US" sz="950" dirty="0"/>
          </a:p>
        </p:txBody>
      </p:sp>
      <p:sp>
        <p:nvSpPr>
          <p:cNvPr id="12" name="Text 9"/>
          <p:cNvSpPr txBox="1"/>
          <p:nvPr/>
        </p:nvSpPr>
        <p:spPr>
          <a:xfrm>
            <a:off x="5981700" y="1981200"/>
            <a:ext cx="5638800" cy="400050"/>
          </a:xfrm>
          <a:prstGeom prst="rect">
            <a:avLst/>
          </a:prstGeom>
          <a:noFill/>
          <a:ln/>
        </p:spPr>
        <p:txBody>
          <a:bodyPr wrap="square" lIns="0" tIns="0" rIns="0" bIns="0" rtlCol="0" anchor="t"/>
          <a:lstStyle/>
          <a:p>
            <a:pPr indent="0" marL="0">
              <a:lnSpc>
                <a:spcPct val="115000"/>
              </a:lnSpc>
              <a:buNone/>
            </a:pPr>
            <a:r>
              <a:rPr lang="en-US" sz="1000" dirty="0">
                <a:solidFill>
                  <a:srgbClr val="CFDFD2"/>
                </a:solidFill>
                <a:latin typeface="Arial" pitchFamily="34" charset="0"/>
                <a:ea typeface="Arial" pitchFamily="34" charset="-122"/>
                <a:cs typeface="Arial" pitchFamily="34" charset="-120"/>
              </a:rPr>
              <a:t>Le constat est définitif, pas une ébauche. C'est ce qui autorise le pari à se trancher dessus.</a:t>
            </a:r>
            <a:endParaRPr lang="en-US" sz="1000" dirty="0"/>
          </a:p>
        </p:txBody>
      </p:sp>
      <p:sp>
        <p:nvSpPr>
          <p:cNvPr id="13" name="Text 10"/>
          <p:cNvSpPr txBox="1"/>
          <p:nvPr/>
        </p:nvSpPr>
        <p:spPr>
          <a:xfrm>
            <a:off x="5981700" y="2419350"/>
            <a:ext cx="5638800" cy="171450"/>
          </a:xfrm>
          <a:prstGeom prst="rect">
            <a:avLst/>
          </a:prstGeom>
          <a:noFill/>
          <a:ln/>
        </p:spPr>
        <p:txBody>
          <a:bodyPr wrap="square" lIns="0" tIns="0" rIns="0" bIns="0" rtlCol="0" anchor="ctr"/>
          <a:lstStyle/>
          <a:p>
            <a:pPr indent="0" marL="0">
              <a:buNone/>
            </a:pPr>
            <a:r>
              <a:rPr lang="en-US" sz="950" b="1" dirty="0">
                <a:solidFill>
                  <a:srgbClr val="F3E4B0"/>
                </a:solidFill>
                <a:latin typeface="Consolas" pitchFamily="34" charset="0"/>
                <a:ea typeface="Consolas" pitchFamily="34" charset="-122"/>
                <a:cs typeface="Consolas" pitchFamily="34" charset="-120"/>
              </a:rPr>
              <a:t>subject.reference</a:t>
            </a:r>
            <a:endParaRPr lang="en-US" sz="950" dirty="0"/>
          </a:p>
        </p:txBody>
      </p:sp>
      <p:sp>
        <p:nvSpPr>
          <p:cNvPr id="14" name="Text 11"/>
          <p:cNvSpPr txBox="1"/>
          <p:nvPr/>
        </p:nvSpPr>
        <p:spPr>
          <a:xfrm>
            <a:off x="5981700" y="2590800"/>
            <a:ext cx="5638800" cy="400050"/>
          </a:xfrm>
          <a:prstGeom prst="rect">
            <a:avLst/>
          </a:prstGeom>
          <a:noFill/>
          <a:ln/>
        </p:spPr>
        <p:txBody>
          <a:bodyPr wrap="square" lIns="0" tIns="0" rIns="0" bIns="0" rtlCol="0" anchor="t"/>
          <a:lstStyle/>
          <a:p>
            <a:pPr indent="0" marL="0">
              <a:lnSpc>
                <a:spcPct val="115000"/>
              </a:lnSpc>
              <a:buNone/>
            </a:pPr>
            <a:r>
              <a:rPr lang="en-US" sz="1000" dirty="0">
                <a:solidFill>
                  <a:srgbClr val="CFDFD2"/>
                </a:solidFill>
                <a:latin typeface="Arial" pitchFamily="34" charset="0"/>
                <a:ea typeface="Arial" pitchFamily="34" charset="-122"/>
                <a:cs typeface="Arial" pitchFamily="34" charset="-120"/>
              </a:rPr>
              <a:t>L'attribut pivot : c'est par lui que le patient retrouve son diagnostic, avec un GET filtré.</a:t>
            </a:r>
            <a:endParaRPr lang="en-US" sz="1000" dirty="0"/>
          </a:p>
        </p:txBody>
      </p:sp>
      <p:sp>
        <p:nvSpPr>
          <p:cNvPr id="15" name="Text 12"/>
          <p:cNvSpPr txBox="1"/>
          <p:nvPr/>
        </p:nvSpPr>
        <p:spPr>
          <a:xfrm>
            <a:off x="5981700" y="3028950"/>
            <a:ext cx="5638800" cy="171450"/>
          </a:xfrm>
          <a:prstGeom prst="rect">
            <a:avLst/>
          </a:prstGeom>
          <a:noFill/>
          <a:ln/>
        </p:spPr>
        <p:txBody>
          <a:bodyPr wrap="square" lIns="0" tIns="0" rIns="0" bIns="0" rtlCol="0" anchor="ctr"/>
          <a:lstStyle/>
          <a:p>
            <a:pPr indent="0" marL="0">
              <a:buNone/>
            </a:pPr>
            <a:r>
              <a:rPr lang="en-US" sz="950" b="1" dirty="0">
                <a:solidFill>
                  <a:srgbClr val="F3E4B0"/>
                </a:solidFill>
                <a:latin typeface="Consolas" pitchFamily="34" charset="0"/>
                <a:ea typeface="Consolas" pitchFamily="34" charset="-122"/>
                <a:cs typeface="Consolas" pitchFamily="34" charset="-120"/>
              </a:rPr>
              <a:t>code.coding</a:t>
            </a:r>
            <a:endParaRPr lang="en-US" sz="950" dirty="0"/>
          </a:p>
        </p:txBody>
      </p:sp>
      <p:sp>
        <p:nvSpPr>
          <p:cNvPr id="16" name="Text 13"/>
          <p:cNvSpPr txBox="1"/>
          <p:nvPr/>
        </p:nvSpPr>
        <p:spPr>
          <a:xfrm>
            <a:off x="5981700" y="3200400"/>
            <a:ext cx="5638800" cy="400050"/>
          </a:xfrm>
          <a:prstGeom prst="rect">
            <a:avLst/>
          </a:prstGeom>
          <a:noFill/>
          <a:ln/>
        </p:spPr>
        <p:txBody>
          <a:bodyPr wrap="square" lIns="0" tIns="0" rIns="0" bIns="0" rtlCol="0" anchor="t"/>
          <a:lstStyle/>
          <a:p>
            <a:pPr indent="0" marL="0">
              <a:lnSpc>
                <a:spcPct val="115000"/>
              </a:lnSpc>
              <a:buNone/>
            </a:pPr>
            <a:r>
              <a:rPr lang="en-US" sz="1000" dirty="0">
                <a:solidFill>
                  <a:srgbClr val="CFDFD2"/>
                </a:solidFill>
                <a:latin typeface="Arial" pitchFamily="34" charset="0"/>
                <a:ea typeface="Arial" pitchFamily="34" charset="-122"/>
                <a:cs typeface="Arial" pitchFamily="34" charset="-120"/>
              </a:rPr>
              <a:t>Le diagnostic codé. Notre system est une nomenclature maison, assumée : un vrai déploiement mettrait SNOMED CT ou la CIM-10.</a:t>
            </a:r>
            <a:endParaRPr lang="en-US" sz="1000" dirty="0"/>
          </a:p>
        </p:txBody>
      </p:sp>
      <p:sp>
        <p:nvSpPr>
          <p:cNvPr id="17" name="Text 14"/>
          <p:cNvSpPr txBox="1"/>
          <p:nvPr/>
        </p:nvSpPr>
        <p:spPr>
          <a:xfrm>
            <a:off x="5981700" y="3638550"/>
            <a:ext cx="5638800" cy="171450"/>
          </a:xfrm>
          <a:prstGeom prst="rect">
            <a:avLst/>
          </a:prstGeom>
          <a:noFill/>
          <a:ln/>
        </p:spPr>
        <p:txBody>
          <a:bodyPr wrap="square" lIns="0" tIns="0" rIns="0" bIns="0" rtlCol="0" anchor="ctr"/>
          <a:lstStyle/>
          <a:p>
            <a:pPr indent="0" marL="0">
              <a:buNone/>
            </a:pPr>
            <a:r>
              <a:rPr lang="en-US" sz="950" b="1" dirty="0">
                <a:solidFill>
                  <a:srgbClr val="F3E4B0"/>
                </a:solidFill>
                <a:latin typeface="Consolas" pitchFamily="34" charset="0"/>
                <a:ea typeface="Consolas" pitchFamily="34" charset="-122"/>
                <a:cs typeface="Consolas" pitchFamily="34" charset="-120"/>
              </a:rPr>
              <a:t>effectiveDateTime</a:t>
            </a:r>
            <a:endParaRPr lang="en-US" sz="950" dirty="0"/>
          </a:p>
        </p:txBody>
      </p:sp>
      <p:sp>
        <p:nvSpPr>
          <p:cNvPr id="18" name="Text 15"/>
          <p:cNvSpPr txBox="1"/>
          <p:nvPr/>
        </p:nvSpPr>
        <p:spPr>
          <a:xfrm>
            <a:off x="5981700" y="3810000"/>
            <a:ext cx="5638800" cy="400050"/>
          </a:xfrm>
          <a:prstGeom prst="rect">
            <a:avLst/>
          </a:prstGeom>
          <a:noFill/>
          <a:ln/>
        </p:spPr>
        <p:txBody>
          <a:bodyPr wrap="square" lIns="0" tIns="0" rIns="0" bIns="0" rtlCol="0" anchor="t"/>
          <a:lstStyle/>
          <a:p>
            <a:pPr indent="0" marL="0">
              <a:lnSpc>
                <a:spcPct val="115000"/>
              </a:lnSpc>
              <a:buNone/>
            </a:pPr>
            <a:r>
              <a:rPr lang="en-US" sz="1000" dirty="0">
                <a:solidFill>
                  <a:srgbClr val="CFDFD2"/>
                </a:solidFill>
                <a:latin typeface="Arial" pitchFamily="34" charset="0"/>
                <a:ea typeface="Arial" pitchFamily="34" charset="-122"/>
                <a:cs typeface="Arial" pitchFamily="34" charset="-120"/>
              </a:rPr>
              <a:t>Le moment du constat. S'il y a plusieurs Observations, on garde la plus récente.</a:t>
            </a:r>
            <a:endParaRPr lang="en-US" sz="1000" dirty="0"/>
          </a:p>
        </p:txBody>
      </p:sp>
      <p:sp>
        <p:nvSpPr>
          <p:cNvPr id="19" name="Text 16"/>
          <p:cNvSpPr txBox="1"/>
          <p:nvPr/>
        </p:nvSpPr>
        <p:spPr>
          <a:xfrm>
            <a:off x="5981700" y="4248150"/>
            <a:ext cx="5638800" cy="171450"/>
          </a:xfrm>
          <a:prstGeom prst="rect">
            <a:avLst/>
          </a:prstGeom>
          <a:noFill/>
          <a:ln/>
        </p:spPr>
        <p:txBody>
          <a:bodyPr wrap="square" lIns="0" tIns="0" rIns="0" bIns="0" rtlCol="0" anchor="ctr"/>
          <a:lstStyle/>
          <a:p>
            <a:pPr indent="0" marL="0">
              <a:buNone/>
            </a:pPr>
            <a:r>
              <a:rPr lang="en-US" sz="950" b="1" dirty="0">
                <a:solidFill>
                  <a:srgbClr val="F3E4B0"/>
                </a:solidFill>
                <a:latin typeface="Consolas" pitchFamily="34" charset="0"/>
                <a:ea typeface="Consolas" pitchFamily="34" charset="-122"/>
                <a:cs typeface="Consolas" pitchFamily="34" charset="-120"/>
              </a:rPr>
              <a:t>performer</a:t>
            </a:r>
            <a:endParaRPr lang="en-US" sz="950" dirty="0"/>
          </a:p>
        </p:txBody>
      </p:sp>
      <p:sp>
        <p:nvSpPr>
          <p:cNvPr id="20" name="Text 17"/>
          <p:cNvSpPr txBox="1"/>
          <p:nvPr/>
        </p:nvSpPr>
        <p:spPr>
          <a:xfrm>
            <a:off x="5981700" y="4419600"/>
            <a:ext cx="5638800" cy="400050"/>
          </a:xfrm>
          <a:prstGeom prst="rect">
            <a:avLst/>
          </a:prstGeom>
          <a:noFill/>
          <a:ln/>
        </p:spPr>
        <p:txBody>
          <a:bodyPr wrap="square" lIns="0" tIns="0" rIns="0" bIns="0" rtlCol="0" anchor="t"/>
          <a:lstStyle/>
          <a:p>
            <a:pPr indent="0" marL="0">
              <a:lnSpc>
                <a:spcPct val="115000"/>
              </a:lnSpc>
              <a:buNone/>
            </a:pPr>
            <a:r>
              <a:rPr lang="en-US" sz="1000" dirty="0">
                <a:solidFill>
                  <a:srgbClr val="CFDFD2"/>
                </a:solidFill>
                <a:latin typeface="Arial" pitchFamily="34" charset="0"/>
                <a:ea typeface="Arial" pitchFamily="34" charset="-122"/>
                <a:cs typeface="Arial" pitchFamily="34" charset="-120"/>
              </a:rPr>
              <a:t>Qui a posé le diagnostic, référencé comme Practitioner : la traçabilité de l'acte.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09550" y="6610350"/>
            <a:ext cx="3429000" cy="190500"/>
          </a:xfrm>
          <a:prstGeom prst="rect">
            <a:avLst/>
          </a:prstGeom>
          <a:noFill/>
          <a:ln/>
        </p:spPr>
        <p:txBody>
          <a:bodyPr wrap="square" lIns="0" tIns="0" rIns="0" bIns="0" rtlCol="0" anchor="ctr"/>
          <a:lstStyle/>
          <a:p>
            <a:pPr indent="0" marL="0">
              <a:buNone/>
            </a:pPr>
            <a:r>
              <a:rPr lang="en-US" sz="750" spc="140" kern="0" dirty="0">
                <a:solidFill>
                  <a:srgbClr val="D9A521"/>
                </a:solidFill>
                <a:latin typeface="Consolas" pitchFamily="34" charset="0"/>
                <a:ea typeface="Consolas" pitchFamily="34" charset="-122"/>
                <a:cs typeface="Consolas" pitchFamily="34" charset="-120"/>
              </a:rPr>
              <a:t>ROMANE · DÉVELOPPEUSE</a:t>
            </a:r>
            <a:endParaRPr lang="en-US" sz="750" dirty="0"/>
          </a:p>
        </p:txBody>
      </p:sp>
      <p:sp>
        <p:nvSpPr>
          <p:cNvPr id="3" name="Text 1"/>
          <p:cNvSpPr txBox="1"/>
          <p:nvPr/>
        </p:nvSpPr>
        <p:spPr>
          <a:xfrm>
            <a:off x="4000500" y="6610350"/>
            <a:ext cx="4191000" cy="190500"/>
          </a:xfrm>
          <a:prstGeom prst="rect">
            <a:avLst/>
          </a:prstGeom>
          <a:noFill/>
          <a:ln/>
        </p:spPr>
        <p:txBody>
          <a:bodyPr wrap="square" lIns="0" tIns="0" rIns="0" bIns="0" rtlCol="0" anchor="ctr"/>
          <a:lstStyle/>
          <a:p>
            <a:pPr algn="ct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4" name="Text 2"/>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≈2 min 30 · 15:40</a:t>
            </a:r>
            <a:endParaRPr lang="en-US" sz="750" dirty="0"/>
          </a:p>
        </p:txBody>
      </p:sp>
      <p:sp>
        <p:nvSpPr>
          <p:cNvPr id="5" name="Text 3"/>
          <p:cNvSpPr txBox="1"/>
          <p:nvPr/>
        </p:nvSpPr>
        <p:spPr>
          <a:xfrm>
            <a:off x="571500" y="323850"/>
            <a:ext cx="11049000" cy="190500"/>
          </a:xfrm>
          <a:prstGeom prst="rect">
            <a:avLst/>
          </a:prstGeom>
          <a:noFill/>
          <a:ln/>
        </p:spPr>
        <p:txBody>
          <a:bodyPr wrap="square" lIns="0" tIns="0" rIns="0" bIns="0" rtlCol="0" anchor="ctr"/>
          <a:lstStyle/>
          <a:p>
            <a:pPr algn="ctr" indent="0" marL="0">
              <a:buNone/>
            </a:pPr>
            <a:r>
              <a:rPr lang="en-US" sz="850" b="1" spc="400" kern="0" dirty="0">
                <a:solidFill>
                  <a:srgbClr val="D9A521"/>
                </a:solidFill>
                <a:latin typeface="Consolas" pitchFamily="34" charset="0"/>
                <a:ea typeface="Consolas" pitchFamily="34" charset="-122"/>
                <a:cs typeface="Consolas" pitchFamily="34" charset="-120"/>
              </a:rPr>
              <a:t>05 · DÉMONSTRATION</a:t>
            </a:r>
            <a:endParaRPr lang="en-US" sz="850" dirty="0"/>
          </a:p>
        </p:txBody>
      </p:sp>
      <p:sp>
        <p:nvSpPr>
          <p:cNvPr id="6" name="Text 4"/>
          <p:cNvSpPr txBox="1"/>
          <p:nvPr/>
        </p:nvSpPr>
        <p:spPr>
          <a:xfrm>
            <a:off x="571500" y="514350"/>
            <a:ext cx="11049000" cy="609600"/>
          </a:xfrm>
          <a:prstGeom prst="rect">
            <a:avLst/>
          </a:prstGeom>
          <a:noFill/>
          <a:ln/>
          <a:effectLst>
            <a:outerShdw sx="100000" sy="100000" kx="0" ky="0" algn="bl" rotWithShape="0" blurRad="101600" dist="38100" dir="2700000">
              <a:srgbClr val="A02C1E">
                <a:alpha val="100000"/>
              </a:srgbClr>
            </a:outerShdw>
          </a:effectLst>
        </p:spPr>
        <p:txBody>
          <a:bodyPr wrap="square" lIns="0" tIns="0" rIns="0" bIns="0" rtlCol="0" anchor="ctr"/>
          <a:lstStyle/>
          <a:p>
            <a:pPr algn="ctr" indent="0" marL="0">
              <a:buNone/>
            </a:pPr>
            <a:r>
              <a:rPr lang="en-US" sz="3400" dirty="0">
                <a:solidFill>
                  <a:srgbClr val="F3E4B0"/>
                </a:solidFill>
                <a:latin typeface="Impact" pitchFamily="34" charset="0"/>
                <a:ea typeface="Impact" pitchFamily="34" charset="-122"/>
                <a:cs typeface="Impact" pitchFamily="34" charset="-120"/>
              </a:rPr>
              <a:t>DÉMONSTRATION EN DIRECT</a:t>
            </a:r>
            <a:endParaRPr lang="en-US" sz="3400" dirty="0"/>
          </a:p>
        </p:txBody>
      </p:sp>
      <p:sp>
        <p:nvSpPr>
          <p:cNvPr id="7" name="Text 5"/>
          <p:cNvSpPr txBox="1"/>
          <p:nvPr/>
        </p:nvSpPr>
        <p:spPr>
          <a:xfrm>
            <a:off x="2000250" y="1143000"/>
            <a:ext cx="8191500" cy="438150"/>
          </a:xfrm>
          <a:prstGeom prst="rect">
            <a:avLst/>
          </a:prstGeom>
          <a:noFill/>
          <a:ln/>
        </p:spPr>
        <p:txBody>
          <a:bodyPr wrap="square" lIns="0" tIns="0" rIns="0" bIns="0" rtlCol="0" anchor="t"/>
          <a:lstStyle/>
          <a:p>
            <a:pPr algn="ctr" indent="0" marL="0">
              <a:buNone/>
            </a:pPr>
            <a:r>
              <a:rPr lang="en-US" sz="1350" dirty="0">
                <a:solidFill>
                  <a:srgbClr val="E6DCBE"/>
                </a:solidFill>
                <a:latin typeface="Arial" pitchFamily="34" charset="0"/>
                <a:ea typeface="Arial" pitchFamily="34" charset="-122"/>
                <a:cs typeface="Arial" pitchFamily="34" charset="-120"/>
              </a:rPr>
              <a:t>Deux postes, deux applications, un serveur. Avec l'équipe Médecin.</a:t>
            </a:r>
            <a:endParaRPr lang="en-US" sz="1350" dirty="0"/>
          </a:p>
        </p:txBody>
      </p:sp>
      <p:sp>
        <p:nvSpPr>
          <p:cNvPr id="9" name="Shape 6"/>
          <p:cNvSpPr/>
          <p:nvPr/>
        </p:nvSpPr>
        <p:spPr>
          <a:xfrm>
            <a:off x="571500" y="1866900"/>
            <a:ext cx="2087880" cy="1695450"/>
          </a:xfrm>
          <a:prstGeom prst="rect">
            <a:avLst/>
          </a:prstGeom>
          <a:solidFill>
            <a:srgbClr val="F4E3AB"/>
          </a:solidFill>
          <a:ln/>
          <a:effectLst>
            <a:outerShdw sx="100000" sy="100000" kx="0" ky="0" algn="bl" rotWithShape="0" blurRad="101600" dist="57150" dir="2700000">
              <a:srgbClr val="A02C1E">
                <a:alpha val="100000"/>
              </a:srgbClr>
            </a:outerShdw>
          </a:effectLst>
        </p:spPr>
      </p:sp>
      <p:sp>
        <p:nvSpPr>
          <p:cNvPr id="10" name="Text 7"/>
          <p:cNvSpPr txBox="1"/>
          <p:nvPr/>
        </p:nvSpPr>
        <p:spPr>
          <a:xfrm>
            <a:off x="704850" y="1981200"/>
            <a:ext cx="1821180" cy="247650"/>
          </a:xfrm>
          <a:prstGeom prst="rect">
            <a:avLst/>
          </a:prstGeom>
          <a:noFill/>
          <a:ln/>
        </p:spPr>
        <p:txBody>
          <a:bodyPr wrap="square" lIns="0" tIns="0" rIns="0" bIns="0" rtlCol="0" anchor="ctr"/>
          <a:lstStyle/>
          <a:p>
            <a:pPr indent="0" marL="0">
              <a:buNone/>
            </a:pPr>
            <a:r>
              <a:rPr lang="en-US" sz="1700" dirty="0">
                <a:solidFill>
                  <a:srgbClr val="C08B1E"/>
                </a:solidFill>
                <a:latin typeface="Impact" pitchFamily="34" charset="0"/>
                <a:ea typeface="Impact" pitchFamily="34" charset="-122"/>
                <a:cs typeface="Impact" pitchFamily="34" charset="-120"/>
              </a:rPr>
              <a:t>01</a:t>
            </a:r>
            <a:endParaRPr lang="en-US" sz="1700" dirty="0"/>
          </a:p>
        </p:txBody>
      </p:sp>
      <p:sp>
        <p:nvSpPr>
          <p:cNvPr id="11" name="Text 8"/>
          <p:cNvSpPr txBox="1"/>
          <p:nvPr/>
        </p:nvSpPr>
        <p:spPr>
          <a:xfrm>
            <a:off x="704850" y="2266950"/>
            <a:ext cx="1821180" cy="152400"/>
          </a:xfrm>
          <a:prstGeom prst="rect">
            <a:avLst/>
          </a:prstGeom>
          <a:noFill/>
          <a:ln/>
        </p:spPr>
        <p:txBody>
          <a:bodyPr wrap="square" lIns="0" tIns="0" rIns="0" bIns="0" rtlCol="0" anchor="ctr"/>
          <a:lstStyle/>
          <a:p>
            <a:pPr indent="0" marL="0">
              <a:buNone/>
            </a:pPr>
            <a:r>
              <a:rPr lang="en-US" sz="750" b="1" dirty="0">
                <a:solidFill>
                  <a:srgbClr val="A02C1E"/>
                </a:solidFill>
                <a:latin typeface="Consolas" pitchFamily="34" charset="0"/>
                <a:ea typeface="Consolas" pitchFamily="34" charset="-122"/>
                <a:cs typeface="Consolas" pitchFamily="34" charset="-120"/>
              </a:rPr>
              <a:t>POSTE PATIENT</a:t>
            </a:r>
            <a:endParaRPr lang="en-US" sz="750" dirty="0"/>
          </a:p>
        </p:txBody>
      </p:sp>
      <p:sp>
        <p:nvSpPr>
          <p:cNvPr id="12" name="Text 9"/>
          <p:cNvSpPr txBox="1"/>
          <p:nvPr/>
        </p:nvSpPr>
        <p:spPr>
          <a:xfrm>
            <a:off x="704850" y="2457450"/>
            <a:ext cx="1821180" cy="990600"/>
          </a:xfrm>
          <a:prstGeom prst="rect">
            <a:avLst/>
          </a:prstGeom>
          <a:noFill/>
          <a:ln/>
        </p:spPr>
        <p:txBody>
          <a:bodyPr wrap="square" lIns="0" tIns="0" rIns="0" bIns="0" rtlCol="0" anchor="t"/>
          <a:lstStyle/>
          <a:p>
            <a:pPr indent="0" marL="0">
              <a:lnSpc>
                <a:spcPct val="120000"/>
              </a:lnSpc>
              <a:buNone/>
            </a:pPr>
            <a:r>
              <a:rPr lang="en-US" sz="950" dirty="0">
                <a:solidFill>
                  <a:srgbClr val="2A2016"/>
                </a:solidFill>
                <a:latin typeface="Arial" pitchFamily="34" charset="0"/>
                <a:ea typeface="Arial" pitchFamily="34" charset="-122"/>
                <a:cs typeface="Arial" pitchFamily="34" charset="-120"/>
              </a:rPr>
              <a:t>Je décris mes symptômes, l'application crée un vrai Patient FHIR et propose les cotes.</a:t>
            </a:r>
            <a:endParaRPr lang="en-US" sz="950" dirty="0"/>
          </a:p>
        </p:txBody>
      </p:sp>
      <p:sp>
        <p:nvSpPr>
          <p:cNvPr id="13" name="Shape 10"/>
          <p:cNvSpPr/>
          <p:nvPr/>
        </p:nvSpPr>
        <p:spPr>
          <a:xfrm>
            <a:off x="2811780" y="1866900"/>
            <a:ext cx="2087880" cy="1695450"/>
          </a:xfrm>
          <a:prstGeom prst="rect">
            <a:avLst/>
          </a:prstGeom>
          <a:solidFill>
            <a:srgbClr val="F4E3AB"/>
          </a:solidFill>
          <a:ln/>
          <a:effectLst>
            <a:outerShdw sx="100000" sy="100000" kx="0" ky="0" algn="bl" rotWithShape="0" blurRad="101600" dist="57150" dir="2700000">
              <a:srgbClr val="A02C1E">
                <a:alpha val="100000"/>
              </a:srgbClr>
            </a:outerShdw>
          </a:effectLst>
        </p:spPr>
      </p:sp>
      <p:sp>
        <p:nvSpPr>
          <p:cNvPr id="14" name="Text 11"/>
          <p:cNvSpPr txBox="1"/>
          <p:nvPr/>
        </p:nvSpPr>
        <p:spPr>
          <a:xfrm>
            <a:off x="2945130" y="1981200"/>
            <a:ext cx="1821180" cy="247650"/>
          </a:xfrm>
          <a:prstGeom prst="rect">
            <a:avLst/>
          </a:prstGeom>
          <a:noFill/>
          <a:ln/>
        </p:spPr>
        <p:txBody>
          <a:bodyPr wrap="square" lIns="0" tIns="0" rIns="0" bIns="0" rtlCol="0" anchor="ctr"/>
          <a:lstStyle/>
          <a:p>
            <a:pPr indent="0" marL="0">
              <a:buNone/>
            </a:pPr>
            <a:r>
              <a:rPr lang="en-US" sz="1700" dirty="0">
                <a:solidFill>
                  <a:srgbClr val="C08B1E"/>
                </a:solidFill>
                <a:latin typeface="Impact" pitchFamily="34" charset="0"/>
                <a:ea typeface="Impact" pitchFamily="34" charset="-122"/>
                <a:cs typeface="Impact" pitchFamily="34" charset="-120"/>
              </a:rPr>
              <a:t>02</a:t>
            </a:r>
            <a:endParaRPr lang="en-US" sz="1700" dirty="0"/>
          </a:p>
        </p:txBody>
      </p:sp>
      <p:sp>
        <p:nvSpPr>
          <p:cNvPr id="15" name="Text 12"/>
          <p:cNvSpPr txBox="1"/>
          <p:nvPr/>
        </p:nvSpPr>
        <p:spPr>
          <a:xfrm>
            <a:off x="2945130" y="2266950"/>
            <a:ext cx="1821180" cy="152400"/>
          </a:xfrm>
          <a:prstGeom prst="rect">
            <a:avLst/>
          </a:prstGeom>
          <a:noFill/>
          <a:ln/>
        </p:spPr>
        <p:txBody>
          <a:bodyPr wrap="square" lIns="0" tIns="0" rIns="0" bIns="0" rtlCol="0" anchor="ctr"/>
          <a:lstStyle/>
          <a:p>
            <a:pPr indent="0" marL="0">
              <a:buNone/>
            </a:pPr>
            <a:r>
              <a:rPr lang="en-US" sz="750" b="1" dirty="0">
                <a:solidFill>
                  <a:srgbClr val="A02C1E"/>
                </a:solidFill>
                <a:latin typeface="Consolas" pitchFamily="34" charset="0"/>
                <a:ea typeface="Consolas" pitchFamily="34" charset="-122"/>
                <a:cs typeface="Consolas" pitchFamily="34" charset="-120"/>
              </a:rPr>
              <a:t>POSTE PATIENT</a:t>
            </a:r>
            <a:endParaRPr lang="en-US" sz="750" dirty="0"/>
          </a:p>
        </p:txBody>
      </p:sp>
      <p:sp>
        <p:nvSpPr>
          <p:cNvPr id="16" name="Text 13"/>
          <p:cNvSpPr txBox="1"/>
          <p:nvPr/>
        </p:nvSpPr>
        <p:spPr>
          <a:xfrm>
            <a:off x="2945130" y="2457450"/>
            <a:ext cx="1821180" cy="990600"/>
          </a:xfrm>
          <a:prstGeom prst="rect">
            <a:avLst/>
          </a:prstGeom>
          <a:noFill/>
          <a:ln/>
        </p:spPr>
        <p:txBody>
          <a:bodyPr wrap="square" lIns="0" tIns="0" rIns="0" bIns="0" rtlCol="0" anchor="t"/>
          <a:lstStyle/>
          <a:p>
            <a:pPr indent="0" marL="0">
              <a:lnSpc>
                <a:spcPct val="120000"/>
              </a:lnSpc>
              <a:buNone/>
            </a:pPr>
            <a:r>
              <a:rPr lang="en-US" sz="950" dirty="0">
                <a:solidFill>
                  <a:srgbClr val="2A2016"/>
                </a:solidFill>
                <a:latin typeface="Arial" pitchFamily="34" charset="0"/>
                <a:ea typeface="Arial" pitchFamily="34" charset="-122"/>
                <a:cs typeface="Arial" pitchFamily="34" charset="-120"/>
              </a:rPr>
              <a:t>Je mise, puis un proche rejoint le pari avec le code du dossier.</a:t>
            </a:r>
            <a:endParaRPr lang="en-US" sz="950" dirty="0"/>
          </a:p>
        </p:txBody>
      </p:sp>
      <p:sp>
        <p:nvSpPr>
          <p:cNvPr id="17" name="Shape 14"/>
          <p:cNvSpPr/>
          <p:nvPr/>
        </p:nvSpPr>
        <p:spPr>
          <a:xfrm>
            <a:off x="5052060" y="1866900"/>
            <a:ext cx="2087880" cy="1695450"/>
          </a:xfrm>
          <a:prstGeom prst="rect">
            <a:avLst/>
          </a:prstGeom>
          <a:solidFill>
            <a:srgbClr val="F4E3AB"/>
          </a:solidFill>
          <a:ln/>
          <a:effectLst>
            <a:outerShdw sx="100000" sy="100000" kx="0" ky="0" algn="bl" rotWithShape="0" blurRad="101600" dist="57150" dir="2700000">
              <a:srgbClr val="A02C1E">
                <a:alpha val="100000"/>
              </a:srgbClr>
            </a:outerShdw>
          </a:effectLst>
        </p:spPr>
      </p:sp>
      <p:sp>
        <p:nvSpPr>
          <p:cNvPr id="18" name="Text 15"/>
          <p:cNvSpPr txBox="1"/>
          <p:nvPr/>
        </p:nvSpPr>
        <p:spPr>
          <a:xfrm>
            <a:off x="5185410" y="1981200"/>
            <a:ext cx="1821180" cy="247650"/>
          </a:xfrm>
          <a:prstGeom prst="rect">
            <a:avLst/>
          </a:prstGeom>
          <a:noFill/>
          <a:ln/>
        </p:spPr>
        <p:txBody>
          <a:bodyPr wrap="square" lIns="0" tIns="0" rIns="0" bIns="0" rtlCol="0" anchor="ctr"/>
          <a:lstStyle/>
          <a:p>
            <a:pPr indent="0" marL="0">
              <a:buNone/>
            </a:pPr>
            <a:r>
              <a:rPr lang="en-US" sz="1700" dirty="0">
                <a:solidFill>
                  <a:srgbClr val="C08B1E"/>
                </a:solidFill>
                <a:latin typeface="Impact" pitchFamily="34" charset="0"/>
                <a:ea typeface="Impact" pitchFamily="34" charset="-122"/>
                <a:cs typeface="Impact" pitchFamily="34" charset="-120"/>
              </a:rPr>
              <a:t>03</a:t>
            </a:r>
            <a:endParaRPr lang="en-US" sz="1700" dirty="0"/>
          </a:p>
        </p:txBody>
      </p:sp>
      <p:sp>
        <p:nvSpPr>
          <p:cNvPr id="19" name="Text 16"/>
          <p:cNvSpPr txBox="1"/>
          <p:nvPr/>
        </p:nvSpPr>
        <p:spPr>
          <a:xfrm>
            <a:off x="5185410" y="2266950"/>
            <a:ext cx="1821180" cy="152400"/>
          </a:xfrm>
          <a:prstGeom prst="rect">
            <a:avLst/>
          </a:prstGeom>
          <a:noFill/>
          <a:ln/>
        </p:spPr>
        <p:txBody>
          <a:bodyPr wrap="square" lIns="0" tIns="0" rIns="0" bIns="0" rtlCol="0" anchor="ctr"/>
          <a:lstStyle/>
          <a:p>
            <a:pPr indent="0" marL="0">
              <a:buNone/>
            </a:pPr>
            <a:r>
              <a:rPr lang="en-US" sz="750" b="1" dirty="0">
                <a:solidFill>
                  <a:srgbClr val="A02C1E"/>
                </a:solidFill>
                <a:latin typeface="Consolas" pitchFamily="34" charset="0"/>
                <a:ea typeface="Consolas" pitchFamily="34" charset="-122"/>
                <a:cs typeface="Consolas" pitchFamily="34" charset="-120"/>
              </a:rPr>
              <a:t>POSTE MÉDECIN</a:t>
            </a:r>
            <a:endParaRPr lang="en-US" sz="750" dirty="0"/>
          </a:p>
        </p:txBody>
      </p:sp>
      <p:sp>
        <p:nvSpPr>
          <p:cNvPr id="20" name="Text 17"/>
          <p:cNvSpPr txBox="1"/>
          <p:nvPr/>
        </p:nvSpPr>
        <p:spPr>
          <a:xfrm>
            <a:off x="5185410" y="2457450"/>
            <a:ext cx="1821180" cy="990600"/>
          </a:xfrm>
          <a:prstGeom prst="rect">
            <a:avLst/>
          </a:prstGeom>
          <a:noFill/>
          <a:ln/>
        </p:spPr>
        <p:txBody>
          <a:bodyPr wrap="square" lIns="0" tIns="0" rIns="0" bIns="0" rtlCol="0" anchor="t"/>
          <a:lstStyle/>
          <a:p>
            <a:pPr indent="0" marL="0">
              <a:lnSpc>
                <a:spcPct val="120000"/>
              </a:lnSpc>
              <a:buNone/>
            </a:pPr>
            <a:r>
              <a:rPr lang="en-US" sz="950" dirty="0">
                <a:solidFill>
                  <a:srgbClr val="2A2016"/>
                </a:solidFill>
                <a:latin typeface="Arial" pitchFamily="34" charset="0"/>
                <a:ea typeface="Arial" pitchFamily="34" charset="-122"/>
                <a:cs typeface="Arial" pitchFamily="34" charset="-120"/>
              </a:rPr>
              <a:t>Le dossier apparaît dans leur file d'attente, arrivé par le serveur FHIR.</a:t>
            </a:r>
            <a:endParaRPr lang="en-US" sz="950" dirty="0"/>
          </a:p>
        </p:txBody>
      </p:sp>
      <p:sp>
        <p:nvSpPr>
          <p:cNvPr id="21" name="Shape 18"/>
          <p:cNvSpPr/>
          <p:nvPr/>
        </p:nvSpPr>
        <p:spPr>
          <a:xfrm>
            <a:off x="7292340" y="1866900"/>
            <a:ext cx="2087880" cy="1695450"/>
          </a:xfrm>
          <a:prstGeom prst="rect">
            <a:avLst/>
          </a:prstGeom>
          <a:solidFill>
            <a:srgbClr val="F4E3AB"/>
          </a:solidFill>
          <a:ln/>
          <a:effectLst>
            <a:outerShdw sx="100000" sy="100000" kx="0" ky="0" algn="bl" rotWithShape="0" blurRad="101600" dist="57150" dir="2700000">
              <a:srgbClr val="A02C1E">
                <a:alpha val="100000"/>
              </a:srgbClr>
            </a:outerShdw>
          </a:effectLst>
        </p:spPr>
      </p:sp>
      <p:sp>
        <p:nvSpPr>
          <p:cNvPr id="22" name="Text 19"/>
          <p:cNvSpPr txBox="1"/>
          <p:nvPr/>
        </p:nvSpPr>
        <p:spPr>
          <a:xfrm>
            <a:off x="7425690" y="1981200"/>
            <a:ext cx="1821180" cy="247650"/>
          </a:xfrm>
          <a:prstGeom prst="rect">
            <a:avLst/>
          </a:prstGeom>
          <a:noFill/>
          <a:ln/>
        </p:spPr>
        <p:txBody>
          <a:bodyPr wrap="square" lIns="0" tIns="0" rIns="0" bIns="0" rtlCol="0" anchor="ctr"/>
          <a:lstStyle/>
          <a:p>
            <a:pPr indent="0" marL="0">
              <a:buNone/>
            </a:pPr>
            <a:r>
              <a:rPr lang="en-US" sz="1700" dirty="0">
                <a:solidFill>
                  <a:srgbClr val="C08B1E"/>
                </a:solidFill>
                <a:latin typeface="Impact" pitchFamily="34" charset="0"/>
                <a:ea typeface="Impact" pitchFamily="34" charset="-122"/>
                <a:cs typeface="Impact" pitchFamily="34" charset="-120"/>
              </a:rPr>
              <a:t>04</a:t>
            </a:r>
            <a:endParaRPr lang="en-US" sz="1700" dirty="0"/>
          </a:p>
        </p:txBody>
      </p:sp>
      <p:sp>
        <p:nvSpPr>
          <p:cNvPr id="23" name="Text 20"/>
          <p:cNvSpPr txBox="1"/>
          <p:nvPr/>
        </p:nvSpPr>
        <p:spPr>
          <a:xfrm>
            <a:off x="7425690" y="2266950"/>
            <a:ext cx="1821180" cy="152400"/>
          </a:xfrm>
          <a:prstGeom prst="rect">
            <a:avLst/>
          </a:prstGeom>
          <a:noFill/>
          <a:ln/>
        </p:spPr>
        <p:txBody>
          <a:bodyPr wrap="square" lIns="0" tIns="0" rIns="0" bIns="0" rtlCol="0" anchor="ctr"/>
          <a:lstStyle/>
          <a:p>
            <a:pPr indent="0" marL="0">
              <a:buNone/>
            </a:pPr>
            <a:r>
              <a:rPr lang="en-US" sz="750" b="1" dirty="0">
                <a:solidFill>
                  <a:srgbClr val="A02C1E"/>
                </a:solidFill>
                <a:latin typeface="Consolas" pitchFamily="34" charset="0"/>
                <a:ea typeface="Consolas" pitchFamily="34" charset="-122"/>
                <a:cs typeface="Consolas" pitchFamily="34" charset="-120"/>
              </a:rPr>
              <a:t>POSTE MÉDECIN</a:t>
            </a:r>
            <a:endParaRPr lang="en-US" sz="750" dirty="0"/>
          </a:p>
        </p:txBody>
      </p:sp>
      <p:sp>
        <p:nvSpPr>
          <p:cNvPr id="24" name="Text 21"/>
          <p:cNvSpPr txBox="1"/>
          <p:nvPr/>
        </p:nvSpPr>
        <p:spPr>
          <a:xfrm>
            <a:off x="7425690" y="2457450"/>
            <a:ext cx="1821180" cy="990600"/>
          </a:xfrm>
          <a:prstGeom prst="rect">
            <a:avLst/>
          </a:prstGeom>
          <a:noFill/>
          <a:ln/>
        </p:spPr>
        <p:txBody>
          <a:bodyPr wrap="square" lIns="0" tIns="0" rIns="0" bIns="0" rtlCol="0" anchor="t"/>
          <a:lstStyle/>
          <a:p>
            <a:pPr indent="0" marL="0">
              <a:lnSpc>
                <a:spcPct val="120000"/>
              </a:lnSpc>
              <a:buNone/>
            </a:pPr>
            <a:r>
              <a:rPr lang="en-US" sz="950" dirty="0">
                <a:solidFill>
                  <a:srgbClr val="2A2016"/>
                </a:solidFill>
                <a:latin typeface="Arial" pitchFamily="34" charset="0"/>
                <a:ea typeface="Arial" pitchFamily="34" charset="-122"/>
                <a:cs typeface="Arial" pitchFamily="34" charset="-120"/>
              </a:rPr>
              <a:t>Le médecin pose le diagnostic : POST Observation, visible dans leur console.</a:t>
            </a:r>
            <a:endParaRPr lang="en-US" sz="950" dirty="0"/>
          </a:p>
        </p:txBody>
      </p:sp>
      <p:sp>
        <p:nvSpPr>
          <p:cNvPr id="25" name="Shape 22"/>
          <p:cNvSpPr/>
          <p:nvPr/>
        </p:nvSpPr>
        <p:spPr>
          <a:xfrm>
            <a:off x="9532620" y="1866900"/>
            <a:ext cx="2087880" cy="1695450"/>
          </a:xfrm>
          <a:prstGeom prst="rect">
            <a:avLst/>
          </a:prstGeom>
          <a:solidFill>
            <a:srgbClr val="F4E3AB"/>
          </a:solidFill>
          <a:ln/>
          <a:effectLst>
            <a:outerShdw sx="100000" sy="100000" kx="0" ky="0" algn="bl" rotWithShape="0" blurRad="101600" dist="57150" dir="2700000">
              <a:srgbClr val="A02C1E">
                <a:alpha val="100000"/>
              </a:srgbClr>
            </a:outerShdw>
          </a:effectLst>
        </p:spPr>
      </p:sp>
      <p:sp>
        <p:nvSpPr>
          <p:cNvPr id="26" name="Text 23"/>
          <p:cNvSpPr txBox="1"/>
          <p:nvPr/>
        </p:nvSpPr>
        <p:spPr>
          <a:xfrm>
            <a:off x="9665970" y="1981200"/>
            <a:ext cx="1821180" cy="247650"/>
          </a:xfrm>
          <a:prstGeom prst="rect">
            <a:avLst/>
          </a:prstGeom>
          <a:noFill/>
          <a:ln/>
        </p:spPr>
        <p:txBody>
          <a:bodyPr wrap="square" lIns="0" tIns="0" rIns="0" bIns="0" rtlCol="0" anchor="ctr"/>
          <a:lstStyle/>
          <a:p>
            <a:pPr indent="0" marL="0">
              <a:buNone/>
            </a:pPr>
            <a:r>
              <a:rPr lang="en-US" sz="1700" dirty="0">
                <a:solidFill>
                  <a:srgbClr val="C08B1E"/>
                </a:solidFill>
                <a:latin typeface="Impact" pitchFamily="34" charset="0"/>
                <a:ea typeface="Impact" pitchFamily="34" charset="-122"/>
                <a:cs typeface="Impact" pitchFamily="34" charset="-120"/>
              </a:rPr>
              <a:t>05</a:t>
            </a:r>
            <a:endParaRPr lang="en-US" sz="1700" dirty="0"/>
          </a:p>
        </p:txBody>
      </p:sp>
      <p:sp>
        <p:nvSpPr>
          <p:cNvPr id="27" name="Text 24"/>
          <p:cNvSpPr txBox="1"/>
          <p:nvPr/>
        </p:nvSpPr>
        <p:spPr>
          <a:xfrm>
            <a:off x="9665970" y="2266950"/>
            <a:ext cx="1821180" cy="152400"/>
          </a:xfrm>
          <a:prstGeom prst="rect">
            <a:avLst/>
          </a:prstGeom>
          <a:noFill/>
          <a:ln/>
        </p:spPr>
        <p:txBody>
          <a:bodyPr wrap="square" lIns="0" tIns="0" rIns="0" bIns="0" rtlCol="0" anchor="ctr"/>
          <a:lstStyle/>
          <a:p>
            <a:pPr indent="0" marL="0">
              <a:buNone/>
            </a:pPr>
            <a:r>
              <a:rPr lang="en-US" sz="750" b="1" dirty="0">
                <a:solidFill>
                  <a:srgbClr val="A02C1E"/>
                </a:solidFill>
                <a:latin typeface="Consolas" pitchFamily="34" charset="0"/>
                <a:ea typeface="Consolas" pitchFamily="34" charset="-122"/>
                <a:cs typeface="Consolas" pitchFamily="34" charset="-120"/>
              </a:rPr>
              <a:t>POSTE PATIENT</a:t>
            </a:r>
            <a:endParaRPr lang="en-US" sz="750" dirty="0"/>
          </a:p>
        </p:txBody>
      </p:sp>
      <p:sp>
        <p:nvSpPr>
          <p:cNvPr id="28" name="Text 25"/>
          <p:cNvSpPr txBox="1"/>
          <p:nvPr/>
        </p:nvSpPr>
        <p:spPr>
          <a:xfrm>
            <a:off x="9665970" y="2457450"/>
            <a:ext cx="1821180" cy="990600"/>
          </a:xfrm>
          <a:prstGeom prst="rect">
            <a:avLst/>
          </a:prstGeom>
          <a:noFill/>
          <a:ln/>
        </p:spPr>
        <p:txBody>
          <a:bodyPr wrap="square" lIns="0" tIns="0" rIns="0" bIns="0" rtlCol="0" anchor="t"/>
          <a:lstStyle/>
          <a:p>
            <a:pPr indent="0" marL="0">
              <a:lnSpc>
                <a:spcPct val="120000"/>
              </a:lnSpc>
              <a:buNone/>
            </a:pPr>
            <a:r>
              <a:rPr lang="en-US" sz="950" dirty="0">
                <a:solidFill>
                  <a:srgbClr val="2A2016"/>
                </a:solidFill>
                <a:latin typeface="Arial" pitchFamily="34" charset="0"/>
                <a:ea typeface="Arial" pitchFamily="34" charset="-122"/>
                <a:cs typeface="Arial" pitchFamily="34" charset="-120"/>
              </a:rPr>
              <a:t>Je relis l'Observation : le pari se résout, puis je demande mon rendez-vous.</a:t>
            </a:r>
            <a:endParaRPr lang="en-US" sz="950" dirty="0"/>
          </a:p>
        </p:txBody>
      </p:sp>
      <p:sp>
        <p:nvSpPr>
          <p:cNvPr id="29" name="Shape 26"/>
          <p:cNvSpPr/>
          <p:nvPr/>
        </p:nvSpPr>
        <p:spPr>
          <a:xfrm>
            <a:off x="571500" y="3810000"/>
            <a:ext cx="5372100" cy="1257300"/>
          </a:xfrm>
          <a:prstGeom prst="rect">
            <a:avLst/>
          </a:prstGeom>
          <a:solidFill>
            <a:srgbClr val="0B2C22"/>
          </a:solidFill>
          <a:ln w="9525">
            <a:solidFill>
              <a:srgbClr val="D9A521">
                <a:alpha val="40000"/>
              </a:srgbClr>
            </a:solidFill>
            <a:prstDash val="solid"/>
          </a:ln>
        </p:spPr>
      </p:sp>
      <p:sp>
        <p:nvSpPr>
          <p:cNvPr id="30" name="Text 27"/>
          <p:cNvSpPr txBox="1"/>
          <p:nvPr/>
        </p:nvSpPr>
        <p:spPr>
          <a:xfrm>
            <a:off x="762000" y="3943350"/>
            <a:ext cx="4991100" cy="171450"/>
          </a:xfrm>
          <a:prstGeom prst="rect">
            <a:avLst/>
          </a:prstGeom>
          <a:noFill/>
          <a:ln/>
        </p:spPr>
        <p:txBody>
          <a:bodyPr wrap="square" lIns="0" tIns="0" rIns="0" bIns="0" rtlCol="0" anchor="ctr"/>
          <a:lstStyle/>
          <a:p>
            <a:pPr indent="0" marL="0">
              <a:buNone/>
            </a:pPr>
            <a:r>
              <a:rPr lang="en-US" sz="850" b="1" spc="160" kern="0" dirty="0">
                <a:solidFill>
                  <a:srgbClr val="F3E4B0"/>
                </a:solidFill>
                <a:latin typeface="Consolas" pitchFamily="34" charset="0"/>
                <a:ea typeface="Consolas" pitchFamily="34" charset="-122"/>
                <a:cs typeface="Consolas" pitchFamily="34" charset="-120"/>
              </a:rPr>
              <a:t>CE QU'IL FAUT REGARDER</a:t>
            </a:r>
            <a:endParaRPr lang="en-US" sz="850" dirty="0"/>
          </a:p>
        </p:txBody>
      </p:sp>
      <p:sp>
        <p:nvSpPr>
          <p:cNvPr id="31" name="Text 28"/>
          <p:cNvSpPr txBox="1"/>
          <p:nvPr/>
        </p:nvSpPr>
        <p:spPr>
          <a:xfrm>
            <a:off x="762000" y="4191000"/>
            <a:ext cx="4991100" cy="74295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La console FHIR, en bas à droite : chaque ligne est un appel réseau réel.</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Les deux écrans ne se parlent jamais : tout passe par fhir.alliance4u.io.</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Le verdict tombe côté patient sans aucune action du médecin sur notre poste.</a:t>
            </a:r>
            <a:endParaRPr lang="en-US" sz="1050" dirty="0"/>
          </a:p>
        </p:txBody>
      </p:sp>
      <p:sp>
        <p:nvSpPr>
          <p:cNvPr id="32" name="Shape 29"/>
          <p:cNvSpPr/>
          <p:nvPr/>
        </p:nvSpPr>
        <p:spPr>
          <a:xfrm>
            <a:off x="6248400" y="3810000"/>
            <a:ext cx="5372100" cy="1257300"/>
          </a:xfrm>
          <a:prstGeom prst="rect">
            <a:avLst/>
          </a:prstGeom>
          <a:solidFill>
            <a:srgbClr val="0B2C22"/>
          </a:solidFill>
          <a:ln w="9525">
            <a:solidFill>
              <a:srgbClr val="D9A521">
                <a:alpha val="40000"/>
              </a:srgbClr>
            </a:solidFill>
            <a:prstDash val="solid"/>
          </a:ln>
        </p:spPr>
      </p:sp>
      <p:sp>
        <p:nvSpPr>
          <p:cNvPr id="33" name="Text 30"/>
          <p:cNvSpPr txBox="1"/>
          <p:nvPr/>
        </p:nvSpPr>
        <p:spPr>
          <a:xfrm>
            <a:off x="6438900" y="3943350"/>
            <a:ext cx="4991100" cy="171450"/>
          </a:xfrm>
          <a:prstGeom prst="rect">
            <a:avLst/>
          </a:prstGeom>
          <a:noFill/>
          <a:ln/>
        </p:spPr>
        <p:txBody>
          <a:bodyPr wrap="square" lIns="0" tIns="0" rIns="0" bIns="0" rtlCol="0" anchor="ctr"/>
          <a:lstStyle/>
          <a:p>
            <a:pPr indent="0" marL="0">
              <a:buNone/>
            </a:pPr>
            <a:r>
              <a:rPr lang="en-US" sz="850" b="1" spc="160" kern="0" dirty="0">
                <a:solidFill>
                  <a:srgbClr val="F3E4B0"/>
                </a:solidFill>
                <a:latin typeface="Consolas" pitchFamily="34" charset="0"/>
                <a:ea typeface="Consolas" pitchFamily="34" charset="-122"/>
                <a:cs typeface="Consolas" pitchFamily="34" charset="-120"/>
              </a:rPr>
              <a:t>SI LE RÉSEAU LÂCHE</a:t>
            </a:r>
            <a:endParaRPr lang="en-US" sz="850" dirty="0"/>
          </a:p>
        </p:txBody>
      </p:sp>
      <p:sp>
        <p:nvSpPr>
          <p:cNvPr id="34" name="Text 31"/>
          <p:cNvSpPr txBox="1"/>
          <p:nvPr/>
        </p:nvSpPr>
        <p:spPr>
          <a:xfrm>
            <a:off x="6438900" y="4191000"/>
            <a:ext cx="4991100" cy="74295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Repli prévu : captures d'écran du même scénario, déjà rejoué ce matin.</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Les ressources créées restent vérifiables directement sur le serveur.</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09550" y="6610350"/>
            <a:ext cx="3429000" cy="190500"/>
          </a:xfrm>
          <a:prstGeom prst="rect">
            <a:avLst/>
          </a:prstGeom>
          <a:noFill/>
          <a:ln/>
        </p:spPr>
        <p:txBody>
          <a:bodyPr wrap="square" lIns="0" tIns="0" rIns="0" bIns="0" rtlCol="0" anchor="ctr"/>
          <a:lstStyle/>
          <a:p>
            <a:pPr indent="0" marL="0">
              <a:buNone/>
            </a:pPr>
            <a:r>
              <a:rPr lang="en-US" sz="750" spc="140" kern="0" dirty="0">
                <a:solidFill>
                  <a:srgbClr val="D9A521"/>
                </a:solidFill>
                <a:latin typeface="Consolas" pitchFamily="34" charset="0"/>
                <a:ea typeface="Consolas" pitchFamily="34" charset="-122"/>
                <a:cs typeface="Consolas" pitchFamily="34" charset="-120"/>
              </a:rPr>
              <a:t>RÉMI · SCRUM MASTER</a:t>
            </a:r>
            <a:endParaRPr lang="en-US" sz="750" dirty="0"/>
          </a:p>
        </p:txBody>
      </p:sp>
      <p:sp>
        <p:nvSpPr>
          <p:cNvPr id="3" name="Text 1"/>
          <p:cNvSpPr txBox="1"/>
          <p:nvPr/>
        </p:nvSpPr>
        <p:spPr>
          <a:xfrm>
            <a:off x="4000500" y="6610350"/>
            <a:ext cx="4191000" cy="190500"/>
          </a:xfrm>
          <a:prstGeom prst="rect">
            <a:avLst/>
          </a:prstGeom>
          <a:noFill/>
          <a:ln/>
        </p:spPr>
        <p:txBody>
          <a:bodyPr wrap="square" lIns="0" tIns="0" rIns="0" bIns="0" rtlCol="0" anchor="ctr"/>
          <a:lstStyle/>
          <a:p>
            <a:pPr algn="ctr" indent="0" marL="0">
              <a:buNone/>
            </a:pPr>
            <a:r>
              <a:rPr lang="en-US" sz="750" dirty="0">
                <a:solidFill>
                  <a:srgbClr val="8FAE95"/>
                </a:solidFill>
                <a:latin typeface="Consolas" pitchFamily="34" charset="0"/>
                <a:ea typeface="Consolas" pitchFamily="34" charset="-122"/>
                <a:cs typeface="Consolas" pitchFamily="34" charset="-120"/>
              </a:rPr>
              <a:t>romanecano.github.io/medibet-fhir · github.com/RomaneCano/medibet-fhir</a:t>
            </a:r>
            <a:endParaRPr lang="en-US" sz="750" dirty="0"/>
          </a:p>
        </p:txBody>
      </p:sp>
      <p:sp>
        <p:nvSpPr>
          <p:cNvPr id="4" name="Text 2"/>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≈55 s · 16:35</a:t>
            </a:r>
            <a:endParaRPr lang="en-US" sz="750" dirty="0"/>
          </a:p>
        </p:txBody>
      </p:sp>
      <p:sp>
        <p:nvSpPr>
          <p:cNvPr id="5" name="Text 3"/>
          <p:cNvSpPr txBox="1"/>
          <p:nvPr/>
        </p:nvSpPr>
        <p:spPr>
          <a:xfrm>
            <a:off x="571500" y="323850"/>
            <a:ext cx="11049000" cy="190500"/>
          </a:xfrm>
          <a:prstGeom prst="rect">
            <a:avLst/>
          </a:prstGeom>
          <a:noFill/>
          <a:ln/>
        </p:spPr>
        <p:txBody>
          <a:bodyPr wrap="square" lIns="0" tIns="0" rIns="0" bIns="0" rtlCol="0" anchor="ctr"/>
          <a:lstStyle/>
          <a:p>
            <a:pPr algn="ctr" indent="0" marL="0">
              <a:buNone/>
            </a:pPr>
            <a:r>
              <a:rPr lang="en-US" sz="850" b="1" spc="400" kern="0" dirty="0">
                <a:solidFill>
                  <a:srgbClr val="D9A521"/>
                </a:solidFill>
                <a:latin typeface="Consolas" pitchFamily="34" charset="0"/>
                <a:ea typeface="Consolas" pitchFamily="34" charset="-122"/>
                <a:cs typeface="Consolas" pitchFamily="34" charset="-120"/>
              </a:rPr>
              <a:t>06 · BILAN</a:t>
            </a:r>
            <a:endParaRPr lang="en-US" sz="850" dirty="0"/>
          </a:p>
        </p:txBody>
      </p:sp>
      <p:sp>
        <p:nvSpPr>
          <p:cNvPr id="6" name="Text 4"/>
          <p:cNvSpPr txBox="1"/>
          <p:nvPr/>
        </p:nvSpPr>
        <p:spPr>
          <a:xfrm>
            <a:off x="571500" y="514350"/>
            <a:ext cx="11049000" cy="609600"/>
          </a:xfrm>
          <a:prstGeom prst="rect">
            <a:avLst/>
          </a:prstGeom>
          <a:noFill/>
          <a:ln/>
          <a:effectLst>
            <a:outerShdw sx="100000" sy="100000" kx="0" ky="0" algn="bl" rotWithShape="0" blurRad="101600" dist="38100" dir="2700000">
              <a:srgbClr val="A02C1E">
                <a:alpha val="100000"/>
              </a:srgbClr>
            </a:outerShdw>
          </a:effectLst>
        </p:spPr>
        <p:txBody>
          <a:bodyPr wrap="square" lIns="0" tIns="0" rIns="0" bIns="0" rtlCol="0" anchor="ctr"/>
          <a:lstStyle/>
          <a:p>
            <a:pPr algn="ctr" indent="0" marL="0">
              <a:buNone/>
            </a:pPr>
            <a:r>
              <a:rPr lang="en-US" sz="3400" dirty="0">
                <a:solidFill>
                  <a:srgbClr val="F3E4B0"/>
                </a:solidFill>
                <a:latin typeface="Impact" pitchFamily="34" charset="0"/>
                <a:ea typeface="Impact" pitchFamily="34" charset="-122"/>
                <a:cs typeface="Impact" pitchFamily="34" charset="-120"/>
              </a:rPr>
              <a:t>RÉTROSPECTIVE ET SUITES</a:t>
            </a:r>
            <a:endParaRPr lang="en-US" sz="3400" dirty="0"/>
          </a:p>
        </p:txBody>
      </p:sp>
      <p:sp>
        <p:nvSpPr>
          <p:cNvPr id="7" name="Text 5"/>
          <p:cNvSpPr txBox="1"/>
          <p:nvPr/>
        </p:nvSpPr>
        <p:spPr>
          <a:xfrm>
            <a:off x="2000250" y="1143000"/>
            <a:ext cx="8191500" cy="438150"/>
          </a:xfrm>
          <a:prstGeom prst="rect">
            <a:avLst/>
          </a:prstGeom>
          <a:noFill/>
          <a:ln/>
        </p:spPr>
        <p:txBody>
          <a:bodyPr wrap="square" lIns="0" tIns="0" rIns="0" bIns="0" rtlCol="0" anchor="t"/>
          <a:lstStyle/>
          <a:p>
            <a:pPr algn="ctr" indent="0" marL="0">
              <a:buNone/>
            </a:pPr>
            <a:r>
              <a:rPr lang="en-US" sz="1350" dirty="0">
                <a:solidFill>
                  <a:srgbClr val="E6DCBE"/>
                </a:solidFill>
                <a:latin typeface="Arial" pitchFamily="34" charset="0"/>
                <a:ea typeface="Arial" pitchFamily="34" charset="-122"/>
                <a:cs typeface="Arial" pitchFamily="34" charset="-120"/>
              </a:rPr>
              <a:t>Ce que le sprint nous a appris, et ce que nous ferions ensuite.</a:t>
            </a:r>
            <a:endParaRPr lang="en-US" sz="1350" dirty="0"/>
          </a:p>
        </p:txBody>
      </p:sp>
      <p:sp>
        <p:nvSpPr>
          <p:cNvPr id="9" name="Shape 6"/>
          <p:cNvSpPr/>
          <p:nvPr/>
        </p:nvSpPr>
        <p:spPr>
          <a:xfrm>
            <a:off x="571500" y="1809750"/>
            <a:ext cx="3568700" cy="1428750"/>
          </a:xfrm>
          <a:prstGeom prst="rect">
            <a:avLst/>
          </a:prstGeom>
          <a:solidFill>
            <a:srgbClr val="0B2C22"/>
          </a:solidFill>
          <a:ln w="9525">
            <a:solidFill>
              <a:srgbClr val="D9A521">
                <a:alpha val="40000"/>
              </a:srgbClr>
            </a:solidFill>
            <a:prstDash val="solid"/>
          </a:ln>
        </p:spPr>
      </p:sp>
      <p:sp>
        <p:nvSpPr>
          <p:cNvPr id="10" name="Text 7"/>
          <p:cNvSpPr txBox="1"/>
          <p:nvPr/>
        </p:nvSpPr>
        <p:spPr>
          <a:xfrm>
            <a:off x="762000" y="1943100"/>
            <a:ext cx="3187700" cy="171450"/>
          </a:xfrm>
          <a:prstGeom prst="rect">
            <a:avLst/>
          </a:prstGeom>
          <a:noFill/>
          <a:ln/>
        </p:spPr>
        <p:txBody>
          <a:bodyPr wrap="square" lIns="0" tIns="0" rIns="0" bIns="0" rtlCol="0" anchor="ctr"/>
          <a:lstStyle/>
          <a:p>
            <a:pPr indent="0" marL="0">
              <a:buNone/>
            </a:pPr>
            <a:r>
              <a:rPr lang="en-US" sz="850" b="1" spc="160" kern="0" dirty="0">
                <a:solidFill>
                  <a:srgbClr val="9FD6A8"/>
                </a:solidFill>
                <a:latin typeface="Consolas" pitchFamily="34" charset="0"/>
                <a:ea typeface="Consolas" pitchFamily="34" charset="-122"/>
                <a:cs typeface="Consolas" pitchFamily="34" charset="-120"/>
              </a:rPr>
              <a:t>CE QUI A BIEN MARCHÉ</a:t>
            </a:r>
            <a:endParaRPr lang="en-US" sz="850" dirty="0"/>
          </a:p>
        </p:txBody>
      </p:sp>
      <p:sp>
        <p:nvSpPr>
          <p:cNvPr id="11" name="Text 8"/>
          <p:cNvSpPr txBox="1"/>
          <p:nvPr/>
        </p:nvSpPr>
        <p:spPr>
          <a:xfrm>
            <a:off x="762000" y="2190750"/>
            <a:ext cx="3187700" cy="91440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Les appels FHIR ont fonctionné dès les premiers essais.</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Le copilote a accéléré le développement et le déploiement.</a:t>
            </a:r>
            <a:endParaRPr lang="en-US" sz="1050" dirty="0"/>
          </a:p>
        </p:txBody>
      </p:sp>
      <p:sp>
        <p:nvSpPr>
          <p:cNvPr id="12" name="Shape 9"/>
          <p:cNvSpPr/>
          <p:nvPr/>
        </p:nvSpPr>
        <p:spPr>
          <a:xfrm>
            <a:off x="4311650" y="1809750"/>
            <a:ext cx="3568700" cy="1428750"/>
          </a:xfrm>
          <a:prstGeom prst="rect">
            <a:avLst/>
          </a:prstGeom>
          <a:solidFill>
            <a:srgbClr val="0B2C22"/>
          </a:solidFill>
          <a:ln w="9525">
            <a:solidFill>
              <a:srgbClr val="D9A521">
                <a:alpha val="40000"/>
              </a:srgbClr>
            </a:solidFill>
            <a:prstDash val="solid"/>
          </a:ln>
        </p:spPr>
      </p:sp>
      <p:sp>
        <p:nvSpPr>
          <p:cNvPr id="13" name="Text 10"/>
          <p:cNvSpPr txBox="1"/>
          <p:nvPr/>
        </p:nvSpPr>
        <p:spPr>
          <a:xfrm>
            <a:off x="4502150" y="1943100"/>
            <a:ext cx="3187700" cy="171450"/>
          </a:xfrm>
          <a:prstGeom prst="rect">
            <a:avLst/>
          </a:prstGeom>
          <a:noFill/>
          <a:ln/>
        </p:spPr>
        <p:txBody>
          <a:bodyPr wrap="square" lIns="0" tIns="0" rIns="0" bIns="0" rtlCol="0" anchor="ctr"/>
          <a:lstStyle/>
          <a:p>
            <a:pPr indent="0" marL="0">
              <a:buNone/>
            </a:pPr>
            <a:r>
              <a:rPr lang="en-US" sz="850" b="1" spc="160" kern="0" dirty="0">
                <a:solidFill>
                  <a:srgbClr val="E8B06A"/>
                </a:solidFill>
                <a:latin typeface="Consolas" pitchFamily="34" charset="0"/>
                <a:ea typeface="Consolas" pitchFamily="34" charset="-122"/>
                <a:cs typeface="Consolas" pitchFamily="34" charset="-120"/>
              </a:rPr>
              <a:t>CE QUI A ÉTÉ DIFFICILE</a:t>
            </a:r>
            <a:endParaRPr lang="en-US" sz="850" dirty="0"/>
          </a:p>
        </p:txBody>
      </p:sp>
      <p:sp>
        <p:nvSpPr>
          <p:cNvPr id="14" name="Text 11"/>
          <p:cNvSpPr txBox="1"/>
          <p:nvPr/>
        </p:nvSpPr>
        <p:spPr>
          <a:xfrm>
            <a:off x="4502150" y="2190750"/>
            <a:ext cx="3187700" cy="91440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Des bugs découverts seulement en test croisé avec l'équipe Médecin.</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Séparer les deux applications en cours de route a coûté du temps.</a:t>
            </a:r>
            <a:endParaRPr lang="en-US" sz="1050" dirty="0"/>
          </a:p>
        </p:txBody>
      </p:sp>
      <p:sp>
        <p:nvSpPr>
          <p:cNvPr id="15" name="Shape 12"/>
          <p:cNvSpPr/>
          <p:nvPr/>
        </p:nvSpPr>
        <p:spPr>
          <a:xfrm>
            <a:off x="8051800" y="1809750"/>
            <a:ext cx="3568700" cy="1428750"/>
          </a:xfrm>
          <a:prstGeom prst="rect">
            <a:avLst/>
          </a:prstGeom>
          <a:solidFill>
            <a:srgbClr val="0B2C22"/>
          </a:solidFill>
          <a:ln w="9525">
            <a:solidFill>
              <a:srgbClr val="D9A521">
                <a:alpha val="40000"/>
              </a:srgbClr>
            </a:solidFill>
            <a:prstDash val="solid"/>
          </a:ln>
        </p:spPr>
      </p:sp>
      <p:sp>
        <p:nvSpPr>
          <p:cNvPr id="16" name="Text 13"/>
          <p:cNvSpPr txBox="1"/>
          <p:nvPr/>
        </p:nvSpPr>
        <p:spPr>
          <a:xfrm>
            <a:off x="8242300" y="1943100"/>
            <a:ext cx="3187700" cy="171450"/>
          </a:xfrm>
          <a:prstGeom prst="rect">
            <a:avLst/>
          </a:prstGeom>
          <a:noFill/>
          <a:ln/>
        </p:spPr>
        <p:txBody>
          <a:bodyPr wrap="square" lIns="0" tIns="0" rIns="0" bIns="0" rtlCol="0" anchor="ctr"/>
          <a:lstStyle/>
          <a:p>
            <a:pPr indent="0" marL="0">
              <a:buNone/>
            </a:pPr>
            <a:r>
              <a:rPr lang="en-US" sz="850" b="1" spc="160" kern="0" dirty="0">
                <a:solidFill>
                  <a:srgbClr val="E88A7A"/>
                </a:solidFill>
                <a:latin typeface="Consolas" pitchFamily="34" charset="0"/>
                <a:ea typeface="Consolas" pitchFamily="34" charset="-122"/>
                <a:cs typeface="Consolas" pitchFamily="34" charset="-120"/>
              </a:rPr>
              <a:t>CE QU'ON FERAIT AUTREMENT</a:t>
            </a:r>
            <a:endParaRPr lang="en-US" sz="850" dirty="0"/>
          </a:p>
        </p:txBody>
      </p:sp>
      <p:sp>
        <p:nvSpPr>
          <p:cNvPr id="17" name="Text 14"/>
          <p:cNvSpPr txBox="1"/>
          <p:nvPr/>
        </p:nvSpPr>
        <p:spPr>
          <a:xfrm>
            <a:off x="8242300" y="2190750"/>
            <a:ext cx="3187700" cy="91440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Séparer les deux applications dès le premier jour.</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Écrire les critères d'acceptation au Sprint Planning.</a:t>
            </a:r>
            <a:endParaRPr lang="en-US" sz="1050" dirty="0"/>
          </a:p>
        </p:txBody>
      </p:sp>
      <p:sp>
        <p:nvSpPr>
          <p:cNvPr id="18" name="Shape 15"/>
          <p:cNvSpPr/>
          <p:nvPr/>
        </p:nvSpPr>
        <p:spPr>
          <a:xfrm>
            <a:off x="571500" y="3448050"/>
            <a:ext cx="11049000" cy="1638300"/>
          </a:xfrm>
          <a:prstGeom prst="rect">
            <a:avLst/>
          </a:prstGeom>
          <a:solidFill>
            <a:srgbClr val="0B2C22"/>
          </a:solidFill>
          <a:ln w="9525">
            <a:solidFill>
              <a:srgbClr val="D9A521">
                <a:alpha val="40000"/>
              </a:srgbClr>
            </a:solidFill>
            <a:prstDash val="solid"/>
          </a:ln>
        </p:spPr>
      </p:sp>
      <p:sp>
        <p:nvSpPr>
          <p:cNvPr id="19" name="Text 16"/>
          <p:cNvSpPr txBox="1"/>
          <p:nvPr/>
        </p:nvSpPr>
        <p:spPr>
          <a:xfrm>
            <a:off x="762000" y="3581400"/>
            <a:ext cx="10668000" cy="171450"/>
          </a:xfrm>
          <a:prstGeom prst="rect">
            <a:avLst/>
          </a:prstGeom>
          <a:noFill/>
          <a:ln/>
        </p:spPr>
        <p:txBody>
          <a:bodyPr wrap="square" lIns="0" tIns="0" rIns="0" bIns="0" rtlCol="0" anchor="ctr"/>
          <a:lstStyle/>
          <a:p>
            <a:pPr indent="0" marL="0">
              <a:buNone/>
            </a:pPr>
            <a:r>
              <a:rPr lang="en-US" sz="850" b="1" spc="160" kern="0" dirty="0">
                <a:solidFill>
                  <a:srgbClr val="D9A521"/>
                </a:solidFill>
                <a:latin typeface="Consolas" pitchFamily="34" charset="0"/>
                <a:ea typeface="Consolas" pitchFamily="34" charset="-122"/>
                <a:cs typeface="Consolas" pitchFamily="34" charset="-120"/>
              </a:rPr>
              <a:t>LES TROIS AMÉLIORATIONS DU PROCHAIN SPRINT</a:t>
            </a:r>
            <a:endParaRPr lang="en-US" sz="850" dirty="0"/>
          </a:p>
        </p:txBody>
      </p:sp>
      <p:sp>
        <p:nvSpPr>
          <p:cNvPr id="20" name="Text 17"/>
          <p:cNvSpPr txBox="1"/>
          <p:nvPr/>
        </p:nvSpPr>
        <p:spPr>
          <a:xfrm>
            <a:off x="762000" y="3829050"/>
            <a:ext cx="10668000" cy="112395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Coder les diagnostics en SNOMED CT ou CIM-10 — notre nomenclature est maison : c'est le principal frein à une interopérabilité sémantique réelle.</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Authentifier avec SMART on FHIR — le serveur du TP est ouvert ; impensable sur de la donnée réelle.</a:t>
            </a:r>
            <a:endParaRPr lang="en-US" sz="1050" dirty="0"/>
          </a:p>
          <a:p>
            <a:pPr marL="342900" indent="-342900">
              <a:lnSpc>
                <a:spcPct val="115000"/>
              </a:lnSpc>
              <a:spcAft>
                <a:spcPts val="600"/>
              </a:spcAft>
              <a:buSzPct val="100000"/>
              <a:buChar char="•"/>
            </a:pPr>
            <a:r>
              <a:rPr lang="en-US" sz="1050" dirty="0">
                <a:solidFill>
                  <a:srgbClr val="CFDFD2"/>
                </a:solidFill>
                <a:latin typeface="Arial" pitchFamily="34" charset="0"/>
                <a:ea typeface="Arial" pitchFamily="34" charset="-122"/>
                <a:cs typeface="Arial" pitchFamily="34" charset="-120"/>
              </a:rPr>
              <a:t>Remplacer le sondage par une Subscription FHIR — nous interrogeons le serveur toutes les 7 secondes faute de notification.</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1500" y="1809750"/>
            <a:ext cx="11049000" cy="1714500"/>
          </a:xfrm>
          <a:prstGeom prst="rect">
            <a:avLst/>
          </a:prstGeom>
          <a:noFill/>
          <a:ln/>
          <a:effectLst>
            <a:outerShdw sx="100000" sy="100000" kx="0" ky="0" algn="bl" rotWithShape="0" blurRad="101600" dist="57150" dir="2700000">
              <a:srgbClr val="A02C1E">
                <a:alpha val="100000"/>
              </a:srgbClr>
            </a:outerShdw>
          </a:effectLst>
        </p:spPr>
        <p:txBody>
          <a:bodyPr wrap="square" lIns="0" tIns="0" rIns="0" bIns="0" rtlCol="0" anchor="ctr"/>
          <a:lstStyle/>
          <a:p>
            <a:pPr algn="ctr" indent="0" marL="0">
              <a:lnSpc>
                <a:spcPct val="105000"/>
              </a:lnSpc>
              <a:buNone/>
            </a:pPr>
            <a:r>
              <a:rPr lang="en-US" sz="5400" dirty="0">
                <a:solidFill>
                  <a:srgbClr val="F3E4B0"/>
                </a:solidFill>
                <a:latin typeface="Impact" pitchFamily="34" charset="0"/>
                <a:ea typeface="Impact" pitchFamily="34" charset="-122"/>
                <a:cs typeface="Impact" pitchFamily="34" charset="-120"/>
              </a:rPr>
              <a:t>MERCI POUR</a:t>
            </a:r>
            <a:endParaRPr lang="en-US" sz="5400" dirty="0"/>
          </a:p>
          <a:p>
            <a:pPr algn="ctr" indent="0" marL="0">
              <a:lnSpc>
                <a:spcPct val="105000"/>
              </a:lnSpc>
              <a:buNone/>
            </a:pPr>
            <a:r>
              <a:rPr lang="en-US" sz="5400" dirty="0">
                <a:solidFill>
                  <a:srgbClr val="F3E4B0"/>
                </a:solidFill>
                <a:latin typeface="Impact" pitchFamily="34" charset="0"/>
                <a:ea typeface="Impact" pitchFamily="34" charset="-122"/>
                <a:cs typeface="Impact" pitchFamily="34" charset="-120"/>
              </a:rPr>
              <a:t>VOTRE ATTENTION</a:t>
            </a:r>
            <a:endParaRPr lang="en-US" sz="5400" dirty="0"/>
          </a:p>
        </p:txBody>
      </p:sp>
      <p:sp>
        <p:nvSpPr>
          <p:cNvPr id="3" name="Text 1"/>
          <p:cNvSpPr txBox="1"/>
          <p:nvPr/>
        </p:nvSpPr>
        <p:spPr>
          <a:xfrm>
            <a:off x="571500" y="3733800"/>
            <a:ext cx="11049000" cy="304800"/>
          </a:xfrm>
          <a:prstGeom prst="rect">
            <a:avLst/>
          </a:prstGeom>
          <a:noFill/>
          <a:ln/>
        </p:spPr>
        <p:txBody>
          <a:bodyPr wrap="square" lIns="0" tIns="0" rIns="0" bIns="0" rtlCol="0" anchor="ctr"/>
          <a:lstStyle/>
          <a:p>
            <a:pPr algn="ctr" indent="0" marL="0">
              <a:buNone/>
            </a:pPr>
            <a:r>
              <a:rPr lang="en-US" sz="1600" dirty="0">
                <a:solidFill>
                  <a:srgbClr val="D9A521"/>
                </a:solidFill>
                <a:latin typeface="Arial" pitchFamily="34" charset="0"/>
                <a:ea typeface="Arial" pitchFamily="34" charset="-122"/>
                <a:cs typeface="Arial" pitchFamily="34" charset="-120"/>
              </a:rPr>
              <a:t>Vos questions</a:t>
            </a:r>
            <a:endParaRPr lang="en-US" sz="1600" dirty="0"/>
          </a:p>
        </p:txBody>
      </p:sp>
      <p:sp>
        <p:nvSpPr>
          <p:cNvPr id="4" name="Shape 2"/>
          <p:cNvSpPr/>
          <p:nvPr/>
        </p:nvSpPr>
        <p:spPr>
          <a:xfrm>
            <a:off x="5334000" y="4229100"/>
            <a:ext cx="1524000" cy="0"/>
          </a:xfrm>
          <a:prstGeom prst="line">
            <a:avLst/>
          </a:prstGeom>
          <a:noFill/>
          <a:ln w="9525">
            <a:solidFill>
              <a:srgbClr val="F3E4B0">
                <a:alpha val="50000"/>
              </a:srgbClr>
            </a:solidFill>
            <a:prstDash val="solid"/>
          </a:ln>
        </p:spPr>
      </p:sp>
      <p:sp>
        <p:nvSpPr>
          <p:cNvPr id="5" name="Text 3"/>
          <p:cNvSpPr txBox="1"/>
          <p:nvPr/>
        </p:nvSpPr>
        <p:spPr>
          <a:xfrm>
            <a:off x="571500" y="4457700"/>
            <a:ext cx="11049000" cy="762000"/>
          </a:xfrm>
          <a:prstGeom prst="rect">
            <a:avLst/>
          </a:prstGeom>
          <a:noFill/>
          <a:ln/>
        </p:spPr>
        <p:txBody>
          <a:bodyPr wrap="square" lIns="0" tIns="0" rIns="0" bIns="0" rtlCol="0" anchor="t"/>
          <a:lstStyle/>
          <a:p>
            <a:pPr algn="ctr" indent="0" marL="0">
              <a:lnSpc>
                <a:spcPct val="150000"/>
              </a:lnSpc>
              <a:buNone/>
            </a:pPr>
            <a:r>
              <a:rPr lang="en-US" sz="950" dirty="0">
                <a:solidFill>
                  <a:srgbClr val="CFDFD2"/>
                </a:solidFill>
                <a:latin typeface="Consolas" pitchFamily="34" charset="0"/>
                <a:ea typeface="Consolas" pitchFamily="34" charset="-122"/>
                <a:cs typeface="Consolas" pitchFamily="34" charset="-120"/>
              </a:rPr>
              <a:t>romanecano.github.io/medibet-fhir</a:t>
            </a:r>
            <a:endParaRPr lang="en-US" sz="950" dirty="0"/>
          </a:p>
          <a:p>
            <a:pPr algn="ctr" indent="0" marL="0">
              <a:lnSpc>
                <a:spcPct val="150000"/>
              </a:lnSpc>
              <a:buNone/>
            </a:pPr>
            <a:r>
              <a:rPr lang="en-US" sz="950" dirty="0">
                <a:solidFill>
                  <a:srgbClr val="CFDFD2"/>
                </a:solidFill>
                <a:latin typeface="Consolas" pitchFamily="34" charset="0"/>
                <a:ea typeface="Consolas" pitchFamily="34" charset="-122"/>
                <a:cs typeface="Consolas" pitchFamily="34" charset="-120"/>
              </a:rPr>
              <a:t>romanecano.github.io/medibet-fhir/fhir-medibet.html — le dossier FHIR détaillé</a:t>
            </a:r>
            <a:endParaRPr lang="en-US" sz="950" dirty="0"/>
          </a:p>
          <a:p>
            <a:pPr algn="ctr" indent="0" marL="0">
              <a:lnSpc>
                <a:spcPct val="150000"/>
              </a:lnSpc>
              <a:buNone/>
            </a:pPr>
            <a:r>
              <a:rPr lang="en-US" sz="950" dirty="0">
                <a:solidFill>
                  <a:srgbClr val="CFDFD2"/>
                </a:solidFill>
                <a:latin typeface="Consolas" pitchFamily="34" charset="0"/>
                <a:ea typeface="Consolas" pitchFamily="34" charset="-122"/>
                <a:cs typeface="Consolas" pitchFamily="34" charset="-120"/>
              </a:rPr>
              <a:t>github.com/RomaneCano/medibet-fhir</a:t>
            </a:r>
            <a:endParaRPr lang="en-US" sz="950" dirty="0"/>
          </a:p>
        </p:txBody>
      </p:sp>
      <p:sp>
        <p:nvSpPr>
          <p:cNvPr id="6" name="Text 4"/>
          <p:cNvSpPr txBox="1"/>
          <p:nvPr/>
        </p:nvSpPr>
        <p:spPr>
          <a:xfrm>
            <a:off x="9525000" y="6610350"/>
            <a:ext cx="2457450" cy="190500"/>
          </a:xfrm>
          <a:prstGeom prst="rect">
            <a:avLst/>
          </a:prstGeom>
          <a:noFill/>
          <a:ln/>
        </p:spPr>
        <p:txBody>
          <a:bodyPr wrap="square" lIns="0" tIns="0" rIns="0" bIns="0" rtlCol="0" anchor="ctr"/>
          <a:lstStyle/>
          <a:p>
            <a:pPr algn="r" indent="0" marL="0">
              <a:buNone/>
            </a:pPr>
            <a:r>
              <a:rPr lang="en-US" sz="750" dirty="0">
                <a:solidFill>
                  <a:srgbClr val="8FAE95"/>
                </a:solidFill>
                <a:latin typeface="Consolas" pitchFamily="34" charset="0"/>
                <a:ea typeface="Consolas" pitchFamily="34" charset="-122"/>
                <a:cs typeface="Consolas" pitchFamily="34" charset="-120"/>
              </a:rPr>
              <a:t>≈15 s · 16:50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MediBet</dc:title>
  <dc:subject>PptxGenJS Presentation</dc:subject>
  <dc:creator>Équipe Patient — MediBet</dc:creator>
  <cp:lastModifiedBy>Équipe Patient — MediBet</cp:lastModifiedBy>
  <cp:revision>1</cp:revision>
  <dcterms:created xsi:type="dcterms:W3CDTF">2026-09-09T15:58:07Z</dcterms:created>
  <dcterms:modified xsi:type="dcterms:W3CDTF">2026-09-09T15:58:07Z</dcterms:modified>
</cp:coreProperties>
</file>